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34300b9-6c53-d5a7-739d-31aacc50a3d9}">
          <p14:sldIdLst>
            <p14:sldId id="256"/>
            <p14:sldId id="257"/>
            <p14:sldId id="258"/>
            <p14:sldId id="259"/>
          </p14:sldIdLst>
        </p14:section>
        <p14:section name="The dashboard" id="{1daf9869-c4cb-dd86-eadd-0d872727232f}">
          <p14:sldIdLst>
            <p14:sldId id="260"/>
            <p14:sldId id="261"/>
            <p14:sldId id="262"/>
            <p14:sldId id="263"/>
          </p14:sldIdLst>
        </p14:section>
        <p14:section name="Safety and support" id="{71bc0ade-93e7-7a5d-9dc7-e68a42c03caf}">
          <p14:sldIdLst>
            <p14:sldId id="264"/>
            <p14:sldId id="265"/>
            <p14:sldId id="266"/>
            <p14:sldId id="267"/>
          </p14:sldIdLst>
        </p14:section>
        <p14:section name="Oversight" id="{4e623076-3993-aaaf-a37f-b2e0fb0a380e}">
          <p14:sldIdLst>
            <p14:sldId id="268"/>
            <p14:sldId id="269"/>
            <p14:sldId id="270"/>
          </p14:sldIdLst>
        </p14:section>
        <p14:section name="Use case and value" id="{be48f765-b0f6-429a-58c8-01fa11d1d631}">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we will walk through the Emotify Counsellor Dashboard: the website your counselling team uses alongside the Emotify student app. The goal is simple: help counsellors see who needs support, decide what to do, and make sure it gets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Counselling teams tell us the same three things. Students who are struggling often stay quiet. The warning signs exist, but they are spread across different places. And there is never enough time to go looking. The dashboard is built to solve exactly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idea in one slide. Students use the app for their own wellbeing. In the background, Emotify notices the moments that matter. Those moments show up on the counsellor's dashboard so a human can respond.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typical day. The counsellor signs in, sees straight away who needs attention, reviews what happened, decides on the right level of support, and then reaches out and follows up. Let us look at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Counsellors sign in with their own staff account. Once inside, there is one menu on the left with eight areas. We will visit each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screen after signing in. Three numbers tell the counsellor how things stand: how many students, how many are currently at high risk, and how many alerts are still open. Below that, the Needs your attention list shows the most urgent items, newest first. In this test data, three safety alerts and one request to talk are waiting.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Further down the same page, counsellors see recent activity from students and a seven-day trend. This helps them notice a pattern, for example a student who has stopped completing their small daily goals, before it becomes a crisis.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Students page is the team's directory. Counsellors can find any student quickly, open their profile, help with account issues like a forgotten password, and make sure each student is assigned to a counsellor.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Alerts are the heart of the safety side. Emotify raises them on its own: for example when a questionnaire answer points to a risk of self-harm, or when a student's results get noticeably worse. Each alert shows the student and their phone number, with buttons to review next steps or open the student's profile.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important point for your team: Emotify never makes the clinical decision. It raises the flag, and the counsellor decides. With one click they can set the student to moderate support, to low risk with full access, or ask the student to take a new wellbeing questionnaire. The student's app updates to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request sessions from the app and give a short reason. Counsellors see the request with the preferred date and time, and can accept, reschedule or decline it. Every request moves through clear stages, so nothing gets lost in email.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Inside the app's thinking exercises, a student can ask to speak to a counsellor. That request arrives here together with the context, for example the thought they wrote down. The counsellor can call immediately, schedule a call, and mark it completed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Screening Centre gives leadership and counsellors the overall picture. It combines results from three short, widely used questionnaires: a mood check, an anxiety check and a check on unusual experiences. In this test data the average mood and anxiety scores are both in the moderate range, and four students are flagged on the self-harm question for priority follow-up.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can talk to Emoty, the app's AI companion, at any time. This page gives the team oversight: how many students are chatting, how many messages, and whether anything concerning has been flagged. Any conversation can be opened and read if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the Notifications page collects everything new in one list: support requests, appointment requests and completed follow-ups. Counsellors mark each one as read once they have dealt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put it all together with one example. A student is filling in a wellbeing questionnaire in the app, and one answer suggests thoughts of self-harm. Emotify raises a high-priority alert immediately. It appears at the top of the counsellor's dashboard. The counsellor reviews it, decides on the right level of support, calls the student or books a session, and the follow-up is tracked until it is done. What might have gone unnoticed is now handled by a person,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the value. Counsellors spend their time where it matters and have everything in one place. Students get help sooner, often before they would have asked. And the institution gets a live, evidence-based view of student wellbeing, with confidence that concerns are followed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Emotify helps your team see who needs help, decide quickly and follow through. As next steps, we suggest a live demo with your counselling team, agreeing together how alerts and follow-ups should be handled, and then a pilot with a group of students. Thank you, and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2A247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5760720" cy="182880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640080" y="3840480"/>
            <a:ext cx="5486400" cy="109728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indent="0" marL="0">
              <a:buNone/>
              <a:defRPr lang="en-US" sz="3400" b="1" dirty="0">
                <a:solidFill>
                  <a:schemeClr val="tx2"/>
                </a:solidFill>
                <a:latin typeface="Cambria" pitchFamily="34" charset="0"/>
                <a:ea typeface="Cambria" pitchFamily="34" charset="-122"/>
                <a:cs typeface="Cambria" pitchFamily="34" charset="-120"/>
              </a:defRPr>
            </a:lvl1pPr>
          </a:lstStyle>
          <a:p>
            <a:pPr indent="0" marL="0">
              <a:buNone/>
            </a:pPr>
            <a:endParaRPr lang="en-US" sz="3400" dirty="0"/>
          </a:p>
        </p:txBody>
      </p:sp>
      <p:sp>
        <p:nvSpPr>
          <p:cNvPr id="3" name="Text 0"/>
          <p:cNvSpPr/>
          <p:nvPr/>
        </p:nvSpPr>
        <p:spPr>
          <a:xfrm>
            <a:off x="548640" y="6400800"/>
            <a:ext cx="4572000" cy="274320"/>
          </a:xfrm>
          <a:prstGeom prst="rect">
            <a:avLst/>
          </a:prstGeom>
          <a:noFill/>
          <a:ln/>
        </p:spPr>
        <p:txBody>
          <a:bodyPr wrap="square" lIns="0" tIns="0" rIns="0" bIns="0" rtlCol="0" anchor="ctr"/>
          <a:lstStyle/>
          <a:p>
            <a:pPr indent="0" marL="0">
              <a:buNone/>
            </a:pPr>
            <a:r>
              <a:rPr lang="en-US" sz="1000" dirty="0">
                <a:solidFill>
                  <a:schemeClr val="accent6"/>
                </a:solidFill>
              </a:rPr>
              <a:t>Emotify · Counsellor Dashboard</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slideLayout" Target="../slideLayouts/slideLayout3.xml"/><Relationship Id="rId1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3.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3.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slideLayout" Target="../slideLayouts/slideLayout3.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3.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3.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3.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2.xml"/><Relationship Id="rId5"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5760720" cy="182880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The Emotify Counsellor Dashboard</a:t>
            </a:r>
            <a:endParaRPr lang="en-US" sz="4400" dirty="0"/>
          </a:p>
        </p:txBody>
      </p:sp>
      <p:sp>
        <p:nvSpPr>
          <p:cNvPr id="3" name="Text 0"/>
          <p:cNvSpPr/>
          <p:nvPr>
            <p:ph idx="101" type="body" hasCustomPrompt="1"/>
          </p:nvPr>
        </p:nvSpPr>
        <p:spPr>
          <a:xfrm>
            <a:off x="640080" y="3840480"/>
            <a:ext cx="5486400" cy="1097280"/>
          </a:xfrm>
          <a:prstGeom prst="rect">
            <a:avLst/>
          </a:prstGeom>
          <a:noFill/>
          <a:ln/>
        </p:spPr>
        <p:txBody>
          <a:bodyPr wrap="square" lIns="0" tIns="0" rIns="0" bIns="0" rtlCol="0" anchor="t"/>
          <a:lstStyle/>
          <a:p>
            <a:pPr algn="l" indent="0" marL="0">
              <a:buNone/>
            </a:pPr>
            <a:r>
              <a:rPr lang="en-US" sz="2000" dirty="0">
                <a:solidFill>
                  <a:schemeClr val="bg2"/>
                </a:solidFill>
              </a:rPr>
              <a:t>Seeing every student clearly, and acting at the right moment</a:t>
            </a:r>
            <a:endParaRPr lang="en-US" sz="2000" dirty="0"/>
          </a:p>
        </p:txBody>
      </p:sp>
      <p:sp>
        <p:nvSpPr>
          <p:cNvPr id="4" name="text-1"/>
          <p:cNvSpPr txBox="1"/>
          <p:nvPr/>
        </p:nvSpPr>
        <p:spPr>
          <a:xfrm>
            <a:off x="640080" y="5989320"/>
            <a:ext cx="5486400" cy="320040"/>
          </a:xfrm>
          <a:prstGeom prst="rect">
            <a:avLst/>
          </a:prstGeom>
          <a:noFill/>
          <a:ln/>
        </p:spPr>
        <p:txBody>
          <a:bodyPr wrap="square" lIns="0" tIns="0" rIns="0" bIns="0" rtlCol="0" anchor="t"/>
          <a:lstStyle/>
          <a:p>
            <a:pPr indent="0" marL="0">
              <a:buNone/>
            </a:pPr>
            <a:r>
              <a:rPr lang="en-US" sz="1400" dirty="0">
                <a:solidFill>
                  <a:schemeClr val="bg2"/>
                </a:solidFill>
              </a:rPr>
              <a:t>Client presentation · October 2026</a:t>
            </a:r>
            <a:endParaRPr lang="en-US" sz="1400" dirty="0"/>
          </a:p>
        </p:txBody>
      </p:sp>
      <p:sp>
        <p:nvSpPr>
          <p:cNvPr id="5" name="screenshot-frame-2"/>
          <p:cNvSpPr/>
          <p:nvPr/>
        </p:nvSpPr>
        <p:spPr>
          <a:xfrm>
            <a:off x="6592824" y="2020824"/>
            <a:ext cx="5193792" cy="2360440"/>
          </a:xfrm>
          <a:prstGeom prst="roundRect">
            <a:avLst>
              <a:gd name="adj" fmla="val 4649"/>
            </a:avLst>
          </a:prstGeom>
          <a:solidFill>
            <a:schemeClr val="bg1"/>
          </a:solidFill>
          <a:ln w="9525">
            <a:solidFill>
              <a:srgbClr val="E2E0F5"/>
            </a:solidFill>
            <a:prstDash val="solid"/>
          </a:ln>
          <a:effectLst>
            <a:outerShdw sx="100000" sy="100000" kx="0" ky="0" algn="bl" rotWithShape="0" blurRad="152400" dist="38100" dir="5400000">
              <a:srgbClr val="1F1B3A">
                <a:alpha val="18000"/>
              </a:srgbClr>
            </a:outerShdw>
          </a:effectLst>
        </p:spPr>
      </p:sp>
      <p:pic>
        <p:nvPicPr>
          <p:cNvPr id="6" name="screenshot-3" descr="Dashboard screenshot">    </p:cNvPr>
          <p:cNvPicPr>
            <a:picLocks noChangeAspect="1"/>
          </p:cNvPicPr>
          <p:nvPr/>
        </p:nvPicPr>
        <p:blipFill>
          <a:blip r:embed="rId1"/>
          <a:stretch>
            <a:fillRect/>
          </a:stretch>
        </p:blipFill>
        <p:spPr>
          <a:xfrm>
            <a:off x="6675120" y="2103120"/>
            <a:ext cx="5029200" cy="219584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Why counsellors need a single view</a:t>
            </a:r>
            <a:endParaRPr lang="en-US" sz="3400" dirty="0"/>
          </a:p>
        </p:txBody>
      </p:sp>
      <p:sp>
        <p:nvSpPr>
          <p:cNvPr id="3" name="card-4"/>
          <p:cNvSpPr/>
          <p:nvPr/>
        </p:nvSpPr>
        <p:spPr>
          <a:xfrm>
            <a:off x="548640" y="1463040"/>
            <a:ext cx="3474720" cy="2743200"/>
          </a:xfrm>
          <a:prstGeom prst="roundRect">
            <a:avLst>
              <a:gd name="adj" fmla="val 4667"/>
            </a:avLst>
          </a:prstGeom>
          <a:solidFill>
            <a:schemeClr val="bg2"/>
          </a:solidFill>
          <a:ln/>
        </p:spPr>
      </p:sp>
      <p:sp>
        <p:nvSpPr>
          <p:cNvPr id="4" name="icon-circle-5"/>
          <p:cNvSpPr/>
          <p:nvPr/>
        </p:nvSpPr>
        <p:spPr>
          <a:xfrm>
            <a:off x="914400" y="1783080"/>
            <a:ext cx="731520" cy="731520"/>
          </a:xfrm>
          <a:prstGeom prst="ellipse">
            <a:avLst/>
          </a:prstGeom>
          <a:solidFill>
            <a:schemeClr val="accent1"/>
          </a:solidFill>
          <a:ln/>
        </p:spPr>
      </p:sp>
      <p:pic>
        <p:nvPicPr>
          <p:cNvPr id="5" name="icon-6" descr="preencoded.png">    </p:cNvPr>
          <p:cNvPicPr>
            <a:picLocks noChangeAspect="1"/>
          </p:cNvPicPr>
          <p:nvPr/>
        </p:nvPicPr>
        <p:blipFill>
          <a:blip r:embed="rId1"/>
          <a:stretch>
            <a:fillRect/>
          </a:stretch>
        </p:blipFill>
        <p:spPr>
          <a:xfrm>
            <a:off x="1089965" y="1958645"/>
            <a:ext cx="380390" cy="380390"/>
          </a:xfrm>
          <a:prstGeom prst="rect">
            <a:avLst/>
          </a:prstGeom>
        </p:spPr>
      </p:pic>
      <p:sp>
        <p:nvSpPr>
          <p:cNvPr id="6" name="text-7"/>
          <p:cNvSpPr txBox="1"/>
          <p:nvPr/>
        </p:nvSpPr>
        <p:spPr>
          <a:xfrm>
            <a:off x="914400" y="2697480"/>
            <a:ext cx="2743200" cy="457200"/>
          </a:xfrm>
          <a:prstGeom prst="rect">
            <a:avLst/>
          </a:prstGeom>
          <a:noFill/>
          <a:ln/>
        </p:spPr>
        <p:txBody>
          <a:bodyPr wrap="square" lIns="0" tIns="0" rIns="0" bIns="0" rtlCol="0" anchor="t"/>
          <a:lstStyle/>
          <a:p>
            <a:pPr indent="0" marL="0">
              <a:buNone/>
            </a:pPr>
            <a:r>
              <a:rPr lang="en-US" sz="2000" b="1" dirty="0">
                <a:solidFill>
                  <a:schemeClr val="tx2"/>
                </a:solidFill>
              </a:rPr>
              <a:t>Struggles stay hidden</a:t>
            </a:r>
            <a:endParaRPr lang="en-US" sz="2000" dirty="0"/>
          </a:p>
        </p:txBody>
      </p:sp>
      <p:sp>
        <p:nvSpPr>
          <p:cNvPr id="7" name="text-8"/>
          <p:cNvSpPr txBox="1"/>
          <p:nvPr/>
        </p:nvSpPr>
        <p:spPr>
          <a:xfrm>
            <a:off x="914400" y="3200400"/>
            <a:ext cx="2788920" cy="1188720"/>
          </a:xfrm>
          <a:prstGeom prst="rect">
            <a:avLst/>
          </a:prstGeom>
          <a:noFill/>
          <a:ln/>
        </p:spPr>
        <p:txBody>
          <a:bodyPr wrap="square" lIns="0" tIns="0" rIns="0" bIns="0" rtlCol="0" anchor="t"/>
          <a:lstStyle/>
          <a:p>
            <a:pPr indent="0" marL="0">
              <a:buNone/>
            </a:pPr>
            <a:r>
              <a:rPr lang="en-US" sz="1500" dirty="0">
                <a:solidFill>
                  <a:schemeClr val="tx1"/>
                </a:solidFill>
              </a:rPr>
              <a:t>Many students do not ask for help until things feel serious.</a:t>
            </a:r>
            <a:endParaRPr lang="en-US" sz="1500" dirty="0"/>
          </a:p>
        </p:txBody>
      </p:sp>
      <p:sp>
        <p:nvSpPr>
          <p:cNvPr id="8" name="card-9"/>
          <p:cNvSpPr/>
          <p:nvPr/>
        </p:nvSpPr>
        <p:spPr>
          <a:xfrm>
            <a:off x="4297680" y="1463040"/>
            <a:ext cx="3474720" cy="2743200"/>
          </a:xfrm>
          <a:prstGeom prst="roundRect">
            <a:avLst>
              <a:gd name="adj" fmla="val 4667"/>
            </a:avLst>
          </a:prstGeom>
          <a:solidFill>
            <a:schemeClr val="bg2"/>
          </a:solidFill>
          <a:ln/>
        </p:spPr>
      </p:sp>
      <p:sp>
        <p:nvSpPr>
          <p:cNvPr id="9" name="icon-circle-10"/>
          <p:cNvSpPr/>
          <p:nvPr/>
        </p:nvSpPr>
        <p:spPr>
          <a:xfrm>
            <a:off x="4663440" y="1783080"/>
            <a:ext cx="731520" cy="731520"/>
          </a:xfrm>
          <a:prstGeom prst="ellipse">
            <a:avLst/>
          </a:prstGeom>
          <a:solidFill>
            <a:schemeClr val="accent1"/>
          </a:solidFill>
          <a:ln/>
        </p:spPr>
      </p:sp>
      <p:pic>
        <p:nvPicPr>
          <p:cNvPr id="10" name="icon-11" descr="preencoded.png">    </p:cNvPr>
          <p:cNvPicPr>
            <a:picLocks noChangeAspect="1"/>
          </p:cNvPicPr>
          <p:nvPr/>
        </p:nvPicPr>
        <p:blipFill>
          <a:blip r:embed="rId2"/>
          <a:stretch>
            <a:fillRect/>
          </a:stretch>
        </p:blipFill>
        <p:spPr>
          <a:xfrm>
            <a:off x="4839005" y="1958645"/>
            <a:ext cx="380390" cy="380390"/>
          </a:xfrm>
          <a:prstGeom prst="rect">
            <a:avLst/>
          </a:prstGeom>
        </p:spPr>
      </p:pic>
      <p:sp>
        <p:nvSpPr>
          <p:cNvPr id="11" name="text-12"/>
          <p:cNvSpPr txBox="1"/>
          <p:nvPr/>
        </p:nvSpPr>
        <p:spPr>
          <a:xfrm>
            <a:off x="4663440" y="2697480"/>
            <a:ext cx="2743200" cy="457200"/>
          </a:xfrm>
          <a:prstGeom prst="rect">
            <a:avLst/>
          </a:prstGeom>
          <a:noFill/>
          <a:ln/>
        </p:spPr>
        <p:txBody>
          <a:bodyPr wrap="square" lIns="0" tIns="0" rIns="0" bIns="0" rtlCol="0" anchor="t"/>
          <a:lstStyle/>
          <a:p>
            <a:pPr indent="0" marL="0">
              <a:buNone/>
            </a:pPr>
            <a:r>
              <a:rPr lang="en-US" sz="2000" b="1" dirty="0">
                <a:solidFill>
                  <a:schemeClr val="tx2"/>
                </a:solidFill>
              </a:rPr>
              <a:t>Signals are scattered</a:t>
            </a:r>
            <a:endParaRPr lang="en-US" sz="2000" dirty="0"/>
          </a:p>
        </p:txBody>
      </p:sp>
      <p:sp>
        <p:nvSpPr>
          <p:cNvPr id="12" name="text-13"/>
          <p:cNvSpPr txBox="1"/>
          <p:nvPr/>
        </p:nvSpPr>
        <p:spPr>
          <a:xfrm>
            <a:off x="4663440" y="3200400"/>
            <a:ext cx="2788920" cy="1188720"/>
          </a:xfrm>
          <a:prstGeom prst="rect">
            <a:avLst/>
          </a:prstGeom>
          <a:noFill/>
          <a:ln/>
        </p:spPr>
        <p:txBody>
          <a:bodyPr wrap="square" lIns="0" tIns="0" rIns="0" bIns="0" rtlCol="0" anchor="t"/>
          <a:lstStyle/>
          <a:p>
            <a:pPr indent="0" marL="0">
              <a:buNone/>
            </a:pPr>
            <a:r>
              <a:rPr lang="en-US" sz="1500" dirty="0">
                <a:solidFill>
                  <a:schemeClr val="tx1"/>
                </a:solidFill>
              </a:rPr>
              <a:t>Moods, questionnaires and requests for help arrive in different places, at different times.</a:t>
            </a:r>
            <a:endParaRPr lang="en-US" sz="1500" dirty="0"/>
          </a:p>
        </p:txBody>
      </p:sp>
      <p:sp>
        <p:nvSpPr>
          <p:cNvPr id="13" name="card-14"/>
          <p:cNvSpPr/>
          <p:nvPr/>
        </p:nvSpPr>
        <p:spPr>
          <a:xfrm>
            <a:off x="8046720" y="1463040"/>
            <a:ext cx="3474720" cy="2743200"/>
          </a:xfrm>
          <a:prstGeom prst="roundRect">
            <a:avLst>
              <a:gd name="adj" fmla="val 4667"/>
            </a:avLst>
          </a:prstGeom>
          <a:solidFill>
            <a:schemeClr val="bg2"/>
          </a:solidFill>
          <a:ln/>
        </p:spPr>
      </p:sp>
      <p:sp>
        <p:nvSpPr>
          <p:cNvPr id="14" name="icon-circle-15"/>
          <p:cNvSpPr/>
          <p:nvPr/>
        </p:nvSpPr>
        <p:spPr>
          <a:xfrm>
            <a:off x="8412480" y="1783080"/>
            <a:ext cx="731520" cy="731520"/>
          </a:xfrm>
          <a:prstGeom prst="ellipse">
            <a:avLst/>
          </a:prstGeom>
          <a:solidFill>
            <a:schemeClr val="accent1"/>
          </a:solidFill>
          <a:ln/>
        </p:spPr>
      </p:sp>
      <p:pic>
        <p:nvPicPr>
          <p:cNvPr id="15" name="icon-16" descr="preencoded.png">    </p:cNvPr>
          <p:cNvPicPr>
            <a:picLocks noChangeAspect="1"/>
          </p:cNvPicPr>
          <p:nvPr/>
        </p:nvPicPr>
        <p:blipFill>
          <a:blip r:embed="rId3"/>
          <a:stretch>
            <a:fillRect/>
          </a:stretch>
        </p:blipFill>
        <p:spPr>
          <a:xfrm>
            <a:off x="8588045" y="1958645"/>
            <a:ext cx="380390" cy="380390"/>
          </a:xfrm>
          <a:prstGeom prst="rect">
            <a:avLst/>
          </a:prstGeom>
        </p:spPr>
      </p:pic>
      <p:sp>
        <p:nvSpPr>
          <p:cNvPr id="16" name="text-17"/>
          <p:cNvSpPr txBox="1"/>
          <p:nvPr/>
        </p:nvSpPr>
        <p:spPr>
          <a:xfrm>
            <a:off x="8412480" y="2697480"/>
            <a:ext cx="2743200" cy="457200"/>
          </a:xfrm>
          <a:prstGeom prst="rect">
            <a:avLst/>
          </a:prstGeom>
          <a:noFill/>
          <a:ln/>
        </p:spPr>
        <p:txBody>
          <a:bodyPr wrap="square" lIns="0" tIns="0" rIns="0" bIns="0" rtlCol="0" anchor="t"/>
          <a:lstStyle/>
          <a:p>
            <a:pPr indent="0" marL="0">
              <a:buNone/>
            </a:pPr>
            <a:r>
              <a:rPr lang="en-US" sz="2000" b="1" dirty="0">
                <a:solidFill>
                  <a:schemeClr val="tx2"/>
                </a:solidFill>
              </a:rPr>
              <a:t>Time is limited</a:t>
            </a:r>
            <a:endParaRPr lang="en-US" sz="2000" dirty="0"/>
          </a:p>
        </p:txBody>
      </p:sp>
      <p:sp>
        <p:nvSpPr>
          <p:cNvPr id="17" name="text-18"/>
          <p:cNvSpPr txBox="1"/>
          <p:nvPr/>
        </p:nvSpPr>
        <p:spPr>
          <a:xfrm>
            <a:off x="8412480" y="3200400"/>
            <a:ext cx="2788920" cy="1188720"/>
          </a:xfrm>
          <a:prstGeom prst="rect">
            <a:avLst/>
          </a:prstGeom>
          <a:noFill/>
          <a:ln/>
        </p:spPr>
        <p:txBody>
          <a:bodyPr wrap="square" lIns="0" tIns="0" rIns="0" bIns="0" rtlCol="0" anchor="t"/>
          <a:lstStyle/>
          <a:p>
            <a:pPr indent="0" marL="0">
              <a:buNone/>
            </a:pPr>
            <a:r>
              <a:rPr lang="en-US" sz="1500" dirty="0">
                <a:solidFill>
                  <a:schemeClr val="tx1"/>
                </a:solidFill>
              </a:rPr>
              <a:t>Counsellors need to know who to see first, without searching for it.</a:t>
            </a:r>
            <a:endParaRPr lang="en-US" sz="1500" dirty="0"/>
          </a:p>
        </p:txBody>
      </p:sp>
      <p:sp>
        <p:nvSpPr>
          <p:cNvPr id="18" name="text-19"/>
          <p:cNvSpPr txBox="1"/>
          <p:nvPr/>
        </p:nvSpPr>
        <p:spPr>
          <a:xfrm>
            <a:off x="548640" y="4663440"/>
            <a:ext cx="11064240" cy="731520"/>
          </a:xfrm>
          <a:prstGeom prst="rect">
            <a:avLst/>
          </a:prstGeom>
          <a:noFill/>
          <a:ln/>
        </p:spPr>
        <p:txBody>
          <a:bodyPr wrap="square" lIns="0" tIns="0" rIns="0" bIns="0" rtlCol="0" anchor="ctr"/>
          <a:lstStyle/>
          <a:p>
            <a:pPr indent="0" marL="0">
              <a:buNone/>
            </a:pPr>
            <a:r>
              <a:rPr lang="en-US" sz="2200" dirty="0">
                <a:solidFill>
                  <a:schemeClr val="tx2"/>
                </a:solidFill>
                <a:latin typeface="Cambria" pitchFamily="34" charset="0"/>
                <a:ea typeface="Cambria" pitchFamily="34" charset="-122"/>
                <a:cs typeface="Cambria" pitchFamily="34" charset="-120"/>
              </a:rPr>
              <a:t>The dashboard brings everything into one place </a:t>
            </a:r>
            <a:pPr indent="0" marL="0">
              <a:buNone/>
            </a:pPr>
            <a:r>
              <a:rPr lang="en-US" sz="2200" b="1" dirty="0">
                <a:solidFill>
                  <a:schemeClr val="accent1"/>
                </a:solidFill>
                <a:latin typeface="Cambria" pitchFamily="34" charset="0"/>
                <a:ea typeface="Cambria" pitchFamily="34" charset="-122"/>
                <a:cs typeface="Cambria" pitchFamily="34" charset="-120"/>
              </a:rPr>
              <a:t>and puts the most urgent students first.</a:t>
            </a:r>
            <a:endParaRPr lang="en-US" sz="2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How it works, in three steps</a:t>
            </a:r>
            <a:endParaRPr lang="en-US" sz="3400" dirty="0"/>
          </a:p>
        </p:txBody>
      </p:sp>
      <p:sp>
        <p:nvSpPr>
          <p:cNvPr id="3" name="icon-circle-20"/>
          <p:cNvSpPr/>
          <p:nvPr/>
        </p:nvSpPr>
        <p:spPr>
          <a:xfrm>
            <a:off x="1783080" y="1508760"/>
            <a:ext cx="1005840" cy="1005840"/>
          </a:xfrm>
          <a:prstGeom prst="ellipse">
            <a:avLst/>
          </a:prstGeom>
          <a:solidFill>
            <a:schemeClr val="accent1"/>
          </a:solidFill>
          <a:ln/>
        </p:spPr>
      </p:sp>
      <p:pic>
        <p:nvPicPr>
          <p:cNvPr id="4" name="icon-21" descr="preencoded.png">    </p:cNvPr>
          <p:cNvPicPr>
            <a:picLocks noChangeAspect="1"/>
          </p:cNvPicPr>
          <p:nvPr/>
        </p:nvPicPr>
        <p:blipFill>
          <a:blip r:embed="rId1"/>
          <a:stretch>
            <a:fillRect/>
          </a:stretch>
        </p:blipFill>
        <p:spPr>
          <a:xfrm>
            <a:off x="2024482" y="1750162"/>
            <a:ext cx="523037" cy="523037"/>
          </a:xfrm>
          <a:prstGeom prst="rect">
            <a:avLst/>
          </a:prstGeom>
        </p:spPr>
      </p:pic>
      <p:sp>
        <p:nvSpPr>
          <p:cNvPr id="5" name="text-22"/>
          <p:cNvSpPr txBox="1"/>
          <p:nvPr/>
        </p:nvSpPr>
        <p:spPr>
          <a:xfrm>
            <a:off x="548640" y="2743200"/>
            <a:ext cx="3474720" cy="457200"/>
          </a:xfrm>
          <a:prstGeom prst="rect">
            <a:avLst/>
          </a:prstGeom>
          <a:noFill/>
          <a:ln/>
        </p:spPr>
        <p:txBody>
          <a:bodyPr wrap="square" lIns="0" tIns="0" rIns="0" bIns="0" rtlCol="0" anchor="t"/>
          <a:lstStyle/>
          <a:p>
            <a:pPr algn="ctr" indent="0" marL="0">
              <a:buNone/>
            </a:pPr>
            <a:r>
              <a:rPr lang="en-US" sz="2000" b="1" dirty="0">
                <a:solidFill>
                  <a:schemeClr val="tx2"/>
                </a:solidFill>
              </a:rPr>
              <a:t>1. Students use the app</a:t>
            </a:r>
            <a:endParaRPr lang="en-US" sz="2000" dirty="0"/>
          </a:p>
        </p:txBody>
      </p:sp>
      <p:sp>
        <p:nvSpPr>
          <p:cNvPr id="6" name="text-23"/>
          <p:cNvSpPr txBox="1"/>
          <p:nvPr/>
        </p:nvSpPr>
        <p:spPr>
          <a:xfrm>
            <a:off x="640080" y="3291840"/>
            <a:ext cx="3291840" cy="1463040"/>
          </a:xfrm>
          <a:prstGeom prst="rect">
            <a:avLst/>
          </a:prstGeom>
          <a:noFill/>
          <a:ln/>
        </p:spPr>
        <p:txBody>
          <a:bodyPr wrap="square" lIns="0" tIns="0" rIns="0" bIns="0" rtlCol="0" anchor="t"/>
          <a:lstStyle/>
          <a:p>
            <a:pPr indent="0" marL="0">
              <a:buNone/>
            </a:pPr>
            <a:r>
              <a:rPr lang="en-US" sz="1500" dirty="0">
                <a:solidFill>
                  <a:schemeClr val="tx1"/>
                </a:solidFill>
              </a:rPr>
              <a:t>Daily mood check-ins, short wellbeing questionnaires, coping exercises and a friendly chat companion called Emoty.</a:t>
            </a:r>
            <a:endParaRPr lang="en-US" sz="1500" dirty="0"/>
          </a:p>
        </p:txBody>
      </p:sp>
      <p:pic>
        <p:nvPicPr>
          <p:cNvPr id="7" name="arrow-24" descr="preencoded.png">    </p:cNvPr>
          <p:cNvPicPr>
            <a:picLocks noChangeAspect="1"/>
          </p:cNvPicPr>
          <p:nvPr/>
        </p:nvPicPr>
        <p:blipFill>
          <a:blip r:embed="rId2"/>
          <a:stretch>
            <a:fillRect/>
          </a:stretch>
        </p:blipFill>
        <p:spPr>
          <a:xfrm>
            <a:off x="4069080" y="1828800"/>
            <a:ext cx="411480" cy="411480"/>
          </a:xfrm>
          <a:prstGeom prst="rect">
            <a:avLst/>
          </a:prstGeom>
        </p:spPr>
      </p:pic>
      <p:sp>
        <p:nvSpPr>
          <p:cNvPr id="8" name="icon-circle-25"/>
          <p:cNvSpPr/>
          <p:nvPr/>
        </p:nvSpPr>
        <p:spPr>
          <a:xfrm>
            <a:off x="5669280" y="1508760"/>
            <a:ext cx="1005840" cy="1005840"/>
          </a:xfrm>
          <a:prstGeom prst="ellipse">
            <a:avLst/>
          </a:prstGeom>
          <a:solidFill>
            <a:schemeClr val="accent2"/>
          </a:solidFill>
          <a:ln/>
        </p:spPr>
      </p:sp>
      <p:pic>
        <p:nvPicPr>
          <p:cNvPr id="9" name="icon-26" descr="preencoded.png">    </p:cNvPr>
          <p:cNvPicPr>
            <a:picLocks noChangeAspect="1"/>
          </p:cNvPicPr>
          <p:nvPr/>
        </p:nvPicPr>
        <p:blipFill>
          <a:blip r:embed="rId3"/>
          <a:stretch>
            <a:fillRect/>
          </a:stretch>
        </p:blipFill>
        <p:spPr>
          <a:xfrm>
            <a:off x="5910682" y="1750162"/>
            <a:ext cx="523037" cy="523037"/>
          </a:xfrm>
          <a:prstGeom prst="rect">
            <a:avLst/>
          </a:prstGeom>
        </p:spPr>
      </p:pic>
      <p:sp>
        <p:nvSpPr>
          <p:cNvPr id="10" name="text-27"/>
          <p:cNvSpPr txBox="1"/>
          <p:nvPr/>
        </p:nvSpPr>
        <p:spPr>
          <a:xfrm>
            <a:off x="4434840" y="2743200"/>
            <a:ext cx="3474720" cy="457200"/>
          </a:xfrm>
          <a:prstGeom prst="rect">
            <a:avLst/>
          </a:prstGeom>
          <a:noFill/>
          <a:ln/>
        </p:spPr>
        <p:txBody>
          <a:bodyPr wrap="square" lIns="0" tIns="0" rIns="0" bIns="0" rtlCol="0" anchor="t"/>
          <a:lstStyle/>
          <a:p>
            <a:pPr algn="ctr" indent="0" marL="0">
              <a:buNone/>
            </a:pPr>
            <a:r>
              <a:rPr lang="en-US" sz="2000" b="1" dirty="0">
                <a:solidFill>
                  <a:schemeClr val="tx2"/>
                </a:solidFill>
              </a:rPr>
              <a:t>2. Emotify spots what matters</a:t>
            </a:r>
            <a:endParaRPr lang="en-US" sz="2000" dirty="0"/>
          </a:p>
        </p:txBody>
      </p:sp>
      <p:sp>
        <p:nvSpPr>
          <p:cNvPr id="11" name="text-28"/>
          <p:cNvSpPr txBox="1"/>
          <p:nvPr/>
        </p:nvSpPr>
        <p:spPr>
          <a:xfrm>
            <a:off x="4526280" y="3291840"/>
            <a:ext cx="3291840" cy="1463040"/>
          </a:xfrm>
          <a:prstGeom prst="rect">
            <a:avLst/>
          </a:prstGeom>
          <a:noFill/>
          <a:ln/>
        </p:spPr>
        <p:txBody>
          <a:bodyPr wrap="square" lIns="0" tIns="0" rIns="0" bIns="0" rtlCol="0" anchor="t"/>
          <a:lstStyle/>
          <a:p>
            <a:pPr indent="0" marL="0">
              <a:buNone/>
            </a:pPr>
            <a:r>
              <a:rPr lang="en-US" sz="1500" dirty="0">
                <a:solidFill>
                  <a:schemeClr val="tx1"/>
                </a:solidFill>
              </a:rPr>
              <a:t>Safety concerns, wellbeing that is getting worse, and direct requests for help are picked up automatically.</a:t>
            </a:r>
            <a:endParaRPr lang="en-US" sz="1500" dirty="0"/>
          </a:p>
        </p:txBody>
      </p:sp>
      <p:pic>
        <p:nvPicPr>
          <p:cNvPr id="12" name="arrow-29" descr="preencoded.png">    </p:cNvPr>
          <p:cNvPicPr>
            <a:picLocks noChangeAspect="1"/>
          </p:cNvPicPr>
          <p:nvPr/>
        </p:nvPicPr>
        <p:blipFill>
          <a:blip r:embed="rId4"/>
          <a:stretch>
            <a:fillRect/>
          </a:stretch>
        </p:blipFill>
        <p:spPr>
          <a:xfrm>
            <a:off x="7955280" y="1828800"/>
            <a:ext cx="411480" cy="411480"/>
          </a:xfrm>
          <a:prstGeom prst="rect">
            <a:avLst/>
          </a:prstGeom>
        </p:spPr>
      </p:pic>
      <p:sp>
        <p:nvSpPr>
          <p:cNvPr id="13" name="icon-circle-30"/>
          <p:cNvSpPr/>
          <p:nvPr/>
        </p:nvSpPr>
        <p:spPr>
          <a:xfrm>
            <a:off x="9555480" y="1508760"/>
            <a:ext cx="1005840" cy="1005840"/>
          </a:xfrm>
          <a:prstGeom prst="ellipse">
            <a:avLst/>
          </a:prstGeom>
          <a:solidFill>
            <a:schemeClr val="accent1"/>
          </a:solidFill>
          <a:ln/>
        </p:spPr>
      </p:sp>
      <p:pic>
        <p:nvPicPr>
          <p:cNvPr id="14" name="icon-31" descr="preencoded.png">    </p:cNvPr>
          <p:cNvPicPr>
            <a:picLocks noChangeAspect="1"/>
          </p:cNvPicPr>
          <p:nvPr/>
        </p:nvPicPr>
        <p:blipFill>
          <a:blip r:embed="rId5"/>
          <a:stretch>
            <a:fillRect/>
          </a:stretch>
        </p:blipFill>
        <p:spPr>
          <a:xfrm>
            <a:off x="9796882" y="1750162"/>
            <a:ext cx="523037" cy="523037"/>
          </a:xfrm>
          <a:prstGeom prst="rect">
            <a:avLst/>
          </a:prstGeom>
        </p:spPr>
      </p:pic>
      <p:sp>
        <p:nvSpPr>
          <p:cNvPr id="15" name="text-32"/>
          <p:cNvSpPr txBox="1"/>
          <p:nvPr/>
        </p:nvSpPr>
        <p:spPr>
          <a:xfrm>
            <a:off x="8321040" y="2743200"/>
            <a:ext cx="3474720" cy="457200"/>
          </a:xfrm>
          <a:prstGeom prst="rect">
            <a:avLst/>
          </a:prstGeom>
          <a:noFill/>
          <a:ln/>
        </p:spPr>
        <p:txBody>
          <a:bodyPr wrap="square" lIns="0" tIns="0" rIns="0" bIns="0" rtlCol="0" anchor="t"/>
          <a:lstStyle/>
          <a:p>
            <a:pPr algn="ctr" indent="0" marL="0">
              <a:buNone/>
            </a:pPr>
            <a:r>
              <a:rPr lang="en-US" sz="2000" b="1" dirty="0">
                <a:solidFill>
                  <a:schemeClr val="tx2"/>
                </a:solidFill>
              </a:rPr>
              <a:t>3. Counsellors see it and act</a:t>
            </a:r>
            <a:endParaRPr lang="en-US" sz="2000" dirty="0"/>
          </a:p>
        </p:txBody>
      </p:sp>
      <p:sp>
        <p:nvSpPr>
          <p:cNvPr id="16" name="text-33"/>
          <p:cNvSpPr txBox="1"/>
          <p:nvPr/>
        </p:nvSpPr>
        <p:spPr>
          <a:xfrm>
            <a:off x="8412480" y="3291840"/>
            <a:ext cx="3291840" cy="1463040"/>
          </a:xfrm>
          <a:prstGeom prst="rect">
            <a:avLst/>
          </a:prstGeom>
          <a:noFill/>
          <a:ln/>
        </p:spPr>
        <p:txBody>
          <a:bodyPr wrap="square" lIns="0" tIns="0" rIns="0" bIns="0" rtlCol="0" anchor="t"/>
          <a:lstStyle/>
          <a:p>
            <a:pPr indent="0" marL="0">
              <a:buNone/>
            </a:pPr>
            <a:r>
              <a:rPr lang="en-US" sz="1500" dirty="0">
                <a:solidFill>
                  <a:schemeClr val="tx1"/>
                </a:solidFill>
              </a:rPr>
              <a:t>Everything appears on the dashboard, so the counsellor can review it, call, book a session or adjust support.</a:t>
            </a:r>
            <a:endParaRPr lang="en-US" sz="1500" dirty="0"/>
          </a:p>
        </p:txBody>
      </p:sp>
      <p:sp>
        <p:nvSpPr>
          <p:cNvPr id="17" name="card-34"/>
          <p:cNvSpPr/>
          <p:nvPr/>
        </p:nvSpPr>
        <p:spPr>
          <a:xfrm>
            <a:off x="548640" y="5074920"/>
            <a:ext cx="11064240" cy="868680"/>
          </a:xfrm>
          <a:prstGeom prst="roundRect">
            <a:avLst>
              <a:gd name="adj" fmla="val 14737"/>
            </a:avLst>
          </a:prstGeom>
          <a:solidFill>
            <a:schemeClr val="bg2"/>
          </a:solidFill>
          <a:ln/>
        </p:spPr>
      </p:sp>
      <p:sp>
        <p:nvSpPr>
          <p:cNvPr id="18" name="text-35"/>
          <p:cNvSpPr txBox="1"/>
          <p:nvPr/>
        </p:nvSpPr>
        <p:spPr>
          <a:xfrm>
            <a:off x="822960" y="5138928"/>
            <a:ext cx="10515600" cy="731520"/>
          </a:xfrm>
          <a:prstGeom prst="rect">
            <a:avLst/>
          </a:prstGeom>
          <a:noFill/>
          <a:ln/>
        </p:spPr>
        <p:txBody>
          <a:bodyPr wrap="square" lIns="0" tIns="0" rIns="0" bIns="0" rtlCol="0" anchor="ctr"/>
          <a:lstStyle/>
          <a:p>
            <a:pPr indent="0" marL="0">
              <a:buNone/>
            </a:pPr>
            <a:r>
              <a:rPr lang="en-US" sz="1500" dirty="0">
                <a:solidFill>
                  <a:schemeClr val="tx2"/>
                </a:solidFill>
              </a:rPr>
              <a:t>Only signed-in staff can open the dashboard. Students keep using the app as normal; the dashboard simply makes sure the right signals reach a person.</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A counsellor’s day with Emotify</a:t>
            </a:r>
            <a:endParaRPr lang="en-US" sz="3400" dirty="0"/>
          </a:p>
        </p:txBody>
      </p:sp>
      <p:sp>
        <p:nvSpPr>
          <p:cNvPr id="3" name="timeline-36"/>
          <p:cNvSpPr/>
          <p:nvPr/>
        </p:nvSpPr>
        <p:spPr>
          <a:xfrm>
            <a:off x="1600200" y="2514600"/>
            <a:ext cx="8997696" cy="0"/>
          </a:xfrm>
          <a:prstGeom prst="line">
            <a:avLst/>
          </a:prstGeom>
          <a:noFill/>
          <a:ln w="25400">
            <a:solidFill>
              <a:srgbClr val="D9D6F5"/>
            </a:solidFill>
            <a:prstDash val="solid"/>
          </a:ln>
        </p:spPr>
      </p:sp>
      <p:sp>
        <p:nvSpPr>
          <p:cNvPr id="4" name="icon-circle-37"/>
          <p:cNvSpPr/>
          <p:nvPr/>
        </p:nvSpPr>
        <p:spPr>
          <a:xfrm>
            <a:off x="1143000" y="2057400"/>
            <a:ext cx="914400" cy="914400"/>
          </a:xfrm>
          <a:prstGeom prst="ellipse">
            <a:avLst/>
          </a:prstGeom>
          <a:solidFill>
            <a:schemeClr val="accent1"/>
          </a:solidFill>
          <a:ln/>
        </p:spPr>
      </p:sp>
      <p:pic>
        <p:nvPicPr>
          <p:cNvPr id="5" name="icon-38" descr="preencoded.png">    </p:cNvPr>
          <p:cNvPicPr>
            <a:picLocks noChangeAspect="1"/>
          </p:cNvPicPr>
          <p:nvPr/>
        </p:nvPicPr>
        <p:blipFill>
          <a:blip r:embed="rId1"/>
          <a:stretch>
            <a:fillRect/>
          </a:stretch>
        </p:blipFill>
        <p:spPr>
          <a:xfrm>
            <a:off x="1362456" y="2276856"/>
            <a:ext cx="475488" cy="475488"/>
          </a:xfrm>
          <a:prstGeom prst="rect">
            <a:avLst/>
          </a:prstGeom>
        </p:spPr>
      </p:pic>
      <p:sp>
        <p:nvSpPr>
          <p:cNvPr id="6" name="text-39"/>
          <p:cNvSpPr txBox="1"/>
          <p:nvPr/>
        </p:nvSpPr>
        <p:spPr>
          <a:xfrm>
            <a:off x="576072" y="3200400"/>
            <a:ext cx="2048256" cy="685800"/>
          </a:xfrm>
          <a:prstGeom prst="rect">
            <a:avLst/>
          </a:prstGeom>
          <a:noFill/>
          <a:ln/>
        </p:spPr>
        <p:txBody>
          <a:bodyPr wrap="square" lIns="0" tIns="0" rIns="0" bIns="0" rtlCol="0" anchor="t"/>
          <a:lstStyle/>
          <a:p>
            <a:pPr algn="ctr" indent="0" marL="0">
              <a:buNone/>
            </a:pPr>
            <a:r>
              <a:rPr lang="en-US" sz="1800" b="1" dirty="0">
                <a:solidFill>
                  <a:schemeClr val="tx2"/>
                </a:solidFill>
              </a:rPr>
              <a:t>Sign in</a:t>
            </a:r>
            <a:endParaRPr lang="en-US" sz="1800" dirty="0"/>
          </a:p>
        </p:txBody>
      </p:sp>
      <p:sp>
        <p:nvSpPr>
          <p:cNvPr id="7" name="text-40"/>
          <p:cNvSpPr txBox="1"/>
          <p:nvPr/>
        </p:nvSpPr>
        <p:spPr>
          <a:xfrm>
            <a:off x="594360" y="3931920"/>
            <a:ext cx="2011680" cy="822960"/>
          </a:xfrm>
          <a:prstGeom prst="rect">
            <a:avLst/>
          </a:prstGeom>
          <a:noFill/>
          <a:ln/>
        </p:spPr>
        <p:txBody>
          <a:bodyPr wrap="square" lIns="0" tIns="0" rIns="0" bIns="0" rtlCol="0" anchor="t"/>
          <a:lstStyle/>
          <a:p>
            <a:pPr algn="ctr" indent="0" marL="0">
              <a:buNone/>
            </a:pPr>
            <a:r>
              <a:rPr lang="en-US" sz="1400" dirty="0">
                <a:solidFill>
                  <a:schemeClr val="tx1"/>
                </a:solidFill>
              </a:rPr>
              <a:t>Open the secure staff portal</a:t>
            </a:r>
            <a:endParaRPr lang="en-US" sz="1400" dirty="0"/>
          </a:p>
        </p:txBody>
      </p:sp>
      <p:sp>
        <p:nvSpPr>
          <p:cNvPr id="8" name="icon-circle-41"/>
          <p:cNvSpPr/>
          <p:nvPr/>
        </p:nvSpPr>
        <p:spPr>
          <a:xfrm>
            <a:off x="3392424" y="2057400"/>
            <a:ext cx="914400" cy="914400"/>
          </a:xfrm>
          <a:prstGeom prst="ellipse">
            <a:avLst/>
          </a:prstGeom>
          <a:solidFill>
            <a:schemeClr val="accent1"/>
          </a:solidFill>
          <a:ln/>
        </p:spPr>
      </p:sp>
      <p:pic>
        <p:nvPicPr>
          <p:cNvPr id="9" name="icon-42" descr="preencoded.png">    </p:cNvPr>
          <p:cNvPicPr>
            <a:picLocks noChangeAspect="1"/>
          </p:cNvPicPr>
          <p:nvPr/>
        </p:nvPicPr>
        <p:blipFill>
          <a:blip r:embed="rId2"/>
          <a:stretch>
            <a:fillRect/>
          </a:stretch>
        </p:blipFill>
        <p:spPr>
          <a:xfrm>
            <a:off x="3611880" y="2276856"/>
            <a:ext cx="475488" cy="475488"/>
          </a:xfrm>
          <a:prstGeom prst="rect">
            <a:avLst/>
          </a:prstGeom>
        </p:spPr>
      </p:pic>
      <p:sp>
        <p:nvSpPr>
          <p:cNvPr id="10" name="text-43"/>
          <p:cNvSpPr txBox="1"/>
          <p:nvPr/>
        </p:nvSpPr>
        <p:spPr>
          <a:xfrm>
            <a:off x="2825496" y="3200400"/>
            <a:ext cx="2048256" cy="685800"/>
          </a:xfrm>
          <a:prstGeom prst="rect">
            <a:avLst/>
          </a:prstGeom>
          <a:noFill/>
          <a:ln/>
        </p:spPr>
        <p:txBody>
          <a:bodyPr wrap="square" lIns="0" tIns="0" rIns="0" bIns="0" rtlCol="0" anchor="t"/>
          <a:lstStyle/>
          <a:p>
            <a:pPr algn="ctr" indent="0" marL="0">
              <a:buNone/>
            </a:pPr>
            <a:r>
              <a:rPr lang="en-US" sz="1800" b="1" dirty="0">
                <a:solidFill>
                  <a:schemeClr val="tx2"/>
                </a:solidFill>
              </a:rPr>
              <a:t>See who needs attention</a:t>
            </a:r>
            <a:endParaRPr lang="en-US" sz="1800" dirty="0"/>
          </a:p>
        </p:txBody>
      </p:sp>
      <p:sp>
        <p:nvSpPr>
          <p:cNvPr id="11" name="text-44"/>
          <p:cNvSpPr txBox="1"/>
          <p:nvPr/>
        </p:nvSpPr>
        <p:spPr>
          <a:xfrm>
            <a:off x="2843784" y="3931920"/>
            <a:ext cx="2011680" cy="822960"/>
          </a:xfrm>
          <a:prstGeom prst="rect">
            <a:avLst/>
          </a:prstGeom>
          <a:noFill/>
          <a:ln/>
        </p:spPr>
        <p:txBody>
          <a:bodyPr wrap="square" lIns="0" tIns="0" rIns="0" bIns="0" rtlCol="0" anchor="t"/>
          <a:lstStyle/>
          <a:p>
            <a:pPr algn="ctr" indent="0" marL="0">
              <a:buNone/>
            </a:pPr>
            <a:r>
              <a:rPr lang="en-US" sz="1400" dirty="0">
                <a:solidFill>
                  <a:schemeClr val="tx1"/>
                </a:solidFill>
              </a:rPr>
              <a:t>Urgent items are listed first</a:t>
            </a:r>
            <a:endParaRPr lang="en-US" sz="1400" dirty="0"/>
          </a:p>
        </p:txBody>
      </p:sp>
      <p:sp>
        <p:nvSpPr>
          <p:cNvPr id="12" name="icon-circle-45"/>
          <p:cNvSpPr/>
          <p:nvPr/>
        </p:nvSpPr>
        <p:spPr>
          <a:xfrm>
            <a:off x="5641848" y="2057400"/>
            <a:ext cx="914400" cy="914400"/>
          </a:xfrm>
          <a:prstGeom prst="ellipse">
            <a:avLst/>
          </a:prstGeom>
          <a:solidFill>
            <a:schemeClr val="accent2"/>
          </a:solidFill>
          <a:ln/>
        </p:spPr>
      </p:sp>
      <p:pic>
        <p:nvPicPr>
          <p:cNvPr id="13" name="icon-46" descr="preencoded.png">    </p:cNvPr>
          <p:cNvPicPr>
            <a:picLocks noChangeAspect="1"/>
          </p:cNvPicPr>
          <p:nvPr/>
        </p:nvPicPr>
        <p:blipFill>
          <a:blip r:embed="rId3"/>
          <a:stretch>
            <a:fillRect/>
          </a:stretch>
        </p:blipFill>
        <p:spPr>
          <a:xfrm>
            <a:off x="5861304" y="2276856"/>
            <a:ext cx="475488" cy="475488"/>
          </a:xfrm>
          <a:prstGeom prst="rect">
            <a:avLst/>
          </a:prstGeom>
        </p:spPr>
      </p:pic>
      <p:sp>
        <p:nvSpPr>
          <p:cNvPr id="14" name="text-47"/>
          <p:cNvSpPr txBox="1"/>
          <p:nvPr/>
        </p:nvSpPr>
        <p:spPr>
          <a:xfrm>
            <a:off x="5074920" y="3200400"/>
            <a:ext cx="2048256" cy="685800"/>
          </a:xfrm>
          <a:prstGeom prst="rect">
            <a:avLst/>
          </a:prstGeom>
          <a:noFill/>
          <a:ln/>
        </p:spPr>
        <p:txBody>
          <a:bodyPr wrap="square" lIns="0" tIns="0" rIns="0" bIns="0" rtlCol="0" anchor="t"/>
          <a:lstStyle/>
          <a:p>
            <a:pPr algn="ctr" indent="0" marL="0">
              <a:buNone/>
            </a:pPr>
            <a:r>
              <a:rPr lang="en-US" sz="1800" b="1" dirty="0">
                <a:solidFill>
                  <a:schemeClr val="tx2"/>
                </a:solidFill>
              </a:rPr>
              <a:t>Review an alert</a:t>
            </a:r>
            <a:endParaRPr lang="en-US" sz="1800" dirty="0"/>
          </a:p>
        </p:txBody>
      </p:sp>
      <p:sp>
        <p:nvSpPr>
          <p:cNvPr id="15" name="text-48"/>
          <p:cNvSpPr txBox="1"/>
          <p:nvPr/>
        </p:nvSpPr>
        <p:spPr>
          <a:xfrm>
            <a:off x="5093208" y="3931920"/>
            <a:ext cx="2011680" cy="822960"/>
          </a:xfrm>
          <a:prstGeom prst="rect">
            <a:avLst/>
          </a:prstGeom>
          <a:noFill/>
          <a:ln/>
        </p:spPr>
        <p:txBody>
          <a:bodyPr wrap="square" lIns="0" tIns="0" rIns="0" bIns="0" rtlCol="0" anchor="t"/>
          <a:lstStyle/>
          <a:p>
            <a:pPr algn="ctr" indent="0" marL="0">
              <a:buNone/>
            </a:pPr>
            <a:r>
              <a:rPr lang="en-US" sz="1400" dirty="0">
                <a:solidFill>
                  <a:schemeClr val="tx1"/>
                </a:solidFill>
              </a:rPr>
              <a:t>Understand what happened</a:t>
            </a:r>
            <a:endParaRPr lang="en-US" sz="1400" dirty="0"/>
          </a:p>
        </p:txBody>
      </p:sp>
      <p:sp>
        <p:nvSpPr>
          <p:cNvPr id="16" name="icon-circle-49"/>
          <p:cNvSpPr/>
          <p:nvPr/>
        </p:nvSpPr>
        <p:spPr>
          <a:xfrm>
            <a:off x="7891272" y="2057400"/>
            <a:ext cx="914400" cy="914400"/>
          </a:xfrm>
          <a:prstGeom prst="ellipse">
            <a:avLst/>
          </a:prstGeom>
          <a:solidFill>
            <a:schemeClr val="accent1"/>
          </a:solidFill>
          <a:ln/>
        </p:spPr>
      </p:sp>
      <p:pic>
        <p:nvPicPr>
          <p:cNvPr id="17" name="icon-50" descr="preencoded.png">    </p:cNvPr>
          <p:cNvPicPr>
            <a:picLocks noChangeAspect="1"/>
          </p:cNvPicPr>
          <p:nvPr/>
        </p:nvPicPr>
        <p:blipFill>
          <a:blip r:embed="rId4"/>
          <a:stretch>
            <a:fillRect/>
          </a:stretch>
        </p:blipFill>
        <p:spPr>
          <a:xfrm>
            <a:off x="8110728" y="2276856"/>
            <a:ext cx="475488" cy="475488"/>
          </a:xfrm>
          <a:prstGeom prst="rect">
            <a:avLst/>
          </a:prstGeom>
        </p:spPr>
      </p:pic>
      <p:sp>
        <p:nvSpPr>
          <p:cNvPr id="18" name="text-51"/>
          <p:cNvSpPr txBox="1"/>
          <p:nvPr/>
        </p:nvSpPr>
        <p:spPr>
          <a:xfrm>
            <a:off x="7324344" y="3200400"/>
            <a:ext cx="2048256" cy="685800"/>
          </a:xfrm>
          <a:prstGeom prst="rect">
            <a:avLst/>
          </a:prstGeom>
          <a:noFill/>
          <a:ln/>
        </p:spPr>
        <p:txBody>
          <a:bodyPr wrap="square" lIns="0" tIns="0" rIns="0" bIns="0" rtlCol="0" anchor="t"/>
          <a:lstStyle/>
          <a:p>
            <a:pPr algn="ctr" indent="0" marL="0">
              <a:buNone/>
            </a:pPr>
            <a:r>
              <a:rPr lang="en-US" sz="1800" b="1" dirty="0">
                <a:solidFill>
                  <a:schemeClr val="tx2"/>
                </a:solidFill>
              </a:rPr>
              <a:t>Decide the next step</a:t>
            </a:r>
            <a:endParaRPr lang="en-US" sz="1800" dirty="0"/>
          </a:p>
        </p:txBody>
      </p:sp>
      <p:sp>
        <p:nvSpPr>
          <p:cNvPr id="19" name="text-52"/>
          <p:cNvSpPr txBox="1"/>
          <p:nvPr/>
        </p:nvSpPr>
        <p:spPr>
          <a:xfrm>
            <a:off x="7342632" y="3931920"/>
            <a:ext cx="2011680" cy="822960"/>
          </a:xfrm>
          <a:prstGeom prst="rect">
            <a:avLst/>
          </a:prstGeom>
          <a:noFill/>
          <a:ln/>
        </p:spPr>
        <p:txBody>
          <a:bodyPr wrap="square" lIns="0" tIns="0" rIns="0" bIns="0" rtlCol="0" anchor="t"/>
          <a:lstStyle/>
          <a:p>
            <a:pPr algn="ctr" indent="0" marL="0">
              <a:buNone/>
            </a:pPr>
            <a:r>
              <a:rPr lang="en-US" sz="1400" dirty="0">
                <a:solidFill>
                  <a:schemeClr val="tx1"/>
                </a:solidFill>
              </a:rPr>
              <a:t>Choose the right level of support</a:t>
            </a:r>
            <a:endParaRPr lang="en-US" sz="1400" dirty="0"/>
          </a:p>
        </p:txBody>
      </p:sp>
      <p:sp>
        <p:nvSpPr>
          <p:cNvPr id="20" name="icon-circle-53"/>
          <p:cNvSpPr/>
          <p:nvPr/>
        </p:nvSpPr>
        <p:spPr>
          <a:xfrm>
            <a:off x="10140696" y="2057400"/>
            <a:ext cx="914400" cy="914400"/>
          </a:xfrm>
          <a:prstGeom prst="ellipse">
            <a:avLst/>
          </a:prstGeom>
          <a:solidFill>
            <a:schemeClr val="accent1"/>
          </a:solidFill>
          <a:ln/>
        </p:spPr>
      </p:sp>
      <p:pic>
        <p:nvPicPr>
          <p:cNvPr id="21" name="icon-54" descr="preencoded.png">    </p:cNvPr>
          <p:cNvPicPr>
            <a:picLocks noChangeAspect="1"/>
          </p:cNvPicPr>
          <p:nvPr/>
        </p:nvPicPr>
        <p:blipFill>
          <a:blip r:embed="rId5"/>
          <a:stretch>
            <a:fillRect/>
          </a:stretch>
        </p:blipFill>
        <p:spPr>
          <a:xfrm>
            <a:off x="10360152" y="2276856"/>
            <a:ext cx="475488" cy="475488"/>
          </a:xfrm>
          <a:prstGeom prst="rect">
            <a:avLst/>
          </a:prstGeom>
        </p:spPr>
      </p:pic>
      <p:sp>
        <p:nvSpPr>
          <p:cNvPr id="22" name="text-55"/>
          <p:cNvSpPr txBox="1"/>
          <p:nvPr/>
        </p:nvSpPr>
        <p:spPr>
          <a:xfrm>
            <a:off x="9573768" y="3200400"/>
            <a:ext cx="2048256" cy="685800"/>
          </a:xfrm>
          <a:prstGeom prst="rect">
            <a:avLst/>
          </a:prstGeom>
          <a:noFill/>
          <a:ln/>
        </p:spPr>
        <p:txBody>
          <a:bodyPr wrap="square" lIns="0" tIns="0" rIns="0" bIns="0" rtlCol="0" anchor="t"/>
          <a:lstStyle/>
          <a:p>
            <a:pPr algn="ctr" indent="0" marL="0">
              <a:buNone/>
            </a:pPr>
            <a:r>
              <a:rPr lang="en-US" sz="1800" b="1" dirty="0">
                <a:solidFill>
                  <a:schemeClr val="tx2"/>
                </a:solidFill>
              </a:rPr>
              <a:t>Reach out and follow up</a:t>
            </a:r>
            <a:endParaRPr lang="en-US" sz="1800" dirty="0"/>
          </a:p>
        </p:txBody>
      </p:sp>
      <p:sp>
        <p:nvSpPr>
          <p:cNvPr id="23" name="text-56"/>
          <p:cNvSpPr txBox="1"/>
          <p:nvPr/>
        </p:nvSpPr>
        <p:spPr>
          <a:xfrm>
            <a:off x="9592056" y="3931920"/>
            <a:ext cx="2011680" cy="822960"/>
          </a:xfrm>
          <a:prstGeom prst="rect">
            <a:avLst/>
          </a:prstGeom>
          <a:noFill/>
          <a:ln/>
        </p:spPr>
        <p:txBody>
          <a:bodyPr wrap="square" lIns="0" tIns="0" rIns="0" bIns="0" rtlCol="0" anchor="t"/>
          <a:lstStyle/>
          <a:p>
            <a:pPr algn="ctr" indent="0" marL="0">
              <a:buNone/>
            </a:pPr>
            <a:r>
              <a:rPr lang="en-US" sz="1400" dirty="0">
                <a:solidFill>
                  <a:schemeClr val="tx1"/>
                </a:solidFill>
              </a:rPr>
              <a:t>Call, book a session, track it</a:t>
            </a:r>
            <a:endParaRPr lang="en-US" sz="1400" dirty="0"/>
          </a:p>
        </p:txBody>
      </p:sp>
      <p:sp>
        <p:nvSpPr>
          <p:cNvPr id="24" name="text-57"/>
          <p:cNvSpPr txBox="1"/>
          <p:nvPr/>
        </p:nvSpPr>
        <p:spPr>
          <a:xfrm>
            <a:off x="548640" y="5394960"/>
            <a:ext cx="11064240" cy="457200"/>
          </a:xfrm>
          <a:prstGeom prst="rect">
            <a:avLst/>
          </a:prstGeom>
          <a:noFill/>
          <a:ln/>
        </p:spPr>
        <p:txBody>
          <a:bodyPr wrap="square" lIns="0" tIns="0" rIns="0" bIns="0" rtlCol="0" anchor="t"/>
          <a:lstStyle/>
          <a:p>
            <a:pPr indent="0" marL="0">
              <a:buNone/>
            </a:pPr>
            <a:r>
              <a:rPr lang="en-US" sz="1600" i="1" dirty="0">
                <a:solidFill>
                  <a:schemeClr val="accent6"/>
                </a:solidFill>
              </a:rPr>
              <a:t>The rest of this presentation walks through each of these moments on the real screens.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Secure sign-in, one simple menu</a:t>
            </a:r>
            <a:endParaRPr lang="en-US" sz="3400" dirty="0"/>
          </a:p>
        </p:txBody>
      </p:sp>
      <p:sp>
        <p:nvSpPr>
          <p:cNvPr id="3" name="screenshot-frame-58"/>
          <p:cNvSpPr/>
          <p:nvPr/>
        </p:nvSpPr>
        <p:spPr>
          <a:xfrm>
            <a:off x="603504" y="1380744"/>
            <a:ext cx="4187952" cy="4539996"/>
          </a:xfrm>
          <a:prstGeom prst="roundRect">
            <a:avLst>
              <a:gd name="adj" fmla="val 2620"/>
            </a:avLst>
          </a:prstGeom>
          <a:solidFill>
            <a:schemeClr val="bg1"/>
          </a:solidFill>
          <a:ln w="9525">
            <a:solidFill>
              <a:srgbClr val="E2E0F5"/>
            </a:solidFill>
            <a:prstDash val="solid"/>
          </a:ln>
          <a:effectLst>
            <a:outerShdw sx="100000" sy="100000" kx="0" ky="0" algn="bl" rotWithShape="0" blurRad="152400" dist="38100" dir="5400000">
              <a:srgbClr val="1F1B3A">
                <a:alpha val="18000"/>
              </a:srgbClr>
            </a:outerShdw>
          </a:effectLst>
        </p:spPr>
      </p:sp>
      <p:pic>
        <p:nvPicPr>
          <p:cNvPr id="4" name="screenshot-59" descr="Dashboard screenshot">    </p:cNvPr>
          <p:cNvPicPr>
            <a:picLocks noChangeAspect="1"/>
          </p:cNvPicPr>
          <p:nvPr/>
        </p:nvPicPr>
        <p:blipFill>
          <a:blip r:embed="rId1"/>
          <a:stretch>
            <a:fillRect/>
          </a:stretch>
        </p:blipFill>
        <p:spPr>
          <a:xfrm>
            <a:off x="685800" y="1463040"/>
            <a:ext cx="4023360" cy="4375404"/>
          </a:xfrm>
          <a:prstGeom prst="rect">
            <a:avLst/>
          </a:prstGeom>
        </p:spPr>
      </p:pic>
      <p:sp>
        <p:nvSpPr>
          <p:cNvPr id="5" name="text-60"/>
          <p:cNvSpPr txBox="1"/>
          <p:nvPr/>
        </p:nvSpPr>
        <p:spPr>
          <a:xfrm>
            <a:off x="685800" y="5897880"/>
            <a:ext cx="4023360" cy="274320"/>
          </a:xfrm>
          <a:prstGeom prst="rect">
            <a:avLst/>
          </a:prstGeom>
          <a:noFill/>
          <a:ln/>
        </p:spPr>
        <p:txBody>
          <a:bodyPr wrap="square" lIns="0" tIns="0" rIns="0" bIns="0" rtlCol="0" anchor="t"/>
          <a:lstStyle/>
          <a:p>
            <a:pPr indent="0" marL="0">
              <a:buNone/>
            </a:pPr>
            <a:r>
              <a:rPr lang="en-US" sz="1100" i="1" dirty="0">
                <a:solidFill>
                  <a:schemeClr val="accent6"/>
                </a:solidFill>
              </a:rPr>
              <a:t>Screens show test data</a:t>
            </a:r>
            <a:endParaRPr lang="en-US" sz="1100" dirty="0"/>
          </a:p>
        </p:txBody>
      </p:sp>
      <p:sp>
        <p:nvSpPr>
          <p:cNvPr id="6" name="text-61"/>
          <p:cNvSpPr txBox="1"/>
          <p:nvPr/>
        </p:nvSpPr>
        <p:spPr>
          <a:xfrm>
            <a:off x="5394960" y="1417320"/>
            <a:ext cx="6217920" cy="411480"/>
          </a:xfrm>
          <a:prstGeom prst="rect">
            <a:avLst/>
          </a:prstGeom>
          <a:noFill/>
          <a:ln/>
        </p:spPr>
        <p:txBody>
          <a:bodyPr wrap="square" lIns="0" tIns="0" rIns="0" bIns="0" rtlCol="0" anchor="t"/>
          <a:lstStyle/>
          <a:p>
            <a:pPr indent="0" marL="0">
              <a:buNone/>
            </a:pPr>
            <a:r>
              <a:rPr lang="en-US" sz="1700" b="1" dirty="0">
                <a:solidFill>
                  <a:schemeClr val="tx2"/>
                </a:solidFill>
              </a:rPr>
              <a:t>Everything a counsellor needs is one click away:</a:t>
            </a:r>
            <a:endParaRPr lang="en-US" sz="1700" dirty="0"/>
          </a:p>
        </p:txBody>
      </p:sp>
      <p:sp>
        <p:nvSpPr>
          <p:cNvPr id="7" name="icon-circle-62"/>
          <p:cNvSpPr/>
          <p:nvPr/>
        </p:nvSpPr>
        <p:spPr>
          <a:xfrm>
            <a:off x="5394960" y="2057400"/>
            <a:ext cx="566928" cy="566928"/>
          </a:xfrm>
          <a:prstGeom prst="ellipse">
            <a:avLst/>
          </a:prstGeom>
          <a:solidFill>
            <a:schemeClr val="bg2"/>
          </a:solidFill>
          <a:ln/>
        </p:spPr>
      </p:sp>
      <p:pic>
        <p:nvPicPr>
          <p:cNvPr id="8" name="icon-63" descr="preencoded.png">    </p:cNvPr>
          <p:cNvPicPr>
            <a:picLocks noChangeAspect="1"/>
          </p:cNvPicPr>
          <p:nvPr/>
        </p:nvPicPr>
        <p:blipFill>
          <a:blip r:embed="rId2"/>
          <a:stretch>
            <a:fillRect/>
          </a:stretch>
        </p:blipFill>
        <p:spPr>
          <a:xfrm>
            <a:off x="5531023" y="2193463"/>
            <a:ext cx="294803" cy="294803"/>
          </a:xfrm>
          <a:prstGeom prst="rect">
            <a:avLst/>
          </a:prstGeom>
        </p:spPr>
      </p:pic>
      <p:sp>
        <p:nvSpPr>
          <p:cNvPr id="9" name="text-64"/>
          <p:cNvSpPr txBox="1"/>
          <p:nvPr/>
        </p:nvSpPr>
        <p:spPr>
          <a:xfrm>
            <a:off x="6126480" y="2039112"/>
            <a:ext cx="2331720" cy="777240"/>
          </a:xfrm>
          <a:prstGeom prst="rect">
            <a:avLst/>
          </a:prstGeom>
          <a:noFill/>
          <a:ln/>
        </p:spPr>
        <p:txBody>
          <a:bodyPr wrap="square" lIns="0" tIns="0" rIns="0" bIns="0" rtlCol="0" anchor="t"/>
          <a:lstStyle/>
          <a:p>
            <a:pPr indent="0" marL="0">
              <a:buNone/>
            </a:pPr>
            <a:r>
              <a:rPr lang="en-US" sz="1600" b="1" dirty="0">
                <a:solidFill>
                  <a:schemeClr val="tx2"/>
                </a:solidFill>
              </a:rPr>
              <a:t>Overview</a:t>
            </a:r>
            <a:endParaRPr lang="en-US" sz="1600" dirty="0"/>
          </a:p>
          <a:p>
            <a:pPr indent="0" marL="0">
              <a:buNone/>
            </a:pPr>
            <a:r>
              <a:rPr lang="en-US" sz="1300" dirty="0">
                <a:solidFill>
                  <a:schemeClr val="tx1"/>
                </a:solidFill>
              </a:rPr>
              <a:t>A summary of the day</a:t>
            </a:r>
            <a:endParaRPr lang="en-US" sz="1600" dirty="0"/>
          </a:p>
        </p:txBody>
      </p:sp>
      <p:sp>
        <p:nvSpPr>
          <p:cNvPr id="10" name="icon-circle-65"/>
          <p:cNvSpPr/>
          <p:nvPr/>
        </p:nvSpPr>
        <p:spPr>
          <a:xfrm>
            <a:off x="8549640" y="2057400"/>
            <a:ext cx="566928" cy="566928"/>
          </a:xfrm>
          <a:prstGeom prst="ellipse">
            <a:avLst/>
          </a:prstGeom>
          <a:solidFill>
            <a:schemeClr val="bg2"/>
          </a:solidFill>
          <a:ln/>
        </p:spPr>
      </p:sp>
      <p:pic>
        <p:nvPicPr>
          <p:cNvPr id="11" name="icon-66" descr="preencoded.png">    </p:cNvPr>
          <p:cNvPicPr>
            <a:picLocks noChangeAspect="1"/>
          </p:cNvPicPr>
          <p:nvPr/>
        </p:nvPicPr>
        <p:blipFill>
          <a:blip r:embed="rId3"/>
          <a:stretch>
            <a:fillRect/>
          </a:stretch>
        </p:blipFill>
        <p:spPr>
          <a:xfrm>
            <a:off x="8685703" y="2193463"/>
            <a:ext cx="294803" cy="294803"/>
          </a:xfrm>
          <a:prstGeom prst="rect">
            <a:avLst/>
          </a:prstGeom>
        </p:spPr>
      </p:pic>
      <p:sp>
        <p:nvSpPr>
          <p:cNvPr id="12" name="text-67"/>
          <p:cNvSpPr txBox="1"/>
          <p:nvPr/>
        </p:nvSpPr>
        <p:spPr>
          <a:xfrm>
            <a:off x="9281160" y="2039112"/>
            <a:ext cx="2331720" cy="777240"/>
          </a:xfrm>
          <a:prstGeom prst="rect">
            <a:avLst/>
          </a:prstGeom>
          <a:noFill/>
          <a:ln/>
        </p:spPr>
        <p:txBody>
          <a:bodyPr wrap="square" lIns="0" tIns="0" rIns="0" bIns="0" rtlCol="0" anchor="t"/>
          <a:lstStyle/>
          <a:p>
            <a:pPr indent="0" marL="0">
              <a:buNone/>
            </a:pPr>
            <a:r>
              <a:rPr lang="en-US" sz="1600" b="1" dirty="0">
                <a:solidFill>
                  <a:schemeClr val="tx2"/>
                </a:solidFill>
              </a:rPr>
              <a:t>Students</a:t>
            </a:r>
            <a:endParaRPr lang="en-US" sz="1600" dirty="0"/>
          </a:p>
          <a:p>
            <a:pPr indent="0" marL="0">
              <a:buNone/>
            </a:pPr>
            <a:r>
              <a:rPr lang="en-US" sz="1300" dirty="0">
                <a:solidFill>
                  <a:schemeClr val="tx1"/>
                </a:solidFill>
              </a:rPr>
              <a:t>Everyone in your care</a:t>
            </a:r>
            <a:endParaRPr lang="en-US" sz="1600" dirty="0"/>
          </a:p>
        </p:txBody>
      </p:sp>
      <p:sp>
        <p:nvSpPr>
          <p:cNvPr id="13" name="icon-circle-68"/>
          <p:cNvSpPr/>
          <p:nvPr/>
        </p:nvSpPr>
        <p:spPr>
          <a:xfrm>
            <a:off x="5394960" y="3017520"/>
            <a:ext cx="566928" cy="566928"/>
          </a:xfrm>
          <a:prstGeom prst="ellipse">
            <a:avLst/>
          </a:prstGeom>
          <a:solidFill>
            <a:schemeClr val="bg2"/>
          </a:solidFill>
          <a:ln/>
        </p:spPr>
      </p:sp>
      <p:pic>
        <p:nvPicPr>
          <p:cNvPr id="14" name="icon-69" descr="preencoded.png">    </p:cNvPr>
          <p:cNvPicPr>
            <a:picLocks noChangeAspect="1"/>
          </p:cNvPicPr>
          <p:nvPr/>
        </p:nvPicPr>
        <p:blipFill>
          <a:blip r:embed="rId4"/>
          <a:stretch>
            <a:fillRect/>
          </a:stretch>
        </p:blipFill>
        <p:spPr>
          <a:xfrm>
            <a:off x="5531023" y="3153583"/>
            <a:ext cx="294803" cy="294803"/>
          </a:xfrm>
          <a:prstGeom prst="rect">
            <a:avLst/>
          </a:prstGeom>
        </p:spPr>
      </p:pic>
      <p:sp>
        <p:nvSpPr>
          <p:cNvPr id="15" name="text-70"/>
          <p:cNvSpPr txBox="1"/>
          <p:nvPr/>
        </p:nvSpPr>
        <p:spPr>
          <a:xfrm>
            <a:off x="6126480" y="2999232"/>
            <a:ext cx="2331720" cy="777240"/>
          </a:xfrm>
          <a:prstGeom prst="rect">
            <a:avLst/>
          </a:prstGeom>
          <a:noFill/>
          <a:ln/>
        </p:spPr>
        <p:txBody>
          <a:bodyPr wrap="square" lIns="0" tIns="0" rIns="0" bIns="0" rtlCol="0" anchor="t"/>
          <a:lstStyle/>
          <a:p>
            <a:pPr indent="0" marL="0">
              <a:buNone/>
            </a:pPr>
            <a:r>
              <a:rPr lang="en-US" sz="1600" b="1" dirty="0">
                <a:solidFill>
                  <a:schemeClr val="tx2"/>
                </a:solidFill>
              </a:rPr>
              <a:t>Alerts</a:t>
            </a:r>
            <a:endParaRPr lang="en-US" sz="1600" dirty="0"/>
          </a:p>
          <a:p>
            <a:pPr indent="0" marL="0">
              <a:buNone/>
            </a:pPr>
            <a:r>
              <a:rPr lang="en-US" sz="1300" dirty="0">
                <a:solidFill>
                  <a:schemeClr val="tx1"/>
                </a:solidFill>
              </a:rPr>
              <a:t>Safety concerns to review</a:t>
            </a:r>
            <a:endParaRPr lang="en-US" sz="1600" dirty="0"/>
          </a:p>
        </p:txBody>
      </p:sp>
      <p:sp>
        <p:nvSpPr>
          <p:cNvPr id="16" name="icon-circle-71"/>
          <p:cNvSpPr/>
          <p:nvPr/>
        </p:nvSpPr>
        <p:spPr>
          <a:xfrm>
            <a:off x="8549640" y="3017520"/>
            <a:ext cx="566928" cy="566928"/>
          </a:xfrm>
          <a:prstGeom prst="ellipse">
            <a:avLst/>
          </a:prstGeom>
          <a:solidFill>
            <a:schemeClr val="bg2"/>
          </a:solidFill>
          <a:ln/>
        </p:spPr>
      </p:sp>
      <p:pic>
        <p:nvPicPr>
          <p:cNvPr id="17" name="icon-72" descr="preencoded.png">    </p:cNvPr>
          <p:cNvPicPr>
            <a:picLocks noChangeAspect="1"/>
          </p:cNvPicPr>
          <p:nvPr/>
        </p:nvPicPr>
        <p:blipFill>
          <a:blip r:embed="rId5"/>
          <a:stretch>
            <a:fillRect/>
          </a:stretch>
        </p:blipFill>
        <p:spPr>
          <a:xfrm>
            <a:off x="8685703" y="3153583"/>
            <a:ext cx="294803" cy="294803"/>
          </a:xfrm>
          <a:prstGeom prst="rect">
            <a:avLst/>
          </a:prstGeom>
        </p:spPr>
      </p:pic>
      <p:sp>
        <p:nvSpPr>
          <p:cNvPr id="18" name="text-73"/>
          <p:cNvSpPr txBox="1"/>
          <p:nvPr/>
        </p:nvSpPr>
        <p:spPr>
          <a:xfrm>
            <a:off x="9281160" y="2999232"/>
            <a:ext cx="2331720" cy="777240"/>
          </a:xfrm>
          <a:prstGeom prst="rect">
            <a:avLst/>
          </a:prstGeom>
          <a:noFill/>
          <a:ln/>
        </p:spPr>
        <p:txBody>
          <a:bodyPr wrap="square" lIns="0" tIns="0" rIns="0" bIns="0" rtlCol="0" anchor="t"/>
          <a:lstStyle/>
          <a:p>
            <a:pPr indent="0" marL="0">
              <a:buNone/>
            </a:pPr>
            <a:r>
              <a:rPr lang="en-US" sz="1600" b="1" dirty="0">
                <a:solidFill>
                  <a:schemeClr val="tx2"/>
                </a:solidFill>
              </a:rPr>
              <a:t>Appointments</a:t>
            </a:r>
            <a:endParaRPr lang="en-US" sz="1600" dirty="0"/>
          </a:p>
          <a:p>
            <a:pPr indent="0" marL="0">
              <a:buNone/>
            </a:pPr>
            <a:r>
              <a:rPr lang="en-US" sz="1300" dirty="0">
                <a:solidFill>
                  <a:schemeClr val="tx1"/>
                </a:solidFill>
              </a:rPr>
              <a:t>Session requests and bookings</a:t>
            </a:r>
            <a:endParaRPr lang="en-US" sz="1600" dirty="0"/>
          </a:p>
        </p:txBody>
      </p:sp>
      <p:sp>
        <p:nvSpPr>
          <p:cNvPr id="19" name="icon-circle-74"/>
          <p:cNvSpPr/>
          <p:nvPr/>
        </p:nvSpPr>
        <p:spPr>
          <a:xfrm>
            <a:off x="5394960" y="3977640"/>
            <a:ext cx="566928" cy="566928"/>
          </a:xfrm>
          <a:prstGeom prst="ellipse">
            <a:avLst/>
          </a:prstGeom>
          <a:solidFill>
            <a:schemeClr val="bg2"/>
          </a:solidFill>
          <a:ln/>
        </p:spPr>
      </p:sp>
      <p:pic>
        <p:nvPicPr>
          <p:cNvPr id="20" name="icon-75" descr="preencoded.png">    </p:cNvPr>
          <p:cNvPicPr>
            <a:picLocks noChangeAspect="1"/>
          </p:cNvPicPr>
          <p:nvPr/>
        </p:nvPicPr>
        <p:blipFill>
          <a:blip r:embed="rId6"/>
          <a:stretch>
            <a:fillRect/>
          </a:stretch>
        </p:blipFill>
        <p:spPr>
          <a:xfrm>
            <a:off x="5531023" y="4113703"/>
            <a:ext cx="294803" cy="294803"/>
          </a:xfrm>
          <a:prstGeom prst="rect">
            <a:avLst/>
          </a:prstGeom>
        </p:spPr>
      </p:pic>
      <p:sp>
        <p:nvSpPr>
          <p:cNvPr id="21" name="text-76"/>
          <p:cNvSpPr txBox="1"/>
          <p:nvPr/>
        </p:nvSpPr>
        <p:spPr>
          <a:xfrm>
            <a:off x="6126480" y="3959352"/>
            <a:ext cx="2331720" cy="777240"/>
          </a:xfrm>
          <a:prstGeom prst="rect">
            <a:avLst/>
          </a:prstGeom>
          <a:noFill/>
          <a:ln/>
        </p:spPr>
        <p:txBody>
          <a:bodyPr wrap="square" lIns="0" tIns="0" rIns="0" bIns="0" rtlCol="0" anchor="t"/>
          <a:lstStyle/>
          <a:p>
            <a:pPr indent="0" marL="0">
              <a:buNone/>
            </a:pPr>
            <a:r>
              <a:rPr lang="en-US" sz="1600" b="1" dirty="0">
                <a:solidFill>
                  <a:schemeClr val="tx2"/>
                </a:solidFill>
              </a:rPr>
              <a:t>Counsellor requests</a:t>
            </a:r>
            <a:endParaRPr lang="en-US" sz="1600" dirty="0"/>
          </a:p>
          <a:p>
            <a:pPr indent="0" marL="0">
              <a:buNone/>
            </a:pPr>
            <a:r>
              <a:rPr lang="en-US" sz="1300" dirty="0">
                <a:solidFill>
                  <a:schemeClr val="tx1"/>
                </a:solidFill>
              </a:rPr>
              <a:t>Students asking to talk</a:t>
            </a:r>
            <a:endParaRPr lang="en-US" sz="1600" dirty="0"/>
          </a:p>
        </p:txBody>
      </p:sp>
      <p:sp>
        <p:nvSpPr>
          <p:cNvPr id="22" name="icon-circle-77"/>
          <p:cNvSpPr/>
          <p:nvPr/>
        </p:nvSpPr>
        <p:spPr>
          <a:xfrm>
            <a:off x="8549640" y="3977640"/>
            <a:ext cx="566928" cy="566928"/>
          </a:xfrm>
          <a:prstGeom prst="ellipse">
            <a:avLst/>
          </a:prstGeom>
          <a:solidFill>
            <a:schemeClr val="bg2"/>
          </a:solidFill>
          <a:ln/>
        </p:spPr>
      </p:sp>
      <p:pic>
        <p:nvPicPr>
          <p:cNvPr id="23" name="icon-78" descr="preencoded.png">    </p:cNvPr>
          <p:cNvPicPr>
            <a:picLocks noChangeAspect="1"/>
          </p:cNvPicPr>
          <p:nvPr/>
        </p:nvPicPr>
        <p:blipFill>
          <a:blip r:embed="rId7"/>
          <a:stretch>
            <a:fillRect/>
          </a:stretch>
        </p:blipFill>
        <p:spPr>
          <a:xfrm>
            <a:off x="8685703" y="4113703"/>
            <a:ext cx="294803" cy="294803"/>
          </a:xfrm>
          <a:prstGeom prst="rect">
            <a:avLst/>
          </a:prstGeom>
        </p:spPr>
      </p:pic>
      <p:sp>
        <p:nvSpPr>
          <p:cNvPr id="24" name="text-79"/>
          <p:cNvSpPr txBox="1"/>
          <p:nvPr/>
        </p:nvSpPr>
        <p:spPr>
          <a:xfrm>
            <a:off x="9281160" y="3959352"/>
            <a:ext cx="2331720" cy="777240"/>
          </a:xfrm>
          <a:prstGeom prst="rect">
            <a:avLst/>
          </a:prstGeom>
          <a:noFill/>
          <a:ln/>
        </p:spPr>
        <p:txBody>
          <a:bodyPr wrap="square" lIns="0" tIns="0" rIns="0" bIns="0" rtlCol="0" anchor="t"/>
          <a:lstStyle/>
          <a:p>
            <a:pPr indent="0" marL="0">
              <a:buNone/>
            </a:pPr>
            <a:r>
              <a:rPr lang="en-US" sz="1600" b="1" dirty="0">
                <a:solidFill>
                  <a:schemeClr val="tx2"/>
                </a:solidFill>
              </a:rPr>
              <a:t>Screening</a:t>
            </a:r>
            <a:endParaRPr lang="en-US" sz="1600" dirty="0"/>
          </a:p>
          <a:p>
            <a:pPr indent="0" marL="0">
              <a:buNone/>
            </a:pPr>
            <a:r>
              <a:rPr lang="en-US" sz="1300" dirty="0">
                <a:solidFill>
                  <a:schemeClr val="tx1"/>
                </a:solidFill>
              </a:rPr>
              <a:t>Wellbeing results overall</a:t>
            </a:r>
            <a:endParaRPr lang="en-US" sz="1600" dirty="0"/>
          </a:p>
        </p:txBody>
      </p:sp>
      <p:sp>
        <p:nvSpPr>
          <p:cNvPr id="25" name="icon-circle-80"/>
          <p:cNvSpPr/>
          <p:nvPr/>
        </p:nvSpPr>
        <p:spPr>
          <a:xfrm>
            <a:off x="5394960" y="4937760"/>
            <a:ext cx="566928" cy="566928"/>
          </a:xfrm>
          <a:prstGeom prst="ellipse">
            <a:avLst/>
          </a:prstGeom>
          <a:solidFill>
            <a:schemeClr val="bg2"/>
          </a:solidFill>
          <a:ln/>
        </p:spPr>
      </p:sp>
      <p:pic>
        <p:nvPicPr>
          <p:cNvPr id="26" name="icon-81" descr="preencoded.png">    </p:cNvPr>
          <p:cNvPicPr>
            <a:picLocks noChangeAspect="1"/>
          </p:cNvPicPr>
          <p:nvPr/>
        </p:nvPicPr>
        <p:blipFill>
          <a:blip r:embed="rId8"/>
          <a:stretch>
            <a:fillRect/>
          </a:stretch>
        </p:blipFill>
        <p:spPr>
          <a:xfrm>
            <a:off x="5531023" y="5073823"/>
            <a:ext cx="294803" cy="294803"/>
          </a:xfrm>
          <a:prstGeom prst="rect">
            <a:avLst/>
          </a:prstGeom>
        </p:spPr>
      </p:pic>
      <p:sp>
        <p:nvSpPr>
          <p:cNvPr id="27" name="text-82"/>
          <p:cNvSpPr txBox="1"/>
          <p:nvPr/>
        </p:nvSpPr>
        <p:spPr>
          <a:xfrm>
            <a:off x="6126480" y="4919472"/>
            <a:ext cx="2331720" cy="777240"/>
          </a:xfrm>
          <a:prstGeom prst="rect">
            <a:avLst/>
          </a:prstGeom>
          <a:noFill/>
          <a:ln/>
        </p:spPr>
        <p:txBody>
          <a:bodyPr wrap="square" lIns="0" tIns="0" rIns="0" bIns="0" rtlCol="0" anchor="t"/>
          <a:lstStyle/>
          <a:p>
            <a:pPr indent="0" marL="0">
              <a:buNone/>
            </a:pPr>
            <a:r>
              <a:rPr lang="en-US" sz="1600" b="1" dirty="0">
                <a:solidFill>
                  <a:schemeClr val="tx2"/>
                </a:solidFill>
              </a:rPr>
              <a:t>AI monitoring</a:t>
            </a:r>
            <a:endParaRPr lang="en-US" sz="1600" dirty="0"/>
          </a:p>
          <a:p>
            <a:pPr indent="0" marL="0">
              <a:buNone/>
            </a:pPr>
            <a:r>
              <a:rPr lang="en-US" sz="1300" dirty="0">
                <a:solidFill>
                  <a:schemeClr val="tx1"/>
                </a:solidFill>
              </a:rPr>
              <a:t>Conversations with Emoty</a:t>
            </a:r>
            <a:endParaRPr lang="en-US" sz="1600" dirty="0"/>
          </a:p>
        </p:txBody>
      </p:sp>
      <p:sp>
        <p:nvSpPr>
          <p:cNvPr id="28" name="icon-circle-83"/>
          <p:cNvSpPr/>
          <p:nvPr/>
        </p:nvSpPr>
        <p:spPr>
          <a:xfrm>
            <a:off x="8549640" y="4937760"/>
            <a:ext cx="566928" cy="566928"/>
          </a:xfrm>
          <a:prstGeom prst="ellipse">
            <a:avLst/>
          </a:prstGeom>
          <a:solidFill>
            <a:schemeClr val="bg2"/>
          </a:solidFill>
          <a:ln/>
        </p:spPr>
      </p:sp>
      <p:pic>
        <p:nvPicPr>
          <p:cNvPr id="29" name="icon-84" descr="preencoded.png">    </p:cNvPr>
          <p:cNvPicPr>
            <a:picLocks noChangeAspect="1"/>
          </p:cNvPicPr>
          <p:nvPr/>
        </p:nvPicPr>
        <p:blipFill>
          <a:blip r:embed="rId9"/>
          <a:stretch>
            <a:fillRect/>
          </a:stretch>
        </p:blipFill>
        <p:spPr>
          <a:xfrm>
            <a:off x="8685703" y="5073823"/>
            <a:ext cx="294803" cy="294803"/>
          </a:xfrm>
          <a:prstGeom prst="rect">
            <a:avLst/>
          </a:prstGeom>
        </p:spPr>
      </p:pic>
      <p:sp>
        <p:nvSpPr>
          <p:cNvPr id="30" name="text-85"/>
          <p:cNvSpPr txBox="1"/>
          <p:nvPr/>
        </p:nvSpPr>
        <p:spPr>
          <a:xfrm>
            <a:off x="9281160" y="4919472"/>
            <a:ext cx="2331720" cy="777240"/>
          </a:xfrm>
          <a:prstGeom prst="rect">
            <a:avLst/>
          </a:prstGeom>
          <a:noFill/>
          <a:ln/>
        </p:spPr>
        <p:txBody>
          <a:bodyPr wrap="square" lIns="0" tIns="0" rIns="0" bIns="0" rtlCol="0" anchor="t"/>
          <a:lstStyle/>
          <a:p>
            <a:pPr indent="0" marL="0">
              <a:buNone/>
            </a:pPr>
            <a:r>
              <a:rPr lang="en-US" sz="1600" b="1" dirty="0">
                <a:solidFill>
                  <a:schemeClr val="tx2"/>
                </a:solidFill>
              </a:rPr>
              <a:t>Notifications</a:t>
            </a:r>
            <a:endParaRPr lang="en-US" sz="1600" dirty="0"/>
          </a:p>
          <a:p>
            <a:pPr indent="0" marL="0">
              <a:buNone/>
            </a:pPr>
            <a:r>
              <a:rPr lang="en-US" sz="1300" dirty="0">
                <a:solidFill>
                  <a:schemeClr val="tx1"/>
                </a:solidFill>
              </a:rPr>
              <a:t>Anything new</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What matters today, at a glance</a:t>
            </a:r>
            <a:endParaRPr lang="en-US" sz="3400" dirty="0"/>
          </a:p>
        </p:txBody>
      </p:sp>
      <p:sp>
        <p:nvSpPr>
          <p:cNvPr id="3" name="screenshot-frame-86"/>
          <p:cNvSpPr/>
          <p:nvPr/>
        </p:nvSpPr>
        <p:spPr>
          <a:xfrm>
            <a:off x="603504" y="1426464"/>
            <a:ext cx="7571232" cy="3398477"/>
          </a:xfrm>
          <a:prstGeom prst="roundRect">
            <a:avLst>
              <a:gd name="adj" fmla="val 3229"/>
            </a:avLst>
          </a:prstGeom>
          <a:solidFill>
            <a:schemeClr val="bg1"/>
          </a:solidFill>
          <a:ln w="9525">
            <a:solidFill>
              <a:srgbClr val="E2E0F5"/>
            </a:solidFill>
            <a:prstDash val="solid"/>
          </a:ln>
          <a:effectLst>
            <a:outerShdw sx="100000" sy="100000" kx="0" ky="0" algn="bl" rotWithShape="0" blurRad="152400" dist="38100" dir="5400000">
              <a:srgbClr val="1F1B3A">
                <a:alpha val="18000"/>
              </a:srgbClr>
            </a:outerShdw>
          </a:effectLst>
        </p:spPr>
      </p:sp>
      <p:pic>
        <p:nvPicPr>
          <p:cNvPr id="4" name="screenshot-87" descr="Dashboard screenshot">    </p:cNvPr>
          <p:cNvPicPr>
            <a:picLocks noChangeAspect="1"/>
          </p:cNvPicPr>
          <p:nvPr/>
        </p:nvPicPr>
        <p:blipFill>
          <a:blip r:embed="rId1"/>
          <a:stretch>
            <a:fillRect/>
          </a:stretch>
        </p:blipFill>
        <p:spPr>
          <a:xfrm>
            <a:off x="685800" y="1508760"/>
            <a:ext cx="7406640" cy="3233885"/>
          </a:xfrm>
          <a:prstGeom prst="rect">
            <a:avLst/>
          </a:prstGeom>
        </p:spPr>
      </p:pic>
      <p:sp>
        <p:nvSpPr>
          <p:cNvPr id="5" name="text-88"/>
          <p:cNvSpPr txBox="1"/>
          <p:nvPr/>
        </p:nvSpPr>
        <p:spPr>
          <a:xfrm>
            <a:off x="685800" y="4925525"/>
            <a:ext cx="7406640" cy="274320"/>
          </a:xfrm>
          <a:prstGeom prst="rect">
            <a:avLst/>
          </a:prstGeom>
          <a:noFill/>
          <a:ln/>
        </p:spPr>
        <p:txBody>
          <a:bodyPr wrap="square" lIns="0" tIns="0" rIns="0" bIns="0" rtlCol="0" anchor="t"/>
          <a:lstStyle/>
          <a:p>
            <a:pPr indent="0" marL="0">
              <a:buNone/>
            </a:pPr>
            <a:r>
              <a:rPr lang="en-US" sz="1100" i="1" dirty="0">
                <a:solidFill>
                  <a:schemeClr val="accent6"/>
                </a:solidFill>
              </a:rPr>
              <a:t>Screens show test data</a:t>
            </a:r>
            <a:endParaRPr lang="en-US" sz="1100" dirty="0"/>
          </a:p>
        </p:txBody>
      </p:sp>
      <p:sp>
        <p:nvSpPr>
          <p:cNvPr id="6" name="text-89"/>
          <p:cNvSpPr txBox="1"/>
          <p:nvPr/>
        </p:nvSpPr>
        <p:spPr>
          <a:xfrm>
            <a:off x="8595360" y="1325880"/>
            <a:ext cx="3017520" cy="731520"/>
          </a:xfrm>
          <a:prstGeom prst="rect">
            <a:avLst/>
          </a:prstGeom>
          <a:noFill/>
          <a:ln/>
        </p:spPr>
        <p:txBody>
          <a:bodyPr wrap="square" lIns="0" tIns="0" rIns="0" bIns="0" rtlCol="0" anchor="b"/>
          <a:lstStyle/>
          <a:p>
            <a:pPr indent="0" marL="0">
              <a:buNone/>
            </a:pPr>
            <a:r>
              <a:rPr lang="en-US" sz="5000" b="1" dirty="0">
                <a:solidFill>
                  <a:schemeClr val="accent1"/>
                </a:solidFill>
                <a:latin typeface="Cambria" pitchFamily="34" charset="0"/>
                <a:ea typeface="Cambria" pitchFamily="34" charset="-122"/>
                <a:cs typeface="Cambria" pitchFamily="34" charset="-120"/>
              </a:rPr>
              <a:t>10</a:t>
            </a:r>
            <a:endParaRPr lang="en-US" sz="5000" dirty="0"/>
          </a:p>
        </p:txBody>
      </p:sp>
      <p:sp>
        <p:nvSpPr>
          <p:cNvPr id="7" name="text-90"/>
          <p:cNvSpPr txBox="1"/>
          <p:nvPr/>
        </p:nvSpPr>
        <p:spPr>
          <a:xfrm>
            <a:off x="8595360" y="2103120"/>
            <a:ext cx="3017520" cy="320040"/>
          </a:xfrm>
          <a:prstGeom prst="rect">
            <a:avLst/>
          </a:prstGeom>
          <a:noFill/>
          <a:ln/>
        </p:spPr>
        <p:txBody>
          <a:bodyPr wrap="square" lIns="0" tIns="0" rIns="0" bIns="0" rtlCol="0" anchor="t"/>
          <a:lstStyle/>
          <a:p>
            <a:pPr indent="0" marL="0">
              <a:buNone/>
            </a:pPr>
            <a:r>
              <a:rPr lang="en-US" sz="1500" dirty="0">
                <a:solidFill>
                  <a:schemeClr val="tx1"/>
                </a:solidFill>
              </a:rPr>
              <a:t>students registered</a:t>
            </a:r>
            <a:endParaRPr lang="en-US" sz="1500" dirty="0"/>
          </a:p>
        </p:txBody>
      </p:sp>
      <p:sp>
        <p:nvSpPr>
          <p:cNvPr id="8" name="text-91"/>
          <p:cNvSpPr txBox="1"/>
          <p:nvPr/>
        </p:nvSpPr>
        <p:spPr>
          <a:xfrm>
            <a:off x="8595360" y="2542032"/>
            <a:ext cx="3017520" cy="731520"/>
          </a:xfrm>
          <a:prstGeom prst="rect">
            <a:avLst/>
          </a:prstGeom>
          <a:noFill/>
          <a:ln/>
        </p:spPr>
        <p:txBody>
          <a:bodyPr wrap="square" lIns="0" tIns="0" rIns="0" bIns="0" rtlCol="0" anchor="b"/>
          <a:lstStyle/>
          <a:p>
            <a:pPr indent="0" marL="0">
              <a:buNone/>
            </a:pPr>
            <a:r>
              <a:rPr lang="en-US" sz="5000" b="1" dirty="0">
                <a:solidFill>
                  <a:schemeClr val="accent4"/>
                </a:solidFill>
                <a:latin typeface="Cambria" pitchFamily="34" charset="0"/>
                <a:ea typeface="Cambria" pitchFamily="34" charset="-122"/>
                <a:cs typeface="Cambria" pitchFamily="34" charset="-120"/>
              </a:rPr>
              <a:t>4</a:t>
            </a:r>
            <a:endParaRPr lang="en-US" sz="5000" dirty="0"/>
          </a:p>
        </p:txBody>
      </p:sp>
      <p:sp>
        <p:nvSpPr>
          <p:cNvPr id="9" name="text-92"/>
          <p:cNvSpPr txBox="1"/>
          <p:nvPr/>
        </p:nvSpPr>
        <p:spPr>
          <a:xfrm>
            <a:off x="8595360" y="3319272"/>
            <a:ext cx="3017520" cy="320040"/>
          </a:xfrm>
          <a:prstGeom prst="rect">
            <a:avLst/>
          </a:prstGeom>
          <a:noFill/>
          <a:ln/>
        </p:spPr>
        <p:txBody>
          <a:bodyPr wrap="square" lIns="0" tIns="0" rIns="0" bIns="0" rtlCol="0" anchor="t"/>
          <a:lstStyle/>
          <a:p>
            <a:pPr indent="0" marL="0">
              <a:buNone/>
            </a:pPr>
            <a:r>
              <a:rPr lang="en-US" sz="1500" dirty="0">
                <a:solidFill>
                  <a:schemeClr val="tx1"/>
                </a:solidFill>
              </a:rPr>
              <a:t>students at high risk</a:t>
            </a:r>
            <a:endParaRPr lang="en-US" sz="1500" dirty="0"/>
          </a:p>
        </p:txBody>
      </p:sp>
      <p:sp>
        <p:nvSpPr>
          <p:cNvPr id="10" name="text-93"/>
          <p:cNvSpPr txBox="1"/>
          <p:nvPr/>
        </p:nvSpPr>
        <p:spPr>
          <a:xfrm>
            <a:off x="8595360" y="3758184"/>
            <a:ext cx="3017520" cy="731520"/>
          </a:xfrm>
          <a:prstGeom prst="rect">
            <a:avLst/>
          </a:prstGeom>
          <a:noFill/>
          <a:ln/>
        </p:spPr>
        <p:txBody>
          <a:bodyPr wrap="square" lIns="0" tIns="0" rIns="0" bIns="0" rtlCol="0" anchor="b"/>
          <a:lstStyle/>
          <a:p>
            <a:pPr indent="0" marL="0">
              <a:buNone/>
            </a:pPr>
            <a:r>
              <a:rPr lang="en-US" sz="5000" b="1" dirty="0">
                <a:solidFill>
                  <a:schemeClr val="accent2"/>
                </a:solidFill>
                <a:latin typeface="Cambria" pitchFamily="34" charset="0"/>
                <a:ea typeface="Cambria" pitchFamily="34" charset="-122"/>
                <a:cs typeface="Cambria" pitchFamily="34" charset="-120"/>
              </a:rPr>
              <a:t>6</a:t>
            </a:r>
            <a:endParaRPr lang="en-US" sz="5000" dirty="0"/>
          </a:p>
        </p:txBody>
      </p:sp>
      <p:sp>
        <p:nvSpPr>
          <p:cNvPr id="11" name="text-94"/>
          <p:cNvSpPr txBox="1"/>
          <p:nvPr/>
        </p:nvSpPr>
        <p:spPr>
          <a:xfrm>
            <a:off x="8595360" y="4535424"/>
            <a:ext cx="3017520" cy="320040"/>
          </a:xfrm>
          <a:prstGeom prst="rect">
            <a:avLst/>
          </a:prstGeom>
          <a:noFill/>
          <a:ln/>
        </p:spPr>
        <p:txBody>
          <a:bodyPr wrap="square" lIns="0" tIns="0" rIns="0" bIns="0" rtlCol="0" anchor="t"/>
          <a:lstStyle/>
          <a:p>
            <a:pPr indent="0" marL="0">
              <a:buNone/>
            </a:pPr>
            <a:r>
              <a:rPr lang="en-US" sz="1500" dirty="0">
                <a:solidFill>
                  <a:schemeClr val="tx1"/>
                </a:solidFill>
              </a:rPr>
              <a:t>open alerts</a:t>
            </a:r>
            <a:endParaRPr lang="en-US" sz="1500" dirty="0"/>
          </a:p>
        </p:txBody>
      </p:sp>
      <p:sp>
        <p:nvSpPr>
          <p:cNvPr id="12" name="card-95"/>
          <p:cNvSpPr/>
          <p:nvPr/>
        </p:nvSpPr>
        <p:spPr>
          <a:xfrm>
            <a:off x="548640" y="5166360"/>
            <a:ext cx="11064240" cy="868680"/>
          </a:xfrm>
          <a:prstGeom prst="roundRect">
            <a:avLst>
              <a:gd name="adj" fmla="val 14737"/>
            </a:avLst>
          </a:prstGeom>
          <a:solidFill>
            <a:schemeClr val="bg2"/>
          </a:solidFill>
          <a:ln/>
        </p:spPr>
      </p:sp>
      <p:sp>
        <p:nvSpPr>
          <p:cNvPr id="13" name="icon-circle-96"/>
          <p:cNvSpPr/>
          <p:nvPr/>
        </p:nvSpPr>
        <p:spPr>
          <a:xfrm>
            <a:off x="777240" y="5303520"/>
            <a:ext cx="594360" cy="594360"/>
          </a:xfrm>
          <a:prstGeom prst="ellipse">
            <a:avLst/>
          </a:prstGeom>
          <a:solidFill>
            <a:schemeClr val="accent4"/>
          </a:solidFill>
          <a:ln/>
        </p:spPr>
      </p:sp>
      <p:pic>
        <p:nvPicPr>
          <p:cNvPr id="14" name="icon-97" descr="preencoded.png">    </p:cNvPr>
          <p:cNvPicPr>
            <a:picLocks noChangeAspect="1"/>
          </p:cNvPicPr>
          <p:nvPr/>
        </p:nvPicPr>
        <p:blipFill>
          <a:blip r:embed="rId2"/>
          <a:stretch>
            <a:fillRect/>
          </a:stretch>
        </p:blipFill>
        <p:spPr>
          <a:xfrm>
            <a:off x="919886" y="5446166"/>
            <a:ext cx="309067" cy="309067"/>
          </a:xfrm>
          <a:prstGeom prst="rect">
            <a:avLst/>
          </a:prstGeom>
        </p:spPr>
      </p:pic>
      <p:sp>
        <p:nvSpPr>
          <p:cNvPr id="15" name="text-98"/>
          <p:cNvSpPr txBox="1"/>
          <p:nvPr/>
        </p:nvSpPr>
        <p:spPr>
          <a:xfrm>
            <a:off x="1600200" y="5212080"/>
            <a:ext cx="9784080" cy="777240"/>
          </a:xfrm>
          <a:prstGeom prst="rect">
            <a:avLst/>
          </a:prstGeom>
          <a:noFill/>
          <a:ln/>
        </p:spPr>
        <p:txBody>
          <a:bodyPr wrap="square" lIns="0" tIns="0" rIns="0" bIns="0" rtlCol="0" anchor="ctr"/>
          <a:lstStyle/>
          <a:p>
            <a:pPr indent="0" marL="0">
              <a:buNone/>
            </a:pPr>
            <a:r>
              <a:rPr lang="en-US" sz="1600" b="1" dirty="0">
                <a:solidFill>
                  <a:schemeClr val="tx2"/>
                </a:solidFill>
              </a:rPr>
              <a:t>“Needs your attention” </a:t>
            </a:r>
            <a:pPr indent="0" marL="0">
              <a:buNone/>
            </a:pPr>
            <a:r>
              <a:rPr lang="en-US" sz="1600" dirty="0">
                <a:solidFill>
                  <a:schemeClr val="tx1"/>
                </a:solidFill>
              </a:rPr>
              <a:t>lists the newest urgent items first, such as safety alerts and requests to talk, so nothing important is buried.</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Spot patterns, not just incidents</a:t>
            </a:r>
            <a:endParaRPr lang="en-US" sz="3400" dirty="0"/>
          </a:p>
        </p:txBody>
      </p:sp>
      <p:sp>
        <p:nvSpPr>
          <p:cNvPr id="3" name="screenshot-frame-99"/>
          <p:cNvSpPr/>
          <p:nvPr/>
        </p:nvSpPr>
        <p:spPr>
          <a:xfrm>
            <a:off x="2157984" y="1335024"/>
            <a:ext cx="7845552" cy="3602393"/>
          </a:xfrm>
          <a:prstGeom prst="roundRect">
            <a:avLst>
              <a:gd name="adj" fmla="val 3046"/>
            </a:avLst>
          </a:prstGeom>
          <a:solidFill>
            <a:schemeClr val="bg1"/>
          </a:solidFill>
          <a:ln w="9525">
            <a:solidFill>
              <a:srgbClr val="E2E0F5"/>
            </a:solidFill>
            <a:prstDash val="solid"/>
          </a:ln>
          <a:effectLst>
            <a:outerShdw sx="100000" sy="100000" kx="0" ky="0" algn="bl" rotWithShape="0" blurRad="152400" dist="38100" dir="5400000">
              <a:srgbClr val="1F1B3A">
                <a:alpha val="18000"/>
              </a:srgbClr>
            </a:outerShdw>
          </a:effectLst>
        </p:spPr>
      </p:sp>
      <p:pic>
        <p:nvPicPr>
          <p:cNvPr id="4" name="screenshot-100" descr="Dashboard screenshot">    </p:cNvPr>
          <p:cNvPicPr>
            <a:picLocks noChangeAspect="1"/>
          </p:cNvPicPr>
          <p:nvPr/>
        </p:nvPicPr>
        <p:blipFill>
          <a:blip r:embed="rId1"/>
          <a:stretch>
            <a:fillRect/>
          </a:stretch>
        </p:blipFill>
        <p:spPr>
          <a:xfrm>
            <a:off x="2240280" y="1417320"/>
            <a:ext cx="7680960" cy="3437801"/>
          </a:xfrm>
          <a:prstGeom prst="rect">
            <a:avLst/>
          </a:prstGeom>
        </p:spPr>
      </p:pic>
      <p:sp>
        <p:nvSpPr>
          <p:cNvPr id="5" name="icon-circle-101"/>
          <p:cNvSpPr/>
          <p:nvPr/>
        </p:nvSpPr>
        <p:spPr>
          <a:xfrm>
            <a:off x="548640" y="5074920"/>
            <a:ext cx="566928" cy="566928"/>
          </a:xfrm>
          <a:prstGeom prst="ellipse">
            <a:avLst/>
          </a:prstGeom>
          <a:solidFill>
            <a:schemeClr val="bg2"/>
          </a:solidFill>
          <a:ln/>
        </p:spPr>
      </p:sp>
      <p:pic>
        <p:nvPicPr>
          <p:cNvPr id="6" name="icon-102" descr="preencoded.png">    </p:cNvPr>
          <p:cNvPicPr>
            <a:picLocks noChangeAspect="1"/>
          </p:cNvPicPr>
          <p:nvPr/>
        </p:nvPicPr>
        <p:blipFill>
          <a:blip r:embed="rId2"/>
          <a:stretch>
            <a:fillRect/>
          </a:stretch>
        </p:blipFill>
        <p:spPr>
          <a:xfrm>
            <a:off x="684703" y="5210983"/>
            <a:ext cx="294803" cy="294803"/>
          </a:xfrm>
          <a:prstGeom prst="rect">
            <a:avLst/>
          </a:prstGeom>
        </p:spPr>
      </p:pic>
      <p:sp>
        <p:nvSpPr>
          <p:cNvPr id="7" name="text-103"/>
          <p:cNvSpPr txBox="1"/>
          <p:nvPr/>
        </p:nvSpPr>
        <p:spPr>
          <a:xfrm>
            <a:off x="1280160" y="5029200"/>
            <a:ext cx="2834640" cy="1097280"/>
          </a:xfrm>
          <a:prstGeom prst="rect">
            <a:avLst/>
          </a:prstGeom>
          <a:noFill/>
          <a:ln/>
        </p:spPr>
        <p:txBody>
          <a:bodyPr wrap="square" lIns="0" tIns="0" rIns="0" bIns="0" rtlCol="0" anchor="t"/>
          <a:lstStyle/>
          <a:p>
            <a:pPr indent="0" marL="0">
              <a:buNone/>
            </a:pPr>
            <a:r>
              <a:rPr lang="en-US" sz="1600" b="1" dirty="0">
                <a:solidFill>
                  <a:schemeClr val="tx2"/>
                </a:solidFill>
              </a:rPr>
              <a:t>Recent activity</a:t>
            </a:r>
            <a:endParaRPr lang="en-US" sz="1600" dirty="0"/>
          </a:p>
          <a:p>
            <a:pPr indent="0" marL="0">
              <a:buNone/>
            </a:pPr>
            <a:r>
              <a:rPr lang="en-US" sz="1300" dirty="0">
                <a:solidFill>
                  <a:schemeClr val="tx1"/>
                </a:solidFill>
              </a:rPr>
              <a:t>See what students are doing in the app, such as moods logged or goals missed.</a:t>
            </a:r>
            <a:endParaRPr lang="en-US" sz="1600" dirty="0"/>
          </a:p>
        </p:txBody>
      </p:sp>
      <p:sp>
        <p:nvSpPr>
          <p:cNvPr id="8" name="icon-circle-104"/>
          <p:cNvSpPr/>
          <p:nvPr/>
        </p:nvSpPr>
        <p:spPr>
          <a:xfrm>
            <a:off x="4297680" y="5074920"/>
            <a:ext cx="566928" cy="566928"/>
          </a:xfrm>
          <a:prstGeom prst="ellipse">
            <a:avLst/>
          </a:prstGeom>
          <a:solidFill>
            <a:schemeClr val="bg2"/>
          </a:solidFill>
          <a:ln/>
        </p:spPr>
      </p:sp>
      <p:pic>
        <p:nvPicPr>
          <p:cNvPr id="9" name="icon-105" descr="preencoded.png">    </p:cNvPr>
          <p:cNvPicPr>
            <a:picLocks noChangeAspect="1"/>
          </p:cNvPicPr>
          <p:nvPr/>
        </p:nvPicPr>
        <p:blipFill>
          <a:blip r:embed="rId3"/>
          <a:stretch>
            <a:fillRect/>
          </a:stretch>
        </p:blipFill>
        <p:spPr>
          <a:xfrm>
            <a:off x="4433743" y="5210983"/>
            <a:ext cx="294803" cy="294803"/>
          </a:xfrm>
          <a:prstGeom prst="rect">
            <a:avLst/>
          </a:prstGeom>
        </p:spPr>
      </p:pic>
      <p:sp>
        <p:nvSpPr>
          <p:cNvPr id="10" name="text-106"/>
          <p:cNvSpPr txBox="1"/>
          <p:nvPr/>
        </p:nvSpPr>
        <p:spPr>
          <a:xfrm>
            <a:off x="5029200" y="5029200"/>
            <a:ext cx="2834640" cy="1097280"/>
          </a:xfrm>
          <a:prstGeom prst="rect">
            <a:avLst/>
          </a:prstGeom>
          <a:noFill/>
          <a:ln/>
        </p:spPr>
        <p:txBody>
          <a:bodyPr wrap="square" lIns="0" tIns="0" rIns="0" bIns="0" rtlCol="0" anchor="t"/>
          <a:lstStyle/>
          <a:p>
            <a:pPr indent="0" marL="0">
              <a:buNone/>
            </a:pPr>
            <a:r>
              <a:rPr lang="en-US" sz="1600" b="1" dirty="0">
                <a:solidFill>
                  <a:schemeClr val="tx2"/>
                </a:solidFill>
              </a:rPr>
              <a:t>Weekly trends</a:t>
            </a:r>
            <a:endParaRPr lang="en-US" sz="1600" dirty="0"/>
          </a:p>
          <a:p>
            <a:pPr indent="0" marL="0">
              <a:buNone/>
            </a:pPr>
            <a:r>
              <a:rPr lang="en-US" sz="1300" dirty="0">
                <a:solidFill>
                  <a:schemeClr val="tx1"/>
                </a:solidFill>
              </a:rPr>
              <a:t>A seven-day chart shows whether wellbeing results are improving or slipping.</a:t>
            </a:r>
            <a:endParaRPr lang="en-US" sz="1600" dirty="0"/>
          </a:p>
        </p:txBody>
      </p:sp>
      <p:sp>
        <p:nvSpPr>
          <p:cNvPr id="11" name="icon-circle-107"/>
          <p:cNvSpPr/>
          <p:nvPr/>
        </p:nvSpPr>
        <p:spPr>
          <a:xfrm>
            <a:off x="8046720" y="5074920"/>
            <a:ext cx="566928" cy="566928"/>
          </a:xfrm>
          <a:prstGeom prst="ellipse">
            <a:avLst/>
          </a:prstGeom>
          <a:solidFill>
            <a:schemeClr val="bg2"/>
          </a:solidFill>
          <a:ln/>
        </p:spPr>
      </p:sp>
      <p:pic>
        <p:nvPicPr>
          <p:cNvPr id="12" name="icon-108" descr="preencoded.png">    </p:cNvPr>
          <p:cNvPicPr>
            <a:picLocks noChangeAspect="1"/>
          </p:cNvPicPr>
          <p:nvPr/>
        </p:nvPicPr>
        <p:blipFill>
          <a:blip r:embed="rId4"/>
          <a:stretch>
            <a:fillRect/>
          </a:stretch>
        </p:blipFill>
        <p:spPr>
          <a:xfrm>
            <a:off x="8182783" y="5210983"/>
            <a:ext cx="294803" cy="294803"/>
          </a:xfrm>
          <a:prstGeom prst="rect">
            <a:avLst/>
          </a:prstGeom>
        </p:spPr>
      </p:pic>
      <p:sp>
        <p:nvSpPr>
          <p:cNvPr id="13" name="text-109"/>
          <p:cNvSpPr txBox="1"/>
          <p:nvPr/>
        </p:nvSpPr>
        <p:spPr>
          <a:xfrm>
            <a:off x="8778240" y="5029200"/>
            <a:ext cx="2834640" cy="1097280"/>
          </a:xfrm>
          <a:prstGeom prst="rect">
            <a:avLst/>
          </a:prstGeom>
          <a:noFill/>
          <a:ln/>
        </p:spPr>
        <p:txBody>
          <a:bodyPr wrap="square" lIns="0" tIns="0" rIns="0" bIns="0" rtlCol="0" anchor="t"/>
          <a:lstStyle/>
          <a:p>
            <a:pPr indent="0" marL="0">
              <a:buNone/>
            </a:pPr>
            <a:r>
              <a:rPr lang="en-US" sz="1600" b="1" dirty="0">
                <a:solidFill>
                  <a:schemeClr val="tx2"/>
                </a:solidFill>
              </a:rPr>
              <a:t>Today’s sessions</a:t>
            </a:r>
            <a:endParaRPr lang="en-US" sz="1600" dirty="0"/>
          </a:p>
          <a:p>
            <a:pPr indent="0" marL="0">
              <a:buNone/>
            </a:pPr>
            <a:r>
              <a:rPr lang="en-US" sz="1300" dirty="0">
                <a:solidFill>
                  <a:schemeClr val="tx1"/>
                </a:solidFill>
              </a:rPr>
              <a:t>How many appointments are booked for today.</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Every student in one directory</a:t>
            </a:r>
            <a:endParaRPr lang="en-US" sz="3400" dirty="0"/>
          </a:p>
        </p:txBody>
      </p:sp>
      <p:sp>
        <p:nvSpPr>
          <p:cNvPr id="3" name="icon-circle-110"/>
          <p:cNvSpPr/>
          <p:nvPr/>
        </p:nvSpPr>
        <p:spPr>
          <a:xfrm>
            <a:off x="548640" y="1508760"/>
            <a:ext cx="566928" cy="566928"/>
          </a:xfrm>
          <a:prstGeom prst="ellipse">
            <a:avLst/>
          </a:prstGeom>
          <a:solidFill>
            <a:schemeClr val="bg2"/>
          </a:solidFill>
          <a:ln/>
        </p:spPr>
      </p:sp>
      <p:pic>
        <p:nvPicPr>
          <p:cNvPr id="4" name="icon-111" descr="preencoded.png">    </p:cNvPr>
          <p:cNvPicPr>
            <a:picLocks noChangeAspect="1"/>
          </p:cNvPicPr>
          <p:nvPr/>
        </p:nvPicPr>
        <p:blipFill>
          <a:blip r:embed="rId1"/>
          <a:stretch>
            <a:fillRect/>
          </a:stretch>
        </p:blipFill>
        <p:spPr>
          <a:xfrm>
            <a:off x="684703" y="1644823"/>
            <a:ext cx="294803" cy="294803"/>
          </a:xfrm>
          <a:prstGeom prst="rect">
            <a:avLst/>
          </a:prstGeom>
        </p:spPr>
      </p:pic>
      <p:sp>
        <p:nvSpPr>
          <p:cNvPr id="5" name="text-112"/>
          <p:cNvSpPr txBox="1"/>
          <p:nvPr/>
        </p:nvSpPr>
        <p:spPr>
          <a:xfrm>
            <a:off x="1344168" y="1490472"/>
            <a:ext cx="3410712" cy="960120"/>
          </a:xfrm>
          <a:prstGeom prst="rect">
            <a:avLst/>
          </a:prstGeom>
          <a:noFill/>
          <a:ln/>
        </p:spPr>
        <p:txBody>
          <a:bodyPr wrap="square" lIns="0" tIns="0" rIns="0" bIns="0" rtlCol="0" anchor="t"/>
          <a:lstStyle/>
          <a:p>
            <a:pPr indent="0" marL="0">
              <a:buNone/>
            </a:pPr>
            <a:r>
              <a:rPr lang="en-US" sz="1700" b="1" dirty="0">
                <a:solidFill>
                  <a:schemeClr val="tx2"/>
                </a:solidFill>
              </a:rPr>
              <a:t>Find anyone fast</a:t>
            </a:r>
            <a:endParaRPr lang="en-US" sz="1600" dirty="0"/>
          </a:p>
          <a:p>
            <a:pPr indent="0" marL="0">
              <a:buNone/>
            </a:pPr>
            <a:r>
              <a:rPr lang="en-US" sz="1400" dirty="0">
                <a:solidFill>
                  <a:schemeClr val="tx1"/>
                </a:solidFill>
              </a:rPr>
              <a:t>Search by name or mobile number.</a:t>
            </a:r>
            <a:endParaRPr lang="en-US" sz="1600" dirty="0"/>
          </a:p>
        </p:txBody>
      </p:sp>
      <p:sp>
        <p:nvSpPr>
          <p:cNvPr id="6" name="icon-circle-113"/>
          <p:cNvSpPr/>
          <p:nvPr/>
        </p:nvSpPr>
        <p:spPr>
          <a:xfrm>
            <a:off x="548640" y="2560320"/>
            <a:ext cx="566928" cy="566928"/>
          </a:xfrm>
          <a:prstGeom prst="ellipse">
            <a:avLst/>
          </a:prstGeom>
          <a:solidFill>
            <a:schemeClr val="bg2"/>
          </a:solidFill>
          <a:ln/>
        </p:spPr>
      </p:sp>
      <p:pic>
        <p:nvPicPr>
          <p:cNvPr id="7" name="icon-114" descr="preencoded.png">    </p:cNvPr>
          <p:cNvPicPr>
            <a:picLocks noChangeAspect="1"/>
          </p:cNvPicPr>
          <p:nvPr/>
        </p:nvPicPr>
        <p:blipFill>
          <a:blip r:embed="rId2"/>
          <a:stretch>
            <a:fillRect/>
          </a:stretch>
        </p:blipFill>
        <p:spPr>
          <a:xfrm>
            <a:off x="684703" y="2696383"/>
            <a:ext cx="294803" cy="294803"/>
          </a:xfrm>
          <a:prstGeom prst="rect">
            <a:avLst/>
          </a:prstGeom>
        </p:spPr>
      </p:pic>
      <p:sp>
        <p:nvSpPr>
          <p:cNvPr id="8" name="text-115"/>
          <p:cNvSpPr txBox="1"/>
          <p:nvPr/>
        </p:nvSpPr>
        <p:spPr>
          <a:xfrm>
            <a:off x="1344168" y="2542032"/>
            <a:ext cx="3410712" cy="960120"/>
          </a:xfrm>
          <a:prstGeom prst="rect">
            <a:avLst/>
          </a:prstGeom>
          <a:noFill/>
          <a:ln/>
        </p:spPr>
        <p:txBody>
          <a:bodyPr wrap="square" lIns="0" tIns="0" rIns="0" bIns="0" rtlCol="0" anchor="t"/>
          <a:lstStyle/>
          <a:p>
            <a:pPr indent="0" marL="0">
              <a:buNone/>
            </a:pPr>
            <a:r>
              <a:rPr lang="en-US" sz="1700" b="1" dirty="0">
                <a:solidFill>
                  <a:schemeClr val="tx2"/>
                </a:solidFill>
              </a:rPr>
              <a:t>Open the full picture</a:t>
            </a:r>
            <a:endParaRPr lang="en-US" sz="1600" dirty="0"/>
          </a:p>
          <a:p>
            <a:pPr indent="0" marL="0">
              <a:buNone/>
            </a:pPr>
            <a:r>
              <a:rPr lang="en-US" sz="1400" dirty="0">
                <a:solidFill>
                  <a:schemeClr val="tx1"/>
                </a:solidFill>
              </a:rPr>
              <a:t>View a student’s profile and history.</a:t>
            </a:r>
            <a:endParaRPr lang="en-US" sz="1600" dirty="0"/>
          </a:p>
        </p:txBody>
      </p:sp>
      <p:sp>
        <p:nvSpPr>
          <p:cNvPr id="9" name="icon-circle-116"/>
          <p:cNvSpPr/>
          <p:nvPr/>
        </p:nvSpPr>
        <p:spPr>
          <a:xfrm>
            <a:off x="548640" y="3611880"/>
            <a:ext cx="566928" cy="566928"/>
          </a:xfrm>
          <a:prstGeom prst="ellipse">
            <a:avLst/>
          </a:prstGeom>
          <a:solidFill>
            <a:schemeClr val="bg2"/>
          </a:solidFill>
          <a:ln/>
        </p:spPr>
      </p:sp>
      <p:pic>
        <p:nvPicPr>
          <p:cNvPr id="10" name="icon-117" descr="preencoded.png">    </p:cNvPr>
          <p:cNvPicPr>
            <a:picLocks noChangeAspect="1"/>
          </p:cNvPicPr>
          <p:nvPr/>
        </p:nvPicPr>
        <p:blipFill>
          <a:blip r:embed="rId3"/>
          <a:stretch>
            <a:fillRect/>
          </a:stretch>
        </p:blipFill>
        <p:spPr>
          <a:xfrm>
            <a:off x="684703" y="3747943"/>
            <a:ext cx="294803" cy="294803"/>
          </a:xfrm>
          <a:prstGeom prst="rect">
            <a:avLst/>
          </a:prstGeom>
        </p:spPr>
      </p:pic>
      <p:sp>
        <p:nvSpPr>
          <p:cNvPr id="11" name="text-118"/>
          <p:cNvSpPr txBox="1"/>
          <p:nvPr/>
        </p:nvSpPr>
        <p:spPr>
          <a:xfrm>
            <a:off x="1344168" y="3593592"/>
            <a:ext cx="3410712" cy="960120"/>
          </a:xfrm>
          <a:prstGeom prst="rect">
            <a:avLst/>
          </a:prstGeom>
          <a:noFill/>
          <a:ln/>
        </p:spPr>
        <p:txBody>
          <a:bodyPr wrap="square" lIns="0" tIns="0" rIns="0" bIns="0" rtlCol="0" anchor="t"/>
          <a:lstStyle/>
          <a:p>
            <a:pPr indent="0" marL="0">
              <a:buNone/>
            </a:pPr>
            <a:r>
              <a:rPr lang="en-US" sz="1700" b="1" dirty="0">
                <a:solidFill>
                  <a:schemeClr val="tx2"/>
                </a:solidFill>
              </a:rPr>
              <a:t>Manage accounts</a:t>
            </a:r>
            <a:endParaRPr lang="en-US" sz="1600" dirty="0"/>
          </a:p>
          <a:p>
            <a:pPr indent="0" marL="0">
              <a:buNone/>
            </a:pPr>
            <a:r>
              <a:rPr lang="en-US" sz="1400" dirty="0">
                <a:solidFill>
                  <a:schemeClr val="tx1"/>
                </a:solidFill>
              </a:rPr>
              <a:t>Edit details or reset a forgotten password.</a:t>
            </a:r>
            <a:endParaRPr lang="en-US" sz="1600" dirty="0"/>
          </a:p>
        </p:txBody>
      </p:sp>
      <p:sp>
        <p:nvSpPr>
          <p:cNvPr id="12" name="icon-circle-119"/>
          <p:cNvSpPr/>
          <p:nvPr/>
        </p:nvSpPr>
        <p:spPr>
          <a:xfrm>
            <a:off x="548640" y="4663440"/>
            <a:ext cx="566928" cy="566928"/>
          </a:xfrm>
          <a:prstGeom prst="ellipse">
            <a:avLst/>
          </a:prstGeom>
          <a:solidFill>
            <a:schemeClr val="bg2"/>
          </a:solidFill>
          <a:ln/>
        </p:spPr>
      </p:sp>
      <p:pic>
        <p:nvPicPr>
          <p:cNvPr id="13" name="icon-120" descr="preencoded.png">    </p:cNvPr>
          <p:cNvPicPr>
            <a:picLocks noChangeAspect="1"/>
          </p:cNvPicPr>
          <p:nvPr/>
        </p:nvPicPr>
        <p:blipFill>
          <a:blip r:embed="rId4"/>
          <a:stretch>
            <a:fillRect/>
          </a:stretch>
        </p:blipFill>
        <p:spPr>
          <a:xfrm>
            <a:off x="684703" y="4799503"/>
            <a:ext cx="294803" cy="294803"/>
          </a:xfrm>
          <a:prstGeom prst="rect">
            <a:avLst/>
          </a:prstGeom>
        </p:spPr>
      </p:pic>
      <p:sp>
        <p:nvSpPr>
          <p:cNvPr id="14" name="text-121"/>
          <p:cNvSpPr txBox="1"/>
          <p:nvPr/>
        </p:nvSpPr>
        <p:spPr>
          <a:xfrm>
            <a:off x="1344168" y="4645152"/>
            <a:ext cx="3410712" cy="960120"/>
          </a:xfrm>
          <a:prstGeom prst="rect">
            <a:avLst/>
          </a:prstGeom>
          <a:noFill/>
          <a:ln/>
        </p:spPr>
        <p:txBody>
          <a:bodyPr wrap="square" lIns="0" tIns="0" rIns="0" bIns="0" rtlCol="0" anchor="t"/>
          <a:lstStyle/>
          <a:p>
            <a:pPr indent="0" marL="0">
              <a:buNone/>
            </a:pPr>
            <a:r>
              <a:rPr lang="en-US" sz="1700" b="1" dirty="0">
                <a:solidFill>
                  <a:schemeClr val="tx2"/>
                </a:solidFill>
              </a:rPr>
              <a:t>Assign and add</a:t>
            </a:r>
            <a:endParaRPr lang="en-US" sz="1600" dirty="0"/>
          </a:p>
          <a:p>
            <a:pPr indent="0" marL="0">
              <a:buNone/>
            </a:pPr>
            <a:r>
              <a:rPr lang="en-US" sz="1400" dirty="0">
                <a:solidFill>
                  <a:schemeClr val="tx1"/>
                </a:solidFill>
              </a:rPr>
              <a:t>Assign a counsellor or register a new student.</a:t>
            </a:r>
            <a:endParaRPr lang="en-US" sz="1600" dirty="0"/>
          </a:p>
        </p:txBody>
      </p:sp>
      <p:sp>
        <p:nvSpPr>
          <p:cNvPr id="15" name="screenshot-frame-122"/>
          <p:cNvSpPr/>
          <p:nvPr/>
        </p:nvSpPr>
        <p:spPr>
          <a:xfrm>
            <a:off x="4855464" y="1517904"/>
            <a:ext cx="6839712" cy="3183543"/>
          </a:xfrm>
          <a:prstGeom prst="roundRect">
            <a:avLst>
              <a:gd name="adj" fmla="val 3447"/>
            </a:avLst>
          </a:prstGeom>
          <a:solidFill>
            <a:schemeClr val="bg1"/>
          </a:solidFill>
          <a:ln w="9525">
            <a:solidFill>
              <a:srgbClr val="E2E0F5"/>
            </a:solidFill>
            <a:prstDash val="solid"/>
          </a:ln>
          <a:effectLst>
            <a:outerShdw sx="100000" sy="100000" kx="0" ky="0" algn="bl" rotWithShape="0" blurRad="152400" dist="38100" dir="5400000">
              <a:srgbClr val="1F1B3A">
                <a:alpha val="18000"/>
              </a:srgbClr>
            </a:outerShdw>
          </a:effectLst>
        </p:spPr>
      </p:sp>
      <p:pic>
        <p:nvPicPr>
          <p:cNvPr id="16" name="screenshot-123" descr="Dashboard screenshot">    </p:cNvPr>
          <p:cNvPicPr>
            <a:picLocks noChangeAspect="1"/>
          </p:cNvPicPr>
          <p:nvPr/>
        </p:nvPicPr>
        <p:blipFill>
          <a:blip r:embed="rId5"/>
          <a:stretch>
            <a:fillRect/>
          </a:stretch>
        </p:blipFill>
        <p:spPr>
          <a:xfrm>
            <a:off x="4937760" y="1600200"/>
            <a:ext cx="6675120" cy="3018951"/>
          </a:xfrm>
          <a:prstGeom prst="rect">
            <a:avLst/>
          </a:prstGeom>
        </p:spPr>
      </p:pic>
      <p:sp>
        <p:nvSpPr>
          <p:cNvPr id="17" name="text-124"/>
          <p:cNvSpPr txBox="1"/>
          <p:nvPr/>
        </p:nvSpPr>
        <p:spPr>
          <a:xfrm>
            <a:off x="4937760" y="4802031"/>
            <a:ext cx="6675120" cy="274320"/>
          </a:xfrm>
          <a:prstGeom prst="rect">
            <a:avLst/>
          </a:prstGeom>
          <a:noFill/>
          <a:ln/>
        </p:spPr>
        <p:txBody>
          <a:bodyPr wrap="square" lIns="0" tIns="0" rIns="0" bIns="0" rtlCol="0" anchor="t"/>
          <a:lstStyle/>
          <a:p>
            <a:pPr indent="0" marL="0">
              <a:buNone/>
            </a:pPr>
            <a:r>
              <a:rPr lang="en-US" sz="1100" i="1" dirty="0">
                <a:solidFill>
                  <a:schemeClr val="accent6"/>
                </a:solidFill>
              </a:rPr>
              <a:t>Screens show test data</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Safety alerts are raised automatically</a:t>
            </a:r>
            <a:endParaRPr lang="en-US" sz="3400" dirty="0"/>
          </a:p>
        </p:txBody>
      </p:sp>
      <p:sp>
        <p:nvSpPr>
          <p:cNvPr id="3" name="text-125"/>
          <p:cNvSpPr txBox="1"/>
          <p:nvPr/>
        </p:nvSpPr>
        <p:spPr>
          <a:xfrm>
            <a:off x="548640" y="1280160"/>
            <a:ext cx="11064240" cy="548640"/>
          </a:xfrm>
          <a:prstGeom prst="rect">
            <a:avLst/>
          </a:prstGeom>
          <a:noFill/>
          <a:ln/>
        </p:spPr>
        <p:txBody>
          <a:bodyPr wrap="square" lIns="0" tIns="0" rIns="0" bIns="0" rtlCol="0" anchor="t"/>
          <a:lstStyle/>
          <a:p>
            <a:pPr indent="0" marL="0">
              <a:buNone/>
            </a:pPr>
            <a:r>
              <a:rPr lang="en-US" sz="1700" dirty="0">
                <a:solidFill>
                  <a:schemeClr val="tx2"/>
                </a:solidFill>
              </a:rPr>
              <a:t>When a student’s answers suggest they may be at risk, or their wellbeing gets worse, an alert appears straight away.</a:t>
            </a:r>
            <a:endParaRPr lang="en-US" sz="1700" dirty="0"/>
          </a:p>
        </p:txBody>
      </p:sp>
      <p:sp>
        <p:nvSpPr>
          <p:cNvPr id="4" name="card-126"/>
          <p:cNvSpPr/>
          <p:nvPr/>
        </p:nvSpPr>
        <p:spPr>
          <a:xfrm>
            <a:off x="548640" y="2057400"/>
            <a:ext cx="3291840" cy="1143000"/>
          </a:xfrm>
          <a:prstGeom prst="roundRect">
            <a:avLst>
              <a:gd name="adj" fmla="val 11200"/>
            </a:avLst>
          </a:prstGeom>
          <a:solidFill>
            <a:schemeClr val="bg2"/>
          </a:solidFill>
          <a:ln/>
        </p:spPr>
      </p:sp>
      <p:sp>
        <p:nvSpPr>
          <p:cNvPr id="5" name="text-127"/>
          <p:cNvSpPr txBox="1"/>
          <p:nvPr/>
        </p:nvSpPr>
        <p:spPr>
          <a:xfrm>
            <a:off x="777240" y="2167128"/>
            <a:ext cx="914400" cy="914400"/>
          </a:xfrm>
          <a:prstGeom prst="rect">
            <a:avLst/>
          </a:prstGeom>
          <a:noFill/>
          <a:ln/>
        </p:spPr>
        <p:txBody>
          <a:bodyPr wrap="square" lIns="0" tIns="0" rIns="0" bIns="0" rtlCol="0" anchor="ctr"/>
          <a:lstStyle/>
          <a:p>
            <a:pPr indent="0" marL="0">
              <a:buNone/>
            </a:pPr>
            <a:r>
              <a:rPr lang="en-US" sz="4800" b="1" dirty="0">
                <a:solidFill>
                  <a:schemeClr val="accent4"/>
                </a:solidFill>
                <a:latin typeface="Cambria" pitchFamily="34" charset="0"/>
                <a:ea typeface="Cambria" pitchFamily="34" charset="-122"/>
                <a:cs typeface="Cambria" pitchFamily="34" charset="-120"/>
              </a:rPr>
              <a:t>4</a:t>
            </a:r>
            <a:endParaRPr lang="en-US" sz="4800" dirty="0"/>
          </a:p>
        </p:txBody>
      </p:sp>
      <p:sp>
        <p:nvSpPr>
          <p:cNvPr id="6" name="text-128"/>
          <p:cNvSpPr txBox="1"/>
          <p:nvPr/>
        </p:nvSpPr>
        <p:spPr>
          <a:xfrm>
            <a:off x="1783080" y="2304288"/>
            <a:ext cx="1965960" cy="731520"/>
          </a:xfrm>
          <a:prstGeom prst="rect">
            <a:avLst/>
          </a:prstGeom>
          <a:noFill/>
          <a:ln/>
        </p:spPr>
        <p:txBody>
          <a:bodyPr wrap="square" lIns="0" tIns="0" rIns="0" bIns="0" rtlCol="0" anchor="t"/>
          <a:lstStyle/>
          <a:p>
            <a:pPr indent="0" marL="0">
              <a:buNone/>
            </a:pPr>
            <a:r>
              <a:rPr lang="en-US" sz="1700" b="1" dirty="0">
                <a:solidFill>
                  <a:schemeClr val="tx2"/>
                </a:solidFill>
              </a:rPr>
              <a:t>Suicide risk</a:t>
            </a:r>
            <a:endParaRPr lang="en-US" sz="1600" dirty="0"/>
          </a:p>
          <a:p>
            <a:pPr indent="0" marL="0">
              <a:buNone/>
            </a:pPr>
            <a:r>
              <a:rPr lang="en-US" sz="1400" dirty="0">
                <a:solidFill>
                  <a:schemeClr val="tx1"/>
                </a:solidFill>
              </a:rPr>
              <a:t>High priority</a:t>
            </a:r>
            <a:endParaRPr lang="en-US" sz="1600" dirty="0"/>
          </a:p>
        </p:txBody>
      </p:sp>
      <p:sp>
        <p:nvSpPr>
          <p:cNvPr id="7" name="card-129"/>
          <p:cNvSpPr/>
          <p:nvPr/>
        </p:nvSpPr>
        <p:spPr>
          <a:xfrm>
            <a:off x="548640" y="3383280"/>
            <a:ext cx="3291840" cy="1143000"/>
          </a:xfrm>
          <a:prstGeom prst="roundRect">
            <a:avLst>
              <a:gd name="adj" fmla="val 11200"/>
            </a:avLst>
          </a:prstGeom>
          <a:solidFill>
            <a:schemeClr val="bg2"/>
          </a:solidFill>
          <a:ln/>
        </p:spPr>
      </p:sp>
      <p:sp>
        <p:nvSpPr>
          <p:cNvPr id="8" name="text-130"/>
          <p:cNvSpPr txBox="1"/>
          <p:nvPr/>
        </p:nvSpPr>
        <p:spPr>
          <a:xfrm>
            <a:off x="777240" y="3493008"/>
            <a:ext cx="914400" cy="914400"/>
          </a:xfrm>
          <a:prstGeom prst="rect">
            <a:avLst/>
          </a:prstGeom>
          <a:noFill/>
          <a:ln/>
        </p:spPr>
        <p:txBody>
          <a:bodyPr wrap="square" lIns="0" tIns="0" rIns="0" bIns="0" rtlCol="0" anchor="ctr"/>
          <a:lstStyle/>
          <a:p>
            <a:pPr indent="0" marL="0">
              <a:buNone/>
            </a:pPr>
            <a:r>
              <a:rPr lang="en-US" sz="4800" b="1" dirty="0">
                <a:solidFill>
                  <a:schemeClr val="accent2"/>
                </a:solidFill>
                <a:latin typeface="Cambria" pitchFamily="34" charset="0"/>
                <a:ea typeface="Cambria" pitchFamily="34" charset="-122"/>
                <a:cs typeface="Cambria" pitchFamily="34" charset="-120"/>
              </a:rPr>
              <a:t>0</a:t>
            </a:r>
            <a:endParaRPr lang="en-US" sz="4800" dirty="0"/>
          </a:p>
        </p:txBody>
      </p:sp>
      <p:sp>
        <p:nvSpPr>
          <p:cNvPr id="9" name="text-131"/>
          <p:cNvSpPr txBox="1"/>
          <p:nvPr/>
        </p:nvSpPr>
        <p:spPr>
          <a:xfrm>
            <a:off x="1783080" y="3630168"/>
            <a:ext cx="1965960" cy="731520"/>
          </a:xfrm>
          <a:prstGeom prst="rect">
            <a:avLst/>
          </a:prstGeom>
          <a:noFill/>
          <a:ln/>
        </p:spPr>
        <p:txBody>
          <a:bodyPr wrap="square" lIns="0" tIns="0" rIns="0" bIns="0" rtlCol="0" anchor="t"/>
          <a:lstStyle/>
          <a:p>
            <a:pPr indent="0" marL="0">
              <a:buNone/>
            </a:pPr>
            <a:r>
              <a:rPr lang="en-US" sz="1700" b="1" dirty="0">
                <a:solidFill>
                  <a:schemeClr val="tx2"/>
                </a:solidFill>
              </a:rPr>
              <a:t>Psychosis risk</a:t>
            </a:r>
            <a:endParaRPr lang="en-US" sz="1600" dirty="0"/>
          </a:p>
          <a:p>
            <a:pPr indent="0" marL="0">
              <a:buNone/>
            </a:pPr>
            <a:r>
              <a:rPr lang="en-US" sz="1400" dirty="0">
                <a:solidFill>
                  <a:schemeClr val="tx1"/>
                </a:solidFill>
              </a:rPr>
              <a:t>Medium priority</a:t>
            </a:r>
            <a:endParaRPr lang="en-US" sz="1600" dirty="0"/>
          </a:p>
        </p:txBody>
      </p:sp>
      <p:sp>
        <p:nvSpPr>
          <p:cNvPr id="10" name="card-132"/>
          <p:cNvSpPr/>
          <p:nvPr/>
        </p:nvSpPr>
        <p:spPr>
          <a:xfrm>
            <a:off x="548640" y="4709160"/>
            <a:ext cx="3291840" cy="1143000"/>
          </a:xfrm>
          <a:prstGeom prst="roundRect">
            <a:avLst>
              <a:gd name="adj" fmla="val 11200"/>
            </a:avLst>
          </a:prstGeom>
          <a:solidFill>
            <a:schemeClr val="bg2"/>
          </a:solidFill>
          <a:ln/>
        </p:spPr>
      </p:sp>
      <p:sp>
        <p:nvSpPr>
          <p:cNvPr id="11" name="text-133"/>
          <p:cNvSpPr txBox="1"/>
          <p:nvPr/>
        </p:nvSpPr>
        <p:spPr>
          <a:xfrm>
            <a:off x="777240" y="4818888"/>
            <a:ext cx="914400" cy="914400"/>
          </a:xfrm>
          <a:prstGeom prst="rect">
            <a:avLst/>
          </a:prstGeom>
          <a:noFill/>
          <a:ln/>
        </p:spPr>
        <p:txBody>
          <a:bodyPr wrap="square" lIns="0" tIns="0" rIns="0" bIns="0" rtlCol="0" anchor="ctr"/>
          <a:lstStyle/>
          <a:p>
            <a:pPr indent="0" marL="0">
              <a:buNone/>
            </a:pPr>
            <a:r>
              <a:rPr lang="en-US" sz="4800" b="1" dirty="0">
                <a:solidFill>
                  <a:schemeClr val="accent5"/>
                </a:solidFill>
                <a:latin typeface="Cambria" pitchFamily="34" charset="0"/>
                <a:ea typeface="Cambria" pitchFamily="34" charset="-122"/>
                <a:cs typeface="Cambria" pitchFamily="34" charset="-120"/>
              </a:rPr>
              <a:t>2</a:t>
            </a:r>
            <a:endParaRPr lang="en-US" sz="4800" dirty="0"/>
          </a:p>
        </p:txBody>
      </p:sp>
      <p:sp>
        <p:nvSpPr>
          <p:cNvPr id="12" name="text-134"/>
          <p:cNvSpPr txBox="1"/>
          <p:nvPr/>
        </p:nvSpPr>
        <p:spPr>
          <a:xfrm>
            <a:off x="1783080" y="4956048"/>
            <a:ext cx="1965960" cy="731520"/>
          </a:xfrm>
          <a:prstGeom prst="rect">
            <a:avLst/>
          </a:prstGeom>
          <a:noFill/>
          <a:ln/>
        </p:spPr>
        <p:txBody>
          <a:bodyPr wrap="square" lIns="0" tIns="0" rIns="0" bIns="0" rtlCol="0" anchor="t"/>
          <a:lstStyle/>
          <a:p>
            <a:pPr indent="0" marL="0">
              <a:buNone/>
            </a:pPr>
            <a:r>
              <a:rPr lang="en-US" sz="1700" b="1" dirty="0">
                <a:solidFill>
                  <a:schemeClr val="tx2"/>
                </a:solidFill>
              </a:rPr>
              <a:t>Getting worse</a:t>
            </a:r>
            <a:endParaRPr lang="en-US" sz="1600" dirty="0"/>
          </a:p>
          <a:p>
            <a:pPr indent="0" marL="0">
              <a:buNone/>
            </a:pPr>
            <a:r>
              <a:rPr lang="en-US" sz="1400" dirty="0">
                <a:solidFill>
                  <a:schemeClr val="tx1"/>
                </a:solidFill>
              </a:rPr>
              <a:t>Care watch</a:t>
            </a:r>
            <a:endParaRPr lang="en-US" sz="1600" dirty="0"/>
          </a:p>
        </p:txBody>
      </p:sp>
      <p:sp>
        <p:nvSpPr>
          <p:cNvPr id="13" name="screenshot-frame-135"/>
          <p:cNvSpPr/>
          <p:nvPr/>
        </p:nvSpPr>
        <p:spPr>
          <a:xfrm>
            <a:off x="4261104" y="2020824"/>
            <a:ext cx="7434072" cy="3419923"/>
          </a:xfrm>
          <a:prstGeom prst="roundRect">
            <a:avLst>
              <a:gd name="adj" fmla="val 3208"/>
            </a:avLst>
          </a:prstGeom>
          <a:solidFill>
            <a:schemeClr val="bg1"/>
          </a:solidFill>
          <a:ln w="9525">
            <a:solidFill>
              <a:srgbClr val="E2E0F5"/>
            </a:solidFill>
            <a:prstDash val="solid"/>
          </a:ln>
          <a:effectLst>
            <a:outerShdw sx="100000" sy="100000" kx="0" ky="0" algn="bl" rotWithShape="0" blurRad="152400" dist="38100" dir="5400000">
              <a:srgbClr val="1F1B3A">
                <a:alpha val="18000"/>
              </a:srgbClr>
            </a:outerShdw>
          </a:effectLst>
        </p:spPr>
      </p:sp>
      <p:pic>
        <p:nvPicPr>
          <p:cNvPr id="14" name="screenshot-136" descr="Dashboard screenshot">    </p:cNvPr>
          <p:cNvPicPr>
            <a:picLocks noChangeAspect="1"/>
          </p:cNvPicPr>
          <p:nvPr/>
        </p:nvPicPr>
        <p:blipFill>
          <a:blip r:embed="rId1"/>
          <a:stretch>
            <a:fillRect/>
          </a:stretch>
        </p:blipFill>
        <p:spPr>
          <a:xfrm>
            <a:off x="4343400" y="2103120"/>
            <a:ext cx="7269480" cy="3255331"/>
          </a:xfrm>
          <a:prstGeom prst="rect">
            <a:avLst/>
          </a:prstGeom>
        </p:spPr>
      </p:pic>
      <p:sp>
        <p:nvSpPr>
          <p:cNvPr id="15" name="text-137"/>
          <p:cNvSpPr txBox="1"/>
          <p:nvPr/>
        </p:nvSpPr>
        <p:spPr>
          <a:xfrm>
            <a:off x="4343400" y="5541331"/>
            <a:ext cx="7269480" cy="274320"/>
          </a:xfrm>
          <a:prstGeom prst="rect">
            <a:avLst/>
          </a:prstGeom>
          <a:noFill/>
          <a:ln/>
        </p:spPr>
        <p:txBody>
          <a:bodyPr wrap="square" lIns="0" tIns="0" rIns="0" bIns="0" rtlCol="0" anchor="t"/>
          <a:lstStyle/>
          <a:p>
            <a:pPr indent="0" marL="0">
              <a:buNone/>
            </a:pPr>
            <a:r>
              <a:rPr lang="en-US" sz="1100" i="1" dirty="0">
                <a:solidFill>
                  <a:schemeClr val="accent6"/>
                </a:solidFill>
              </a:rPr>
              <a:t>Filter by Active, Escalated or Resolved · Screens show test data</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Technology flags it, the counsellor decides</a:t>
            </a:r>
            <a:endParaRPr lang="en-US" sz="3400" dirty="0"/>
          </a:p>
        </p:txBody>
      </p:sp>
      <p:sp>
        <p:nvSpPr>
          <p:cNvPr id="3" name="screenshot-frame-138"/>
          <p:cNvSpPr/>
          <p:nvPr/>
        </p:nvSpPr>
        <p:spPr>
          <a:xfrm>
            <a:off x="694944" y="1426464"/>
            <a:ext cx="4599432" cy="4495001"/>
          </a:xfrm>
          <a:prstGeom prst="roundRect">
            <a:avLst>
              <a:gd name="adj" fmla="val 2441"/>
            </a:avLst>
          </a:prstGeom>
          <a:solidFill>
            <a:schemeClr val="bg1"/>
          </a:solidFill>
          <a:ln w="9525">
            <a:solidFill>
              <a:srgbClr val="E2E0F5"/>
            </a:solidFill>
            <a:prstDash val="solid"/>
          </a:ln>
          <a:effectLst>
            <a:outerShdw sx="100000" sy="100000" kx="0" ky="0" algn="bl" rotWithShape="0" blurRad="152400" dist="38100" dir="5400000">
              <a:srgbClr val="1F1B3A">
                <a:alpha val="18000"/>
              </a:srgbClr>
            </a:outerShdw>
          </a:effectLst>
        </p:spPr>
      </p:sp>
      <p:pic>
        <p:nvPicPr>
          <p:cNvPr id="4" name="screenshot-139" descr="Dashboard screenshot">    </p:cNvPr>
          <p:cNvPicPr>
            <a:picLocks noChangeAspect="1"/>
          </p:cNvPicPr>
          <p:nvPr/>
        </p:nvPicPr>
        <p:blipFill>
          <a:blip r:embed="rId1"/>
          <a:stretch>
            <a:fillRect/>
          </a:stretch>
        </p:blipFill>
        <p:spPr>
          <a:xfrm>
            <a:off x="777240" y="1508760"/>
            <a:ext cx="4434840" cy="4330409"/>
          </a:xfrm>
          <a:prstGeom prst="rect">
            <a:avLst/>
          </a:prstGeom>
        </p:spPr>
      </p:pic>
      <p:sp>
        <p:nvSpPr>
          <p:cNvPr id="5" name="text-140"/>
          <p:cNvSpPr txBox="1"/>
          <p:nvPr/>
        </p:nvSpPr>
        <p:spPr>
          <a:xfrm>
            <a:off x="5852160" y="1463040"/>
            <a:ext cx="5760720" cy="640080"/>
          </a:xfrm>
          <a:prstGeom prst="rect">
            <a:avLst/>
          </a:prstGeom>
          <a:noFill/>
          <a:ln/>
        </p:spPr>
        <p:txBody>
          <a:bodyPr wrap="square" lIns="0" tIns="0" rIns="0" bIns="0" rtlCol="0" anchor="t"/>
          <a:lstStyle/>
          <a:p>
            <a:pPr indent="0" marL="0">
              <a:buNone/>
            </a:pPr>
            <a:r>
              <a:rPr lang="en-US" sz="1700" dirty="0">
                <a:solidFill>
                  <a:schemeClr val="tx2"/>
                </a:solidFill>
              </a:rPr>
              <a:t>After reviewing an alert, the counsellor chooses the student’s level of support:</a:t>
            </a:r>
            <a:endParaRPr lang="en-US" sz="1700" dirty="0"/>
          </a:p>
        </p:txBody>
      </p:sp>
      <p:sp>
        <p:nvSpPr>
          <p:cNvPr id="6" name="card-141"/>
          <p:cNvSpPr/>
          <p:nvPr/>
        </p:nvSpPr>
        <p:spPr>
          <a:xfrm>
            <a:off x="5852160" y="2286000"/>
            <a:ext cx="5760720" cy="1005840"/>
          </a:xfrm>
          <a:prstGeom prst="roundRect">
            <a:avLst>
              <a:gd name="adj" fmla="val 12727"/>
            </a:avLst>
          </a:prstGeom>
          <a:solidFill>
            <a:schemeClr val="bg2"/>
          </a:solidFill>
          <a:ln/>
        </p:spPr>
      </p:sp>
      <p:sp>
        <p:nvSpPr>
          <p:cNvPr id="7" name="option-dot-142"/>
          <p:cNvSpPr/>
          <p:nvPr/>
        </p:nvSpPr>
        <p:spPr>
          <a:xfrm>
            <a:off x="6080760" y="2560320"/>
            <a:ext cx="457200" cy="457200"/>
          </a:xfrm>
          <a:prstGeom prst="ellipse">
            <a:avLst/>
          </a:prstGeom>
          <a:solidFill>
            <a:schemeClr val="accent2"/>
          </a:solidFill>
          <a:ln/>
        </p:spPr>
      </p:sp>
      <p:sp>
        <p:nvSpPr>
          <p:cNvPr id="8" name="text-143"/>
          <p:cNvSpPr txBox="1"/>
          <p:nvPr/>
        </p:nvSpPr>
        <p:spPr>
          <a:xfrm>
            <a:off x="6080760" y="25603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9" name="text-144"/>
          <p:cNvSpPr txBox="1"/>
          <p:nvPr/>
        </p:nvSpPr>
        <p:spPr>
          <a:xfrm>
            <a:off x="6766560" y="2395728"/>
            <a:ext cx="4663440" cy="822960"/>
          </a:xfrm>
          <a:prstGeom prst="rect">
            <a:avLst/>
          </a:prstGeom>
          <a:noFill/>
          <a:ln/>
        </p:spPr>
        <p:txBody>
          <a:bodyPr wrap="square" lIns="0" tIns="0" rIns="0" bIns="0" rtlCol="0" anchor="t"/>
          <a:lstStyle/>
          <a:p>
            <a:pPr indent="0" marL="0">
              <a:buNone/>
            </a:pPr>
            <a:r>
              <a:rPr lang="en-US" sz="1700" b="1" dirty="0">
                <a:solidFill>
                  <a:schemeClr val="tx2"/>
                </a:solidFill>
              </a:rPr>
              <a:t>Moderate support</a:t>
            </a:r>
            <a:endParaRPr lang="en-US" sz="1600" dirty="0"/>
          </a:p>
          <a:p>
            <a:pPr indent="0" marL="0">
              <a:buNone/>
            </a:pPr>
            <a:r>
              <a:rPr lang="en-US" sz="1400" dirty="0">
                <a:solidFill>
                  <a:schemeClr val="tx1"/>
                </a:solidFill>
              </a:rPr>
              <a:t>Guided features in the app are switched on for the student.</a:t>
            </a:r>
            <a:endParaRPr lang="en-US" sz="1600" dirty="0"/>
          </a:p>
        </p:txBody>
      </p:sp>
      <p:sp>
        <p:nvSpPr>
          <p:cNvPr id="10" name="card-145"/>
          <p:cNvSpPr/>
          <p:nvPr/>
        </p:nvSpPr>
        <p:spPr>
          <a:xfrm>
            <a:off x="5852160" y="3474720"/>
            <a:ext cx="5760720" cy="1005840"/>
          </a:xfrm>
          <a:prstGeom prst="roundRect">
            <a:avLst>
              <a:gd name="adj" fmla="val 12727"/>
            </a:avLst>
          </a:prstGeom>
          <a:solidFill>
            <a:schemeClr val="bg2"/>
          </a:solidFill>
          <a:ln/>
        </p:spPr>
      </p:sp>
      <p:sp>
        <p:nvSpPr>
          <p:cNvPr id="11" name="option-dot-146"/>
          <p:cNvSpPr/>
          <p:nvPr/>
        </p:nvSpPr>
        <p:spPr>
          <a:xfrm>
            <a:off x="6080760" y="3749040"/>
            <a:ext cx="457200" cy="457200"/>
          </a:xfrm>
          <a:prstGeom prst="ellipse">
            <a:avLst/>
          </a:prstGeom>
          <a:solidFill>
            <a:schemeClr val="accent3"/>
          </a:solidFill>
          <a:ln/>
        </p:spPr>
      </p:sp>
      <p:sp>
        <p:nvSpPr>
          <p:cNvPr id="12" name="text-147"/>
          <p:cNvSpPr txBox="1"/>
          <p:nvPr/>
        </p:nvSpPr>
        <p:spPr>
          <a:xfrm>
            <a:off x="6080760" y="37490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3" name="text-148"/>
          <p:cNvSpPr txBox="1"/>
          <p:nvPr/>
        </p:nvSpPr>
        <p:spPr>
          <a:xfrm>
            <a:off x="6766560" y="3584448"/>
            <a:ext cx="4663440" cy="822960"/>
          </a:xfrm>
          <a:prstGeom prst="rect">
            <a:avLst/>
          </a:prstGeom>
          <a:noFill/>
          <a:ln/>
        </p:spPr>
        <p:txBody>
          <a:bodyPr wrap="square" lIns="0" tIns="0" rIns="0" bIns="0" rtlCol="0" anchor="t"/>
          <a:lstStyle/>
          <a:p>
            <a:pPr indent="0" marL="0">
              <a:buNone/>
            </a:pPr>
            <a:r>
              <a:rPr lang="en-US" sz="1700" b="1" dirty="0">
                <a:solidFill>
                  <a:schemeClr val="tx2"/>
                </a:solidFill>
              </a:rPr>
              <a:t>Low (mild)</a:t>
            </a:r>
            <a:endParaRPr lang="en-US" sz="1600" dirty="0"/>
          </a:p>
          <a:p>
            <a:pPr indent="0" marL="0">
              <a:buNone/>
            </a:pPr>
            <a:r>
              <a:rPr lang="en-US" sz="1400" dirty="0">
                <a:solidFill>
                  <a:schemeClr val="tx1"/>
                </a:solidFill>
              </a:rPr>
              <a:t>Full access to every tool in the app.</a:t>
            </a:r>
            <a:endParaRPr lang="en-US" sz="1600" dirty="0"/>
          </a:p>
        </p:txBody>
      </p:sp>
      <p:sp>
        <p:nvSpPr>
          <p:cNvPr id="14" name="card-149"/>
          <p:cNvSpPr/>
          <p:nvPr/>
        </p:nvSpPr>
        <p:spPr>
          <a:xfrm>
            <a:off x="5852160" y="4663440"/>
            <a:ext cx="5760720" cy="1005840"/>
          </a:xfrm>
          <a:prstGeom prst="roundRect">
            <a:avLst>
              <a:gd name="adj" fmla="val 12727"/>
            </a:avLst>
          </a:prstGeom>
          <a:solidFill>
            <a:schemeClr val="bg2"/>
          </a:solidFill>
          <a:ln/>
        </p:spPr>
      </p:sp>
      <p:sp>
        <p:nvSpPr>
          <p:cNvPr id="15" name="option-dot-150"/>
          <p:cNvSpPr/>
          <p:nvPr/>
        </p:nvSpPr>
        <p:spPr>
          <a:xfrm>
            <a:off x="6080760" y="4937760"/>
            <a:ext cx="457200" cy="457200"/>
          </a:xfrm>
          <a:prstGeom prst="ellipse">
            <a:avLst/>
          </a:prstGeom>
          <a:solidFill>
            <a:schemeClr val="accent1"/>
          </a:solidFill>
          <a:ln/>
        </p:spPr>
      </p:sp>
      <p:sp>
        <p:nvSpPr>
          <p:cNvPr id="16" name="text-151"/>
          <p:cNvSpPr txBox="1"/>
          <p:nvPr/>
        </p:nvSpPr>
        <p:spPr>
          <a:xfrm>
            <a:off x="6080760" y="49377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7" name="text-152"/>
          <p:cNvSpPr txBox="1"/>
          <p:nvPr/>
        </p:nvSpPr>
        <p:spPr>
          <a:xfrm>
            <a:off x="6766560" y="4773168"/>
            <a:ext cx="4663440" cy="822960"/>
          </a:xfrm>
          <a:prstGeom prst="rect">
            <a:avLst/>
          </a:prstGeom>
          <a:noFill/>
          <a:ln/>
        </p:spPr>
        <p:txBody>
          <a:bodyPr wrap="square" lIns="0" tIns="0" rIns="0" bIns="0" rtlCol="0" anchor="t"/>
          <a:lstStyle/>
          <a:p>
            <a:pPr indent="0" marL="0">
              <a:buNone/>
            </a:pPr>
            <a:r>
              <a:rPr lang="en-US" sz="1700" b="1" dirty="0">
                <a:solidFill>
                  <a:schemeClr val="tx2"/>
                </a:solidFill>
              </a:rPr>
              <a:t>New questionnaire</a:t>
            </a:r>
            <a:endParaRPr lang="en-US" sz="1600" dirty="0"/>
          </a:p>
          <a:p>
            <a:pPr indent="0" marL="0">
              <a:buNone/>
            </a:pPr>
            <a:r>
              <a:rPr lang="en-US" sz="1400" dirty="0">
                <a:solidFill>
                  <a:schemeClr val="tx1"/>
                </a:solidFill>
              </a:rPr>
              <a:t>The student is asked to complete a fresh wellbeing check before continuing.</a:t>
            </a:r>
            <a:endParaRPr lang="en-US" sz="1600" dirty="0"/>
          </a:p>
        </p:txBody>
      </p:sp>
      <p:sp>
        <p:nvSpPr>
          <p:cNvPr id="18" name="text-153"/>
          <p:cNvSpPr txBox="1"/>
          <p:nvPr/>
        </p:nvSpPr>
        <p:spPr>
          <a:xfrm>
            <a:off x="5852160" y="5852160"/>
            <a:ext cx="5760720" cy="365760"/>
          </a:xfrm>
          <a:prstGeom prst="rect">
            <a:avLst/>
          </a:prstGeom>
          <a:noFill/>
          <a:ln/>
        </p:spPr>
        <p:txBody>
          <a:bodyPr wrap="square" lIns="0" tIns="0" rIns="0" bIns="0" rtlCol="0" anchor="t"/>
          <a:lstStyle/>
          <a:p>
            <a:pPr indent="0" marL="0">
              <a:buNone/>
            </a:pPr>
            <a:r>
              <a:rPr lang="en-US" sz="1400" i="1" dirty="0">
                <a:solidFill>
                  <a:schemeClr val="accent6"/>
                </a:solidFill>
              </a:rPr>
              <a:t>The student’s app updates to match this choice.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Appointments without the back-and-forth</a:t>
            </a:r>
            <a:endParaRPr lang="en-US" sz="3400" dirty="0"/>
          </a:p>
        </p:txBody>
      </p:sp>
      <p:sp>
        <p:nvSpPr>
          <p:cNvPr id="3" name="stage-154"/>
          <p:cNvSpPr/>
          <p:nvPr/>
        </p:nvSpPr>
        <p:spPr>
          <a:xfrm>
            <a:off x="548640" y="1371600"/>
            <a:ext cx="2377440" cy="548640"/>
          </a:xfrm>
          <a:prstGeom prst="roundRect">
            <a:avLst>
              <a:gd name="adj" fmla="val 50000"/>
            </a:avLst>
          </a:prstGeom>
          <a:solidFill>
            <a:schemeClr val="accent2"/>
          </a:solidFill>
          <a:ln/>
        </p:spPr>
      </p:sp>
      <p:sp>
        <p:nvSpPr>
          <p:cNvPr id="4" name="text-155"/>
          <p:cNvSpPr txBox="1"/>
          <p:nvPr/>
        </p:nvSpPr>
        <p:spPr>
          <a:xfrm>
            <a:off x="548640" y="1371600"/>
            <a:ext cx="2377440" cy="548640"/>
          </a:xfrm>
          <a:prstGeom prst="rect">
            <a:avLst/>
          </a:prstGeom>
          <a:noFill/>
          <a:ln/>
        </p:spPr>
        <p:txBody>
          <a:bodyPr wrap="square" lIns="0" tIns="0" rIns="0" bIns="0" rtlCol="0" anchor="ctr"/>
          <a:lstStyle/>
          <a:p>
            <a:pPr algn="ctr" indent="0" marL="0">
              <a:buNone/>
            </a:pPr>
            <a:r>
              <a:rPr lang="en-US" sz="1600" b="1" dirty="0">
                <a:solidFill>
                  <a:schemeClr val="bg1"/>
                </a:solidFill>
              </a:rPr>
              <a:t>Pending</a:t>
            </a:r>
            <a:endParaRPr lang="en-US" sz="1600" dirty="0"/>
          </a:p>
        </p:txBody>
      </p:sp>
      <p:pic>
        <p:nvPicPr>
          <p:cNvPr id="5" name="arrow-156" descr="preencoded.png">    </p:cNvPr>
          <p:cNvPicPr>
            <a:picLocks noChangeAspect="1"/>
          </p:cNvPicPr>
          <p:nvPr/>
        </p:nvPicPr>
        <p:blipFill>
          <a:blip r:embed="rId1"/>
          <a:stretch>
            <a:fillRect/>
          </a:stretch>
        </p:blipFill>
        <p:spPr>
          <a:xfrm>
            <a:off x="2999232" y="1463040"/>
            <a:ext cx="347472" cy="347472"/>
          </a:xfrm>
          <a:prstGeom prst="rect">
            <a:avLst/>
          </a:prstGeom>
        </p:spPr>
      </p:pic>
      <p:sp>
        <p:nvSpPr>
          <p:cNvPr id="6" name="stage-157"/>
          <p:cNvSpPr/>
          <p:nvPr/>
        </p:nvSpPr>
        <p:spPr>
          <a:xfrm>
            <a:off x="3383280" y="1371600"/>
            <a:ext cx="2377440" cy="548640"/>
          </a:xfrm>
          <a:prstGeom prst="roundRect">
            <a:avLst>
              <a:gd name="adj" fmla="val 50000"/>
            </a:avLst>
          </a:prstGeom>
          <a:solidFill>
            <a:schemeClr val="accent5"/>
          </a:solidFill>
          <a:ln/>
        </p:spPr>
      </p:sp>
      <p:sp>
        <p:nvSpPr>
          <p:cNvPr id="7" name="text-158"/>
          <p:cNvSpPr txBox="1"/>
          <p:nvPr/>
        </p:nvSpPr>
        <p:spPr>
          <a:xfrm>
            <a:off x="3383280" y="1371600"/>
            <a:ext cx="2377440" cy="548640"/>
          </a:xfrm>
          <a:prstGeom prst="rect">
            <a:avLst/>
          </a:prstGeom>
          <a:noFill/>
          <a:ln/>
        </p:spPr>
        <p:txBody>
          <a:bodyPr wrap="square" lIns="0" tIns="0" rIns="0" bIns="0" rtlCol="0" anchor="ctr"/>
          <a:lstStyle/>
          <a:p>
            <a:pPr algn="ctr" indent="0" marL="0">
              <a:buNone/>
            </a:pPr>
            <a:r>
              <a:rPr lang="en-US" sz="1600" b="1" dirty="0">
                <a:solidFill>
                  <a:schemeClr val="bg1"/>
                </a:solidFill>
              </a:rPr>
              <a:t>Waiting</a:t>
            </a:r>
            <a:endParaRPr lang="en-US" sz="1600" dirty="0"/>
          </a:p>
        </p:txBody>
      </p:sp>
      <p:pic>
        <p:nvPicPr>
          <p:cNvPr id="8" name="arrow-159" descr="preencoded.png">    </p:cNvPr>
          <p:cNvPicPr>
            <a:picLocks noChangeAspect="1"/>
          </p:cNvPicPr>
          <p:nvPr/>
        </p:nvPicPr>
        <p:blipFill>
          <a:blip r:embed="rId2"/>
          <a:stretch>
            <a:fillRect/>
          </a:stretch>
        </p:blipFill>
        <p:spPr>
          <a:xfrm>
            <a:off x="5833872" y="1463040"/>
            <a:ext cx="347472" cy="347472"/>
          </a:xfrm>
          <a:prstGeom prst="rect">
            <a:avLst/>
          </a:prstGeom>
        </p:spPr>
      </p:pic>
      <p:sp>
        <p:nvSpPr>
          <p:cNvPr id="9" name="stage-160"/>
          <p:cNvSpPr/>
          <p:nvPr/>
        </p:nvSpPr>
        <p:spPr>
          <a:xfrm>
            <a:off x="6217920" y="1371600"/>
            <a:ext cx="2377440" cy="548640"/>
          </a:xfrm>
          <a:prstGeom prst="roundRect">
            <a:avLst>
              <a:gd name="adj" fmla="val 50000"/>
            </a:avLst>
          </a:prstGeom>
          <a:solidFill>
            <a:schemeClr val="accent3"/>
          </a:solidFill>
          <a:ln/>
        </p:spPr>
      </p:sp>
      <p:sp>
        <p:nvSpPr>
          <p:cNvPr id="10" name="text-161"/>
          <p:cNvSpPr txBox="1"/>
          <p:nvPr/>
        </p:nvSpPr>
        <p:spPr>
          <a:xfrm>
            <a:off x="6217920" y="1371600"/>
            <a:ext cx="2377440" cy="548640"/>
          </a:xfrm>
          <a:prstGeom prst="rect">
            <a:avLst/>
          </a:prstGeom>
          <a:noFill/>
          <a:ln/>
        </p:spPr>
        <p:txBody>
          <a:bodyPr wrap="square" lIns="0" tIns="0" rIns="0" bIns="0" rtlCol="0" anchor="ctr"/>
          <a:lstStyle/>
          <a:p>
            <a:pPr algn="ctr" indent="0" marL="0">
              <a:buNone/>
            </a:pPr>
            <a:r>
              <a:rPr lang="en-US" sz="1600" b="1" dirty="0">
                <a:solidFill>
                  <a:schemeClr val="bg1"/>
                </a:solidFill>
              </a:rPr>
              <a:t>Accepted</a:t>
            </a:r>
            <a:endParaRPr lang="en-US" sz="1600" dirty="0"/>
          </a:p>
        </p:txBody>
      </p:sp>
      <p:pic>
        <p:nvPicPr>
          <p:cNvPr id="11" name="arrow-162" descr="preencoded.png">    </p:cNvPr>
          <p:cNvPicPr>
            <a:picLocks noChangeAspect="1"/>
          </p:cNvPicPr>
          <p:nvPr/>
        </p:nvPicPr>
        <p:blipFill>
          <a:blip r:embed="rId3"/>
          <a:stretch>
            <a:fillRect/>
          </a:stretch>
        </p:blipFill>
        <p:spPr>
          <a:xfrm>
            <a:off x="8668512" y="1463040"/>
            <a:ext cx="347472" cy="347472"/>
          </a:xfrm>
          <a:prstGeom prst="rect">
            <a:avLst/>
          </a:prstGeom>
        </p:spPr>
      </p:pic>
      <p:sp>
        <p:nvSpPr>
          <p:cNvPr id="12" name="stage-163"/>
          <p:cNvSpPr/>
          <p:nvPr/>
        </p:nvSpPr>
        <p:spPr>
          <a:xfrm>
            <a:off x="9052560" y="1371600"/>
            <a:ext cx="2377440" cy="548640"/>
          </a:xfrm>
          <a:prstGeom prst="roundRect">
            <a:avLst>
              <a:gd name="adj" fmla="val 50000"/>
            </a:avLst>
          </a:prstGeom>
          <a:solidFill>
            <a:schemeClr val="accent1"/>
          </a:solidFill>
          <a:ln/>
        </p:spPr>
      </p:sp>
      <p:sp>
        <p:nvSpPr>
          <p:cNvPr id="13" name="text-164"/>
          <p:cNvSpPr txBox="1"/>
          <p:nvPr/>
        </p:nvSpPr>
        <p:spPr>
          <a:xfrm>
            <a:off x="9052560" y="1371600"/>
            <a:ext cx="2377440" cy="548640"/>
          </a:xfrm>
          <a:prstGeom prst="rect">
            <a:avLst/>
          </a:prstGeom>
          <a:noFill/>
          <a:ln/>
        </p:spPr>
        <p:txBody>
          <a:bodyPr wrap="square" lIns="0" tIns="0" rIns="0" bIns="0" rtlCol="0" anchor="ctr"/>
          <a:lstStyle/>
          <a:p>
            <a:pPr algn="ctr" indent="0" marL="0">
              <a:buNone/>
            </a:pPr>
            <a:r>
              <a:rPr lang="en-US" sz="1600" b="1" dirty="0">
                <a:solidFill>
                  <a:schemeClr val="bg1"/>
                </a:solidFill>
              </a:rPr>
              <a:t>Completed</a:t>
            </a:r>
            <a:endParaRPr lang="en-US" sz="1600" dirty="0"/>
          </a:p>
        </p:txBody>
      </p:sp>
      <p:sp>
        <p:nvSpPr>
          <p:cNvPr id="14" name="screenshot-frame-165"/>
          <p:cNvSpPr/>
          <p:nvPr/>
        </p:nvSpPr>
        <p:spPr>
          <a:xfrm>
            <a:off x="603504" y="2295144"/>
            <a:ext cx="6931152" cy="3154303"/>
          </a:xfrm>
          <a:prstGeom prst="roundRect">
            <a:avLst>
              <a:gd name="adj" fmla="val 3479"/>
            </a:avLst>
          </a:prstGeom>
          <a:solidFill>
            <a:schemeClr val="bg1"/>
          </a:solidFill>
          <a:ln w="9525">
            <a:solidFill>
              <a:srgbClr val="E2E0F5"/>
            </a:solidFill>
            <a:prstDash val="solid"/>
          </a:ln>
          <a:effectLst>
            <a:outerShdw sx="100000" sy="100000" kx="0" ky="0" algn="bl" rotWithShape="0" blurRad="152400" dist="38100" dir="5400000">
              <a:srgbClr val="1F1B3A">
                <a:alpha val="18000"/>
              </a:srgbClr>
            </a:outerShdw>
          </a:effectLst>
        </p:spPr>
      </p:sp>
      <p:pic>
        <p:nvPicPr>
          <p:cNvPr id="15" name="screenshot-166" descr="Dashboard screenshot">    </p:cNvPr>
          <p:cNvPicPr>
            <a:picLocks noChangeAspect="1"/>
          </p:cNvPicPr>
          <p:nvPr/>
        </p:nvPicPr>
        <p:blipFill>
          <a:blip r:embed="rId4"/>
          <a:stretch>
            <a:fillRect/>
          </a:stretch>
        </p:blipFill>
        <p:spPr>
          <a:xfrm>
            <a:off x="685800" y="2377440"/>
            <a:ext cx="6766560" cy="2989711"/>
          </a:xfrm>
          <a:prstGeom prst="rect">
            <a:avLst/>
          </a:prstGeom>
        </p:spPr>
      </p:pic>
      <p:sp>
        <p:nvSpPr>
          <p:cNvPr id="16" name="text-167"/>
          <p:cNvSpPr txBox="1"/>
          <p:nvPr/>
        </p:nvSpPr>
        <p:spPr>
          <a:xfrm>
            <a:off x="685800" y="5550031"/>
            <a:ext cx="6766560" cy="274320"/>
          </a:xfrm>
          <a:prstGeom prst="rect">
            <a:avLst/>
          </a:prstGeom>
          <a:noFill/>
          <a:ln/>
        </p:spPr>
        <p:txBody>
          <a:bodyPr wrap="square" lIns="0" tIns="0" rIns="0" bIns="0" rtlCol="0" anchor="t"/>
          <a:lstStyle/>
          <a:p>
            <a:pPr indent="0" marL="0">
              <a:buNone/>
            </a:pPr>
            <a:r>
              <a:rPr lang="en-US" sz="1100" i="1" dirty="0">
                <a:solidFill>
                  <a:schemeClr val="accent6"/>
                </a:solidFill>
              </a:rPr>
              <a:t>Screens show test data</a:t>
            </a:r>
            <a:endParaRPr lang="en-US" sz="1100" dirty="0"/>
          </a:p>
        </p:txBody>
      </p:sp>
      <p:sp>
        <p:nvSpPr>
          <p:cNvPr id="17" name="icon-circle-168"/>
          <p:cNvSpPr/>
          <p:nvPr/>
        </p:nvSpPr>
        <p:spPr>
          <a:xfrm>
            <a:off x="7909560" y="2331720"/>
            <a:ext cx="566928" cy="566928"/>
          </a:xfrm>
          <a:prstGeom prst="ellipse">
            <a:avLst/>
          </a:prstGeom>
          <a:solidFill>
            <a:schemeClr val="bg2"/>
          </a:solidFill>
          <a:ln/>
        </p:spPr>
      </p:sp>
      <p:pic>
        <p:nvPicPr>
          <p:cNvPr id="18" name="icon-169" descr="preencoded.png">    </p:cNvPr>
          <p:cNvPicPr>
            <a:picLocks noChangeAspect="1"/>
          </p:cNvPicPr>
          <p:nvPr/>
        </p:nvPicPr>
        <p:blipFill>
          <a:blip r:embed="rId5"/>
          <a:stretch>
            <a:fillRect/>
          </a:stretch>
        </p:blipFill>
        <p:spPr>
          <a:xfrm>
            <a:off x="8045623" y="2467783"/>
            <a:ext cx="294803" cy="294803"/>
          </a:xfrm>
          <a:prstGeom prst="rect">
            <a:avLst/>
          </a:prstGeom>
        </p:spPr>
      </p:pic>
      <p:sp>
        <p:nvSpPr>
          <p:cNvPr id="19" name="text-170"/>
          <p:cNvSpPr txBox="1"/>
          <p:nvPr/>
        </p:nvSpPr>
        <p:spPr>
          <a:xfrm>
            <a:off x="8705088" y="2313432"/>
            <a:ext cx="2953512" cy="1005840"/>
          </a:xfrm>
          <a:prstGeom prst="rect">
            <a:avLst/>
          </a:prstGeom>
          <a:noFill/>
          <a:ln/>
        </p:spPr>
        <p:txBody>
          <a:bodyPr wrap="square" lIns="0" tIns="0" rIns="0" bIns="0" rtlCol="0" anchor="t"/>
          <a:lstStyle/>
          <a:p>
            <a:pPr indent="0" marL="0">
              <a:buNone/>
            </a:pPr>
            <a:r>
              <a:rPr lang="en-US" sz="1700" b="1" dirty="0">
                <a:solidFill>
                  <a:schemeClr val="tx2"/>
                </a:solidFill>
              </a:rPr>
              <a:t>Students request</a:t>
            </a:r>
            <a:endParaRPr lang="en-US" sz="1600" dirty="0"/>
          </a:p>
          <a:p>
            <a:pPr indent="0" marL="0">
              <a:buNone/>
            </a:pPr>
            <a:r>
              <a:rPr lang="en-US" sz="1400" dirty="0">
                <a:solidFill>
                  <a:schemeClr val="tx1"/>
                </a:solidFill>
              </a:rPr>
              <a:t>They book from the app and say why, e.g. “Feeling exhausted”.</a:t>
            </a:r>
            <a:endParaRPr lang="en-US" sz="1600" dirty="0"/>
          </a:p>
        </p:txBody>
      </p:sp>
      <p:sp>
        <p:nvSpPr>
          <p:cNvPr id="20" name="icon-circle-171"/>
          <p:cNvSpPr/>
          <p:nvPr/>
        </p:nvSpPr>
        <p:spPr>
          <a:xfrm>
            <a:off x="7909560" y="3429000"/>
            <a:ext cx="566928" cy="566928"/>
          </a:xfrm>
          <a:prstGeom prst="ellipse">
            <a:avLst/>
          </a:prstGeom>
          <a:solidFill>
            <a:schemeClr val="bg2"/>
          </a:solidFill>
          <a:ln/>
        </p:spPr>
      </p:sp>
      <p:pic>
        <p:nvPicPr>
          <p:cNvPr id="21" name="icon-172" descr="preencoded.png">    </p:cNvPr>
          <p:cNvPicPr>
            <a:picLocks noChangeAspect="1"/>
          </p:cNvPicPr>
          <p:nvPr/>
        </p:nvPicPr>
        <p:blipFill>
          <a:blip r:embed="rId6"/>
          <a:stretch>
            <a:fillRect/>
          </a:stretch>
        </p:blipFill>
        <p:spPr>
          <a:xfrm>
            <a:off x="8045623" y="3565063"/>
            <a:ext cx="294803" cy="294803"/>
          </a:xfrm>
          <a:prstGeom prst="rect">
            <a:avLst/>
          </a:prstGeom>
        </p:spPr>
      </p:pic>
      <p:sp>
        <p:nvSpPr>
          <p:cNvPr id="22" name="text-173"/>
          <p:cNvSpPr txBox="1"/>
          <p:nvPr/>
        </p:nvSpPr>
        <p:spPr>
          <a:xfrm>
            <a:off x="8705088" y="3410712"/>
            <a:ext cx="2953512" cy="1005840"/>
          </a:xfrm>
          <a:prstGeom prst="rect">
            <a:avLst/>
          </a:prstGeom>
          <a:noFill/>
          <a:ln/>
        </p:spPr>
        <p:txBody>
          <a:bodyPr wrap="square" lIns="0" tIns="0" rIns="0" bIns="0" rtlCol="0" anchor="t"/>
          <a:lstStyle/>
          <a:p>
            <a:pPr indent="0" marL="0">
              <a:buNone/>
            </a:pPr>
            <a:r>
              <a:rPr lang="en-US" sz="1700" b="1" dirty="0">
                <a:solidFill>
                  <a:schemeClr val="tx2"/>
                </a:solidFill>
              </a:rPr>
              <a:t>Counsellors respond</a:t>
            </a:r>
            <a:endParaRPr lang="en-US" sz="1600" dirty="0"/>
          </a:p>
          <a:p>
            <a:pPr indent="0" marL="0">
              <a:buNone/>
            </a:pPr>
            <a:r>
              <a:rPr lang="en-US" sz="1400" dirty="0">
                <a:solidFill>
                  <a:schemeClr val="tx1"/>
                </a:solidFill>
              </a:rPr>
              <a:t>Accept, reschedule or decline in one click.</a:t>
            </a:r>
            <a:endParaRPr lang="en-US" sz="1600" dirty="0"/>
          </a:p>
        </p:txBody>
      </p:sp>
      <p:sp>
        <p:nvSpPr>
          <p:cNvPr id="23" name="icon-circle-174"/>
          <p:cNvSpPr/>
          <p:nvPr/>
        </p:nvSpPr>
        <p:spPr>
          <a:xfrm>
            <a:off x="7909560" y="4526280"/>
            <a:ext cx="566928" cy="566928"/>
          </a:xfrm>
          <a:prstGeom prst="ellipse">
            <a:avLst/>
          </a:prstGeom>
          <a:solidFill>
            <a:schemeClr val="bg2"/>
          </a:solidFill>
          <a:ln/>
        </p:spPr>
      </p:sp>
      <p:pic>
        <p:nvPicPr>
          <p:cNvPr id="24" name="icon-175" descr="preencoded.png">    </p:cNvPr>
          <p:cNvPicPr>
            <a:picLocks noChangeAspect="1"/>
          </p:cNvPicPr>
          <p:nvPr/>
        </p:nvPicPr>
        <p:blipFill>
          <a:blip r:embed="rId7"/>
          <a:stretch>
            <a:fillRect/>
          </a:stretch>
        </p:blipFill>
        <p:spPr>
          <a:xfrm>
            <a:off x="8045623" y="4662343"/>
            <a:ext cx="294803" cy="294803"/>
          </a:xfrm>
          <a:prstGeom prst="rect">
            <a:avLst/>
          </a:prstGeom>
        </p:spPr>
      </p:pic>
      <p:sp>
        <p:nvSpPr>
          <p:cNvPr id="25" name="text-176"/>
          <p:cNvSpPr txBox="1"/>
          <p:nvPr/>
        </p:nvSpPr>
        <p:spPr>
          <a:xfrm>
            <a:off x="8705088" y="4507992"/>
            <a:ext cx="2953512" cy="1005840"/>
          </a:xfrm>
          <a:prstGeom prst="rect">
            <a:avLst/>
          </a:prstGeom>
          <a:noFill/>
          <a:ln/>
        </p:spPr>
        <p:txBody>
          <a:bodyPr wrap="square" lIns="0" tIns="0" rIns="0" bIns="0" rtlCol="0" anchor="t"/>
          <a:lstStyle/>
          <a:p>
            <a:pPr indent="0" marL="0">
              <a:buNone/>
            </a:pPr>
            <a:r>
              <a:rPr lang="en-US" sz="1700" b="1" dirty="0">
                <a:solidFill>
                  <a:schemeClr val="tx2"/>
                </a:solidFill>
              </a:rPr>
              <a:t>Everyone stays informed</a:t>
            </a:r>
            <a:endParaRPr lang="en-US" sz="1600" dirty="0"/>
          </a:p>
          <a:p>
            <a:pPr indent="0" marL="0">
              <a:buNone/>
            </a:pPr>
            <a:r>
              <a:rPr lang="en-US" sz="1400" dirty="0">
                <a:solidFill>
                  <a:schemeClr val="tx1"/>
                </a:solidFill>
              </a:rPr>
              <a:t>Each request moves through clear stages.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When a student asks for help, it reaches a person</a:t>
            </a:r>
            <a:endParaRPr lang="en-US" sz="3400" dirty="0"/>
          </a:p>
        </p:txBody>
      </p:sp>
      <p:sp>
        <p:nvSpPr>
          <p:cNvPr id="3" name="screenshot-frame-177"/>
          <p:cNvSpPr/>
          <p:nvPr/>
        </p:nvSpPr>
        <p:spPr>
          <a:xfrm>
            <a:off x="4489704" y="1517904"/>
            <a:ext cx="7205472" cy="3345292"/>
          </a:xfrm>
          <a:prstGeom prst="roundRect">
            <a:avLst>
              <a:gd name="adj" fmla="val 3280"/>
            </a:avLst>
          </a:prstGeom>
          <a:solidFill>
            <a:schemeClr val="bg1"/>
          </a:solidFill>
          <a:ln w="9525">
            <a:solidFill>
              <a:srgbClr val="E2E0F5"/>
            </a:solidFill>
            <a:prstDash val="solid"/>
          </a:ln>
          <a:effectLst>
            <a:outerShdw sx="100000" sy="100000" kx="0" ky="0" algn="bl" rotWithShape="0" blurRad="152400" dist="38100" dir="5400000">
              <a:srgbClr val="1F1B3A">
                <a:alpha val="18000"/>
              </a:srgbClr>
            </a:outerShdw>
          </a:effectLst>
        </p:spPr>
      </p:sp>
      <p:pic>
        <p:nvPicPr>
          <p:cNvPr id="4" name="screenshot-178" descr="Dashboard screenshot">    </p:cNvPr>
          <p:cNvPicPr>
            <a:picLocks noChangeAspect="1"/>
          </p:cNvPicPr>
          <p:nvPr/>
        </p:nvPicPr>
        <p:blipFill>
          <a:blip r:embed="rId1"/>
          <a:stretch>
            <a:fillRect/>
          </a:stretch>
        </p:blipFill>
        <p:spPr>
          <a:xfrm>
            <a:off x="4572000" y="1600200"/>
            <a:ext cx="7040880" cy="3180700"/>
          </a:xfrm>
          <a:prstGeom prst="rect">
            <a:avLst/>
          </a:prstGeom>
        </p:spPr>
      </p:pic>
      <p:sp>
        <p:nvSpPr>
          <p:cNvPr id="5" name="text-179"/>
          <p:cNvSpPr txBox="1"/>
          <p:nvPr/>
        </p:nvSpPr>
        <p:spPr>
          <a:xfrm>
            <a:off x="4572000" y="4963780"/>
            <a:ext cx="7040880" cy="274320"/>
          </a:xfrm>
          <a:prstGeom prst="rect">
            <a:avLst/>
          </a:prstGeom>
          <a:noFill/>
          <a:ln/>
        </p:spPr>
        <p:txBody>
          <a:bodyPr wrap="square" lIns="0" tIns="0" rIns="0" bIns="0" rtlCol="0" anchor="t"/>
          <a:lstStyle/>
          <a:p>
            <a:pPr indent="0" marL="0">
              <a:buNone/>
            </a:pPr>
            <a:r>
              <a:rPr lang="en-US" sz="1100" i="1" dirty="0">
                <a:solidFill>
                  <a:schemeClr val="accent6"/>
                </a:solidFill>
              </a:rPr>
              <a:t>Screens show test data</a:t>
            </a:r>
            <a:endParaRPr lang="en-US" sz="1100" dirty="0"/>
          </a:p>
        </p:txBody>
      </p:sp>
      <p:sp>
        <p:nvSpPr>
          <p:cNvPr id="6" name="card-180"/>
          <p:cNvSpPr/>
          <p:nvPr/>
        </p:nvSpPr>
        <p:spPr>
          <a:xfrm>
            <a:off x="548640" y="1508760"/>
            <a:ext cx="3611880" cy="1600200"/>
          </a:xfrm>
          <a:prstGeom prst="roundRect">
            <a:avLst>
              <a:gd name="adj" fmla="val 8000"/>
            </a:avLst>
          </a:prstGeom>
          <a:solidFill>
            <a:schemeClr val="bg2"/>
          </a:solidFill>
          <a:ln/>
        </p:spPr>
      </p:sp>
      <p:sp>
        <p:nvSpPr>
          <p:cNvPr id="7" name="text-181"/>
          <p:cNvSpPr txBox="1"/>
          <p:nvPr/>
        </p:nvSpPr>
        <p:spPr>
          <a:xfrm>
            <a:off x="777240" y="1691640"/>
            <a:ext cx="3200400" cy="132588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“I’m super anxious”</a:t>
            </a:r>
            <a:endParaRPr lang="en-US" sz="1600" dirty="0"/>
          </a:p>
          <a:p>
            <a:pPr indent="0" marL="0">
              <a:buNone/>
            </a:pPr>
            <a:r>
              <a:rPr lang="en-US" sz="1400" dirty="0">
                <a:solidFill>
                  <a:schemeClr val="tx1"/>
                </a:solidFill>
              </a:rPr>
              <a:t>A thought a student shared during a thinking exercise arrives with their request to talk.</a:t>
            </a:r>
            <a:endParaRPr lang="en-US" sz="1600" dirty="0"/>
          </a:p>
        </p:txBody>
      </p:sp>
      <p:sp>
        <p:nvSpPr>
          <p:cNvPr id="8" name="icon-circle-182"/>
          <p:cNvSpPr/>
          <p:nvPr/>
        </p:nvSpPr>
        <p:spPr>
          <a:xfrm>
            <a:off x="548640" y="3429000"/>
            <a:ext cx="530352" cy="530352"/>
          </a:xfrm>
          <a:prstGeom prst="ellipse">
            <a:avLst/>
          </a:prstGeom>
          <a:solidFill>
            <a:schemeClr val="bg2"/>
          </a:solidFill>
          <a:ln/>
        </p:spPr>
      </p:sp>
      <p:pic>
        <p:nvPicPr>
          <p:cNvPr id="9" name="icon-183" descr="preencoded.png">    </p:cNvPr>
          <p:cNvPicPr>
            <a:picLocks noChangeAspect="1"/>
          </p:cNvPicPr>
          <p:nvPr/>
        </p:nvPicPr>
        <p:blipFill>
          <a:blip r:embed="rId2"/>
          <a:stretch>
            <a:fillRect/>
          </a:stretch>
        </p:blipFill>
        <p:spPr>
          <a:xfrm>
            <a:off x="675924" y="3556284"/>
            <a:ext cx="275783" cy="275783"/>
          </a:xfrm>
          <a:prstGeom prst="rect">
            <a:avLst/>
          </a:prstGeom>
        </p:spPr>
      </p:pic>
      <p:sp>
        <p:nvSpPr>
          <p:cNvPr id="10" name="text-184"/>
          <p:cNvSpPr txBox="1"/>
          <p:nvPr/>
        </p:nvSpPr>
        <p:spPr>
          <a:xfrm>
            <a:off x="1307592" y="3410712"/>
            <a:ext cx="2852928" cy="777240"/>
          </a:xfrm>
          <a:prstGeom prst="rect">
            <a:avLst/>
          </a:prstGeom>
          <a:noFill/>
          <a:ln/>
        </p:spPr>
        <p:txBody>
          <a:bodyPr wrap="square" lIns="0" tIns="0" rIns="0" bIns="0" rtlCol="0" anchor="t"/>
          <a:lstStyle/>
          <a:p>
            <a:pPr indent="0" marL="0">
              <a:buNone/>
            </a:pPr>
            <a:r>
              <a:rPr lang="en-US" sz="1700" b="1" dirty="0">
                <a:solidFill>
                  <a:schemeClr val="tx2"/>
                </a:solidFill>
              </a:rPr>
              <a:t>Call now</a:t>
            </a:r>
            <a:endParaRPr lang="en-US" sz="1600" dirty="0"/>
          </a:p>
          <a:p>
            <a:pPr indent="0" marL="0">
              <a:buNone/>
            </a:pPr>
            <a:r>
              <a:rPr lang="en-US" sz="1400" dirty="0">
                <a:solidFill>
                  <a:schemeClr val="tx1"/>
                </a:solidFill>
              </a:rPr>
              <a:t>Reach the student straight away.</a:t>
            </a:r>
            <a:endParaRPr lang="en-US" sz="1600" dirty="0"/>
          </a:p>
        </p:txBody>
      </p:sp>
      <p:sp>
        <p:nvSpPr>
          <p:cNvPr id="11" name="icon-circle-185"/>
          <p:cNvSpPr/>
          <p:nvPr/>
        </p:nvSpPr>
        <p:spPr>
          <a:xfrm>
            <a:off x="548640" y="4297680"/>
            <a:ext cx="530352" cy="530352"/>
          </a:xfrm>
          <a:prstGeom prst="ellipse">
            <a:avLst/>
          </a:prstGeom>
          <a:solidFill>
            <a:schemeClr val="bg2"/>
          </a:solidFill>
          <a:ln/>
        </p:spPr>
      </p:sp>
      <p:pic>
        <p:nvPicPr>
          <p:cNvPr id="12" name="icon-186" descr="preencoded.png">    </p:cNvPr>
          <p:cNvPicPr>
            <a:picLocks noChangeAspect="1"/>
          </p:cNvPicPr>
          <p:nvPr/>
        </p:nvPicPr>
        <p:blipFill>
          <a:blip r:embed="rId3"/>
          <a:stretch>
            <a:fillRect/>
          </a:stretch>
        </p:blipFill>
        <p:spPr>
          <a:xfrm>
            <a:off x="675924" y="4424964"/>
            <a:ext cx="275783" cy="275783"/>
          </a:xfrm>
          <a:prstGeom prst="rect">
            <a:avLst/>
          </a:prstGeom>
        </p:spPr>
      </p:pic>
      <p:sp>
        <p:nvSpPr>
          <p:cNvPr id="13" name="text-187"/>
          <p:cNvSpPr txBox="1"/>
          <p:nvPr/>
        </p:nvSpPr>
        <p:spPr>
          <a:xfrm>
            <a:off x="1307592" y="4279392"/>
            <a:ext cx="2852928" cy="777240"/>
          </a:xfrm>
          <a:prstGeom prst="rect">
            <a:avLst/>
          </a:prstGeom>
          <a:noFill/>
          <a:ln/>
        </p:spPr>
        <p:txBody>
          <a:bodyPr wrap="square" lIns="0" tIns="0" rIns="0" bIns="0" rtlCol="0" anchor="t"/>
          <a:lstStyle/>
          <a:p>
            <a:pPr indent="0" marL="0">
              <a:buNone/>
            </a:pPr>
            <a:r>
              <a:rPr lang="en-US" sz="1700" b="1" dirty="0">
                <a:solidFill>
                  <a:schemeClr val="tx2"/>
                </a:solidFill>
              </a:rPr>
              <a:t>Schedule a call</a:t>
            </a:r>
            <a:endParaRPr lang="en-US" sz="1600" dirty="0"/>
          </a:p>
          <a:p>
            <a:pPr indent="0" marL="0">
              <a:buNone/>
            </a:pPr>
            <a:r>
              <a:rPr lang="en-US" sz="1400" dirty="0">
                <a:solidFill>
                  <a:schemeClr val="tx1"/>
                </a:solidFill>
              </a:rPr>
              <a:t>Pick a time that works.</a:t>
            </a:r>
            <a:endParaRPr lang="en-US" sz="1600" dirty="0"/>
          </a:p>
        </p:txBody>
      </p:sp>
      <p:sp>
        <p:nvSpPr>
          <p:cNvPr id="14" name="icon-circle-188"/>
          <p:cNvSpPr/>
          <p:nvPr/>
        </p:nvSpPr>
        <p:spPr>
          <a:xfrm>
            <a:off x="548640" y="5166360"/>
            <a:ext cx="530352" cy="530352"/>
          </a:xfrm>
          <a:prstGeom prst="ellipse">
            <a:avLst/>
          </a:prstGeom>
          <a:solidFill>
            <a:schemeClr val="bg2"/>
          </a:solidFill>
          <a:ln/>
        </p:spPr>
      </p:sp>
      <p:pic>
        <p:nvPicPr>
          <p:cNvPr id="15" name="icon-189" descr="preencoded.png">    </p:cNvPr>
          <p:cNvPicPr>
            <a:picLocks noChangeAspect="1"/>
          </p:cNvPicPr>
          <p:nvPr/>
        </p:nvPicPr>
        <p:blipFill>
          <a:blip r:embed="rId4"/>
          <a:stretch>
            <a:fillRect/>
          </a:stretch>
        </p:blipFill>
        <p:spPr>
          <a:xfrm>
            <a:off x="675924" y="5293644"/>
            <a:ext cx="275783" cy="275783"/>
          </a:xfrm>
          <a:prstGeom prst="rect">
            <a:avLst/>
          </a:prstGeom>
        </p:spPr>
      </p:pic>
      <p:sp>
        <p:nvSpPr>
          <p:cNvPr id="16" name="text-190"/>
          <p:cNvSpPr txBox="1"/>
          <p:nvPr/>
        </p:nvSpPr>
        <p:spPr>
          <a:xfrm>
            <a:off x="1307592" y="5148072"/>
            <a:ext cx="2852928" cy="777240"/>
          </a:xfrm>
          <a:prstGeom prst="rect">
            <a:avLst/>
          </a:prstGeom>
          <a:noFill/>
          <a:ln/>
        </p:spPr>
        <p:txBody>
          <a:bodyPr wrap="square" lIns="0" tIns="0" rIns="0" bIns="0" rtlCol="0" anchor="t"/>
          <a:lstStyle/>
          <a:p>
            <a:pPr indent="0" marL="0">
              <a:buNone/>
            </a:pPr>
            <a:r>
              <a:rPr lang="en-US" sz="1700" b="1" dirty="0">
                <a:solidFill>
                  <a:schemeClr val="tx2"/>
                </a:solidFill>
              </a:rPr>
              <a:t>Mark completed</a:t>
            </a:r>
            <a:endParaRPr lang="en-US" sz="1600" dirty="0"/>
          </a:p>
          <a:p>
            <a:pPr indent="0" marL="0">
              <a:buNone/>
            </a:pPr>
            <a:r>
              <a:rPr lang="en-US" sz="1400" dirty="0">
                <a:solidFill>
                  <a:schemeClr val="tx1"/>
                </a:solidFill>
              </a:rPr>
              <a:t>Keep a clear record.</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The big picture on student wellbeing</a:t>
            </a:r>
            <a:endParaRPr lang="en-US" sz="3400" dirty="0"/>
          </a:p>
        </p:txBody>
      </p:sp>
      <p:sp>
        <p:nvSpPr>
          <p:cNvPr id="3" name="text-191"/>
          <p:cNvSpPr txBox="1"/>
          <p:nvPr/>
        </p:nvSpPr>
        <p:spPr>
          <a:xfrm>
            <a:off x="548640" y="1280160"/>
            <a:ext cx="11064240" cy="548640"/>
          </a:xfrm>
          <a:prstGeom prst="rect">
            <a:avLst/>
          </a:prstGeom>
          <a:noFill/>
          <a:ln/>
        </p:spPr>
        <p:txBody>
          <a:bodyPr wrap="square" lIns="0" tIns="0" rIns="0" bIns="0" rtlCol="0" anchor="t"/>
          <a:lstStyle/>
          <a:p>
            <a:pPr indent="0" marL="0">
              <a:buNone/>
            </a:pPr>
            <a:r>
              <a:rPr lang="en-US" sz="1700" dirty="0">
                <a:solidFill>
                  <a:schemeClr val="tx2"/>
                </a:solidFill>
              </a:rPr>
              <a:t>Students complete short, well-established questionnaires in the app. The Screening Centre combines everyone’s results.</a:t>
            </a:r>
            <a:endParaRPr lang="en-US" sz="1700" dirty="0"/>
          </a:p>
        </p:txBody>
      </p:sp>
      <p:sp>
        <p:nvSpPr>
          <p:cNvPr id="4" name="card-192"/>
          <p:cNvSpPr/>
          <p:nvPr/>
        </p:nvSpPr>
        <p:spPr>
          <a:xfrm>
            <a:off x="548640" y="1920240"/>
            <a:ext cx="2606040" cy="1645920"/>
          </a:xfrm>
          <a:prstGeom prst="roundRect">
            <a:avLst>
              <a:gd name="adj" fmla="val 7778"/>
            </a:avLst>
          </a:prstGeom>
          <a:solidFill>
            <a:schemeClr val="bg2"/>
          </a:solidFill>
          <a:ln/>
        </p:spPr>
      </p:sp>
      <p:sp>
        <p:nvSpPr>
          <p:cNvPr id="5" name="text-193"/>
          <p:cNvSpPr txBox="1"/>
          <p:nvPr/>
        </p:nvSpPr>
        <p:spPr>
          <a:xfrm>
            <a:off x="777240" y="1965960"/>
            <a:ext cx="2194560" cy="777240"/>
          </a:xfrm>
          <a:prstGeom prst="rect">
            <a:avLst/>
          </a:prstGeom>
          <a:noFill/>
          <a:ln/>
        </p:spPr>
        <p:txBody>
          <a:bodyPr wrap="square" lIns="0" tIns="0" rIns="0" bIns="0" rtlCol="0" anchor="b"/>
          <a:lstStyle/>
          <a:p>
            <a:pPr indent="0" marL="0">
              <a:buNone/>
            </a:pPr>
            <a:r>
              <a:rPr lang="en-US" sz="4400" b="1" dirty="0">
                <a:solidFill>
                  <a:schemeClr val="accent2"/>
                </a:solidFill>
                <a:latin typeface="Cambria" pitchFamily="34" charset="0"/>
                <a:ea typeface="Cambria" pitchFamily="34" charset="-122"/>
                <a:cs typeface="Cambria" pitchFamily="34" charset="-120"/>
              </a:rPr>
              <a:t>14.2</a:t>
            </a:r>
            <a:pPr indent="0" marL="0">
              <a:buNone/>
            </a:pPr>
            <a:r>
              <a:rPr lang="en-US" sz="1800" dirty="0">
                <a:solidFill>
                  <a:schemeClr val="accent6"/>
                </a:solidFill>
              </a:rPr>
              <a:t>/27</a:t>
            </a:r>
            <a:endParaRPr lang="en-US" sz="1600" dirty="0"/>
          </a:p>
        </p:txBody>
      </p:sp>
      <p:sp>
        <p:nvSpPr>
          <p:cNvPr id="6" name="text-194"/>
          <p:cNvSpPr txBox="1"/>
          <p:nvPr/>
        </p:nvSpPr>
        <p:spPr>
          <a:xfrm>
            <a:off x="777240" y="2788920"/>
            <a:ext cx="2240280" cy="731520"/>
          </a:xfrm>
          <a:prstGeom prst="rect">
            <a:avLst/>
          </a:prstGeom>
          <a:noFill/>
          <a:ln/>
        </p:spPr>
        <p:txBody>
          <a:bodyPr wrap="square" lIns="0" tIns="0" rIns="0" bIns="0" rtlCol="0" anchor="t"/>
          <a:lstStyle/>
          <a:p>
            <a:pPr indent="0" marL="0">
              <a:buNone/>
            </a:pPr>
            <a:r>
              <a:rPr lang="en-US" sz="1500" b="1" dirty="0">
                <a:solidFill>
                  <a:schemeClr val="tx2"/>
                </a:solidFill>
              </a:rPr>
              <a:t>Average mood score</a:t>
            </a:r>
            <a:endParaRPr lang="en-US" sz="1600" dirty="0"/>
          </a:p>
          <a:p>
            <a:pPr indent="0" marL="0">
              <a:buNone/>
            </a:pPr>
            <a:r>
              <a:rPr lang="en-US" sz="1200" dirty="0">
                <a:solidFill>
                  <a:schemeClr val="tx1"/>
                </a:solidFill>
              </a:rPr>
              <a:t>Moderate (PHQ-9 mood check)</a:t>
            </a:r>
            <a:endParaRPr lang="en-US" sz="1600" dirty="0"/>
          </a:p>
        </p:txBody>
      </p:sp>
      <p:sp>
        <p:nvSpPr>
          <p:cNvPr id="7" name="card-195"/>
          <p:cNvSpPr/>
          <p:nvPr/>
        </p:nvSpPr>
        <p:spPr>
          <a:xfrm>
            <a:off x="3383280" y="1920240"/>
            <a:ext cx="2606040" cy="1645920"/>
          </a:xfrm>
          <a:prstGeom prst="roundRect">
            <a:avLst>
              <a:gd name="adj" fmla="val 7778"/>
            </a:avLst>
          </a:prstGeom>
          <a:solidFill>
            <a:schemeClr val="bg2"/>
          </a:solidFill>
          <a:ln/>
        </p:spPr>
      </p:sp>
      <p:sp>
        <p:nvSpPr>
          <p:cNvPr id="8" name="text-196"/>
          <p:cNvSpPr txBox="1"/>
          <p:nvPr/>
        </p:nvSpPr>
        <p:spPr>
          <a:xfrm>
            <a:off x="3611880" y="1965960"/>
            <a:ext cx="2194560" cy="777240"/>
          </a:xfrm>
          <a:prstGeom prst="rect">
            <a:avLst/>
          </a:prstGeom>
          <a:noFill/>
          <a:ln/>
        </p:spPr>
        <p:txBody>
          <a:bodyPr wrap="square" lIns="0" tIns="0" rIns="0" bIns="0" rtlCol="0" anchor="b"/>
          <a:lstStyle/>
          <a:p>
            <a:pPr indent="0" marL="0">
              <a:buNone/>
            </a:pPr>
            <a:r>
              <a:rPr lang="en-US" sz="4400" b="1" dirty="0">
                <a:solidFill>
                  <a:schemeClr val="accent2"/>
                </a:solidFill>
                <a:latin typeface="Cambria" pitchFamily="34" charset="0"/>
                <a:ea typeface="Cambria" pitchFamily="34" charset="-122"/>
                <a:cs typeface="Cambria" pitchFamily="34" charset="-120"/>
              </a:rPr>
              <a:t>11.3</a:t>
            </a:r>
            <a:pPr indent="0" marL="0">
              <a:buNone/>
            </a:pPr>
            <a:r>
              <a:rPr lang="en-US" sz="1800" dirty="0">
                <a:solidFill>
                  <a:schemeClr val="accent6"/>
                </a:solidFill>
              </a:rPr>
              <a:t>/21</a:t>
            </a:r>
            <a:endParaRPr lang="en-US" sz="1600" dirty="0"/>
          </a:p>
        </p:txBody>
      </p:sp>
      <p:sp>
        <p:nvSpPr>
          <p:cNvPr id="9" name="text-197"/>
          <p:cNvSpPr txBox="1"/>
          <p:nvPr/>
        </p:nvSpPr>
        <p:spPr>
          <a:xfrm>
            <a:off x="3611880" y="2788920"/>
            <a:ext cx="2240280" cy="731520"/>
          </a:xfrm>
          <a:prstGeom prst="rect">
            <a:avLst/>
          </a:prstGeom>
          <a:noFill/>
          <a:ln/>
        </p:spPr>
        <p:txBody>
          <a:bodyPr wrap="square" lIns="0" tIns="0" rIns="0" bIns="0" rtlCol="0" anchor="t"/>
          <a:lstStyle/>
          <a:p>
            <a:pPr indent="0" marL="0">
              <a:buNone/>
            </a:pPr>
            <a:r>
              <a:rPr lang="en-US" sz="1500" b="1" dirty="0">
                <a:solidFill>
                  <a:schemeClr val="tx2"/>
                </a:solidFill>
              </a:rPr>
              <a:t>Average anxiety score</a:t>
            </a:r>
            <a:endParaRPr lang="en-US" sz="1600" dirty="0"/>
          </a:p>
          <a:p>
            <a:pPr indent="0" marL="0">
              <a:buNone/>
            </a:pPr>
            <a:r>
              <a:rPr lang="en-US" sz="1200" dirty="0">
                <a:solidFill>
                  <a:schemeClr val="tx1"/>
                </a:solidFill>
              </a:rPr>
              <a:t>Moderate (GAD-7 anxiety check)</a:t>
            </a:r>
            <a:endParaRPr lang="en-US" sz="1600" dirty="0"/>
          </a:p>
        </p:txBody>
      </p:sp>
      <p:sp>
        <p:nvSpPr>
          <p:cNvPr id="10" name="card-198"/>
          <p:cNvSpPr/>
          <p:nvPr/>
        </p:nvSpPr>
        <p:spPr>
          <a:xfrm>
            <a:off x="6217920" y="1920240"/>
            <a:ext cx="2606040" cy="1645920"/>
          </a:xfrm>
          <a:prstGeom prst="roundRect">
            <a:avLst>
              <a:gd name="adj" fmla="val 7778"/>
            </a:avLst>
          </a:prstGeom>
          <a:solidFill>
            <a:schemeClr val="bg2"/>
          </a:solidFill>
          <a:ln/>
        </p:spPr>
      </p:sp>
      <p:sp>
        <p:nvSpPr>
          <p:cNvPr id="11" name="text-199"/>
          <p:cNvSpPr txBox="1"/>
          <p:nvPr/>
        </p:nvSpPr>
        <p:spPr>
          <a:xfrm>
            <a:off x="6446520" y="1965960"/>
            <a:ext cx="2194560" cy="777240"/>
          </a:xfrm>
          <a:prstGeom prst="rect">
            <a:avLst/>
          </a:prstGeom>
          <a:noFill/>
          <a:ln/>
        </p:spPr>
        <p:txBody>
          <a:bodyPr wrap="square" lIns="0" tIns="0" rIns="0" bIns="0" rtlCol="0" anchor="b"/>
          <a:lstStyle/>
          <a:p>
            <a:pPr indent="0" marL="0">
              <a:buNone/>
            </a:pPr>
            <a:r>
              <a:rPr lang="en-US" sz="4400" b="1" dirty="0">
                <a:solidFill>
                  <a:schemeClr val="accent4"/>
                </a:solidFill>
                <a:latin typeface="Cambria" pitchFamily="34" charset="0"/>
                <a:ea typeface="Cambria" pitchFamily="34" charset="-122"/>
                <a:cs typeface="Cambria" pitchFamily="34" charset="-120"/>
              </a:rPr>
              <a:t>4</a:t>
            </a:r>
            <a:pPr indent="0" marL="0">
              <a:buNone/>
            </a:pPr>
            <a:endParaRPr lang="en-US" sz="1600" dirty="0"/>
          </a:p>
        </p:txBody>
      </p:sp>
      <p:sp>
        <p:nvSpPr>
          <p:cNvPr id="12" name="text-200"/>
          <p:cNvSpPr txBox="1"/>
          <p:nvPr/>
        </p:nvSpPr>
        <p:spPr>
          <a:xfrm>
            <a:off x="6446520" y="2788920"/>
            <a:ext cx="2240280" cy="731520"/>
          </a:xfrm>
          <a:prstGeom prst="rect">
            <a:avLst/>
          </a:prstGeom>
          <a:noFill/>
          <a:ln/>
        </p:spPr>
        <p:txBody>
          <a:bodyPr wrap="square" lIns="0" tIns="0" rIns="0" bIns="0" rtlCol="0" anchor="t"/>
          <a:lstStyle/>
          <a:p>
            <a:pPr indent="0" marL="0">
              <a:buNone/>
            </a:pPr>
            <a:r>
              <a:rPr lang="en-US" sz="1500" b="1" dirty="0">
                <a:solidFill>
                  <a:schemeClr val="tx2"/>
                </a:solidFill>
              </a:rPr>
              <a:t>Students flagged</a:t>
            </a:r>
            <a:endParaRPr lang="en-US" sz="1600" dirty="0"/>
          </a:p>
          <a:p>
            <a:pPr indent="0" marL="0">
              <a:buNone/>
            </a:pPr>
            <a:r>
              <a:rPr lang="en-US" sz="1200" dirty="0">
                <a:solidFill>
                  <a:schemeClr val="tx1"/>
                </a:solidFill>
              </a:rPr>
              <a:t>On the self-harm question, for priority follow-up</a:t>
            </a:r>
            <a:endParaRPr lang="en-US" sz="1600" dirty="0"/>
          </a:p>
        </p:txBody>
      </p:sp>
      <p:sp>
        <p:nvSpPr>
          <p:cNvPr id="13" name="card-201"/>
          <p:cNvSpPr/>
          <p:nvPr/>
        </p:nvSpPr>
        <p:spPr>
          <a:xfrm>
            <a:off x="9052560" y="1920240"/>
            <a:ext cx="2606040" cy="1645920"/>
          </a:xfrm>
          <a:prstGeom prst="roundRect">
            <a:avLst>
              <a:gd name="adj" fmla="val 7778"/>
            </a:avLst>
          </a:prstGeom>
          <a:solidFill>
            <a:schemeClr val="bg2"/>
          </a:solidFill>
          <a:ln/>
        </p:spPr>
      </p:sp>
      <p:sp>
        <p:nvSpPr>
          <p:cNvPr id="14" name="text-202"/>
          <p:cNvSpPr txBox="1"/>
          <p:nvPr/>
        </p:nvSpPr>
        <p:spPr>
          <a:xfrm>
            <a:off x="9281160" y="1965960"/>
            <a:ext cx="2194560" cy="777240"/>
          </a:xfrm>
          <a:prstGeom prst="rect">
            <a:avLst/>
          </a:prstGeom>
          <a:noFill/>
          <a:ln/>
        </p:spPr>
        <p:txBody>
          <a:bodyPr wrap="square" lIns="0" tIns="0" rIns="0" bIns="0" rtlCol="0" anchor="b"/>
          <a:lstStyle/>
          <a:p>
            <a:pPr indent="0" marL="0">
              <a:buNone/>
            </a:pPr>
            <a:r>
              <a:rPr lang="en-US" sz="4400" b="1" dirty="0">
                <a:solidFill>
                  <a:schemeClr val="accent1"/>
                </a:solidFill>
                <a:latin typeface="Cambria" pitchFamily="34" charset="0"/>
                <a:ea typeface="Cambria" pitchFamily="34" charset="-122"/>
                <a:cs typeface="Cambria" pitchFamily="34" charset="-120"/>
              </a:rPr>
              <a:t>10</a:t>
            </a:r>
            <a:pPr indent="0" marL="0">
              <a:buNone/>
            </a:pPr>
            <a:endParaRPr lang="en-US" sz="1600" dirty="0"/>
          </a:p>
        </p:txBody>
      </p:sp>
      <p:sp>
        <p:nvSpPr>
          <p:cNvPr id="15" name="text-203"/>
          <p:cNvSpPr txBox="1"/>
          <p:nvPr/>
        </p:nvSpPr>
        <p:spPr>
          <a:xfrm>
            <a:off x="9281160" y="2788920"/>
            <a:ext cx="2240280" cy="731520"/>
          </a:xfrm>
          <a:prstGeom prst="rect">
            <a:avLst/>
          </a:prstGeom>
          <a:noFill/>
          <a:ln/>
        </p:spPr>
        <p:txBody>
          <a:bodyPr wrap="square" lIns="0" tIns="0" rIns="0" bIns="0" rtlCol="0" anchor="t"/>
          <a:lstStyle/>
          <a:p>
            <a:pPr indent="0" marL="0">
              <a:buNone/>
            </a:pPr>
            <a:r>
              <a:rPr lang="en-US" sz="1500" b="1" dirty="0">
                <a:solidFill>
                  <a:schemeClr val="tx2"/>
                </a:solidFill>
              </a:rPr>
              <a:t>Students screened</a:t>
            </a:r>
            <a:endParaRPr lang="en-US" sz="1600" dirty="0"/>
          </a:p>
          <a:p>
            <a:pPr indent="0" marL="0">
              <a:buNone/>
            </a:pPr>
            <a:r>
              <a:rPr lang="en-US" sz="1200" dirty="0">
                <a:solidFill>
                  <a:schemeClr val="tx1"/>
                </a:solidFill>
              </a:rPr>
              <a:t>Everyone enrolled so far</a:t>
            </a:r>
            <a:endParaRPr lang="en-US" sz="1600" dirty="0"/>
          </a:p>
        </p:txBody>
      </p:sp>
      <p:sp>
        <p:nvSpPr>
          <p:cNvPr id="16" name="screenshot-frame-204"/>
          <p:cNvSpPr/>
          <p:nvPr/>
        </p:nvSpPr>
        <p:spPr>
          <a:xfrm>
            <a:off x="786384" y="3803904"/>
            <a:ext cx="5010912" cy="2356433"/>
          </a:xfrm>
          <a:prstGeom prst="roundRect">
            <a:avLst>
              <a:gd name="adj" fmla="val 4657"/>
            </a:avLst>
          </a:prstGeom>
          <a:solidFill>
            <a:schemeClr val="bg1"/>
          </a:solidFill>
          <a:ln w="9525">
            <a:solidFill>
              <a:srgbClr val="E2E0F5"/>
            </a:solidFill>
            <a:prstDash val="solid"/>
          </a:ln>
          <a:effectLst>
            <a:outerShdw sx="100000" sy="100000" kx="0" ky="0" algn="bl" rotWithShape="0" blurRad="152400" dist="38100" dir="5400000">
              <a:srgbClr val="1F1B3A">
                <a:alpha val="18000"/>
              </a:srgbClr>
            </a:outerShdw>
          </a:effectLst>
        </p:spPr>
      </p:sp>
      <p:pic>
        <p:nvPicPr>
          <p:cNvPr id="17" name="screenshot-205" descr="Dashboard screenshot">    </p:cNvPr>
          <p:cNvPicPr>
            <a:picLocks noChangeAspect="1"/>
          </p:cNvPicPr>
          <p:nvPr/>
        </p:nvPicPr>
        <p:blipFill>
          <a:blip r:embed="rId1"/>
          <a:stretch>
            <a:fillRect/>
          </a:stretch>
        </p:blipFill>
        <p:spPr>
          <a:xfrm>
            <a:off x="868680" y="3886200"/>
            <a:ext cx="4846320" cy="2191841"/>
          </a:xfrm>
          <a:prstGeom prst="rect">
            <a:avLst/>
          </a:prstGeom>
        </p:spPr>
      </p:pic>
      <p:sp>
        <p:nvSpPr>
          <p:cNvPr id="18" name="screenshot-frame-206"/>
          <p:cNvSpPr/>
          <p:nvPr/>
        </p:nvSpPr>
        <p:spPr>
          <a:xfrm>
            <a:off x="6409944" y="3803904"/>
            <a:ext cx="5010912" cy="2328624"/>
          </a:xfrm>
          <a:prstGeom prst="roundRect">
            <a:avLst>
              <a:gd name="adj" fmla="val 4712"/>
            </a:avLst>
          </a:prstGeom>
          <a:solidFill>
            <a:schemeClr val="bg1"/>
          </a:solidFill>
          <a:ln w="9525">
            <a:solidFill>
              <a:srgbClr val="E2E0F5"/>
            </a:solidFill>
            <a:prstDash val="solid"/>
          </a:ln>
          <a:effectLst>
            <a:outerShdw sx="100000" sy="100000" kx="0" ky="0" algn="bl" rotWithShape="0" blurRad="152400" dist="38100" dir="5400000">
              <a:srgbClr val="1F1B3A">
                <a:alpha val="18000"/>
              </a:srgbClr>
            </a:outerShdw>
          </a:effectLst>
        </p:spPr>
      </p:sp>
      <p:pic>
        <p:nvPicPr>
          <p:cNvPr id="19" name="screenshot-207" descr="Dashboard screenshot">    </p:cNvPr>
          <p:cNvPicPr>
            <a:picLocks noChangeAspect="1"/>
          </p:cNvPicPr>
          <p:nvPr/>
        </p:nvPicPr>
        <p:blipFill>
          <a:blip r:embed="rId2"/>
          <a:stretch>
            <a:fillRect/>
          </a:stretch>
        </p:blipFill>
        <p:spPr>
          <a:xfrm>
            <a:off x="6492240" y="3886200"/>
            <a:ext cx="4846320" cy="2164032"/>
          </a:xfrm>
          <a:prstGeom prst="rect">
            <a:avLst/>
          </a:prstGeom>
        </p:spPr>
      </p:pic>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Keeping the AI companion safe</a:t>
            </a:r>
            <a:endParaRPr lang="en-US" sz="3400" dirty="0"/>
          </a:p>
        </p:txBody>
      </p:sp>
      <p:sp>
        <p:nvSpPr>
          <p:cNvPr id="3" name="screenshot-frame-208"/>
          <p:cNvSpPr/>
          <p:nvPr/>
        </p:nvSpPr>
        <p:spPr>
          <a:xfrm>
            <a:off x="603504" y="1426464"/>
            <a:ext cx="7114032" cy="3300359"/>
          </a:xfrm>
          <a:prstGeom prst="roundRect">
            <a:avLst>
              <a:gd name="adj" fmla="val 3325"/>
            </a:avLst>
          </a:prstGeom>
          <a:solidFill>
            <a:schemeClr val="bg1"/>
          </a:solidFill>
          <a:ln w="9525">
            <a:solidFill>
              <a:srgbClr val="E2E0F5"/>
            </a:solidFill>
            <a:prstDash val="solid"/>
          </a:ln>
          <a:effectLst>
            <a:outerShdw sx="100000" sy="100000" kx="0" ky="0" algn="bl" rotWithShape="0" blurRad="152400" dist="38100" dir="5400000">
              <a:srgbClr val="1F1B3A">
                <a:alpha val="18000"/>
              </a:srgbClr>
            </a:outerShdw>
          </a:effectLst>
        </p:spPr>
      </p:sp>
      <p:pic>
        <p:nvPicPr>
          <p:cNvPr id="4" name="screenshot-209" descr="Dashboard screenshot">    </p:cNvPr>
          <p:cNvPicPr>
            <a:picLocks noChangeAspect="1"/>
          </p:cNvPicPr>
          <p:nvPr/>
        </p:nvPicPr>
        <p:blipFill>
          <a:blip r:embed="rId1"/>
          <a:stretch>
            <a:fillRect/>
          </a:stretch>
        </p:blipFill>
        <p:spPr>
          <a:xfrm>
            <a:off x="685800" y="1508760"/>
            <a:ext cx="6949440" cy="3135767"/>
          </a:xfrm>
          <a:prstGeom prst="rect">
            <a:avLst/>
          </a:prstGeom>
        </p:spPr>
      </p:pic>
      <p:sp>
        <p:nvSpPr>
          <p:cNvPr id="5" name="text-210"/>
          <p:cNvSpPr txBox="1"/>
          <p:nvPr/>
        </p:nvSpPr>
        <p:spPr>
          <a:xfrm>
            <a:off x="685800" y="4827407"/>
            <a:ext cx="6949440" cy="274320"/>
          </a:xfrm>
          <a:prstGeom prst="rect">
            <a:avLst/>
          </a:prstGeom>
          <a:noFill/>
          <a:ln/>
        </p:spPr>
        <p:txBody>
          <a:bodyPr wrap="square" lIns="0" tIns="0" rIns="0" bIns="0" rtlCol="0" anchor="t"/>
          <a:lstStyle/>
          <a:p>
            <a:pPr indent="0" marL="0">
              <a:buNone/>
            </a:pPr>
            <a:r>
              <a:rPr lang="en-US" sz="1100" i="1" dirty="0">
                <a:solidFill>
                  <a:schemeClr val="accent6"/>
                </a:solidFill>
              </a:rPr>
              <a:t>Screens show test data</a:t>
            </a:r>
            <a:endParaRPr lang="en-US" sz="1100" dirty="0"/>
          </a:p>
        </p:txBody>
      </p:sp>
      <p:sp>
        <p:nvSpPr>
          <p:cNvPr id="6" name="text-211"/>
          <p:cNvSpPr txBox="1"/>
          <p:nvPr/>
        </p:nvSpPr>
        <p:spPr>
          <a:xfrm>
            <a:off x="8229600" y="1325880"/>
            <a:ext cx="3383280" cy="731520"/>
          </a:xfrm>
          <a:prstGeom prst="rect">
            <a:avLst/>
          </a:prstGeom>
          <a:noFill/>
          <a:ln/>
        </p:spPr>
        <p:txBody>
          <a:bodyPr wrap="square" lIns="0" tIns="0" rIns="0" bIns="0" rtlCol="0" anchor="b"/>
          <a:lstStyle/>
          <a:p>
            <a:pPr indent="0" marL="0">
              <a:buNone/>
            </a:pPr>
            <a:r>
              <a:rPr lang="en-US" sz="5000" b="1" dirty="0">
                <a:solidFill>
                  <a:schemeClr val="accent1"/>
                </a:solidFill>
                <a:latin typeface="Cambria" pitchFamily="34" charset="0"/>
                <a:ea typeface="Cambria" pitchFamily="34" charset="-122"/>
                <a:cs typeface="Cambria" pitchFamily="34" charset="-120"/>
              </a:rPr>
              <a:t>4</a:t>
            </a:r>
            <a:endParaRPr lang="en-US" sz="5000" dirty="0"/>
          </a:p>
        </p:txBody>
      </p:sp>
      <p:sp>
        <p:nvSpPr>
          <p:cNvPr id="7" name="text-212"/>
          <p:cNvSpPr txBox="1"/>
          <p:nvPr/>
        </p:nvSpPr>
        <p:spPr>
          <a:xfrm>
            <a:off x="8229600" y="2103120"/>
            <a:ext cx="3383280" cy="320040"/>
          </a:xfrm>
          <a:prstGeom prst="rect">
            <a:avLst/>
          </a:prstGeom>
          <a:noFill/>
          <a:ln/>
        </p:spPr>
        <p:txBody>
          <a:bodyPr wrap="square" lIns="0" tIns="0" rIns="0" bIns="0" rtlCol="0" anchor="t"/>
          <a:lstStyle/>
          <a:p>
            <a:pPr indent="0" marL="0">
              <a:buNone/>
            </a:pPr>
            <a:r>
              <a:rPr lang="en-US" sz="1500" dirty="0">
                <a:solidFill>
                  <a:schemeClr val="tx1"/>
                </a:solidFill>
              </a:rPr>
              <a:t>students chatted with Emoty</a:t>
            </a:r>
            <a:endParaRPr lang="en-US" sz="1500" dirty="0"/>
          </a:p>
        </p:txBody>
      </p:sp>
      <p:sp>
        <p:nvSpPr>
          <p:cNvPr id="8" name="text-213"/>
          <p:cNvSpPr txBox="1"/>
          <p:nvPr/>
        </p:nvSpPr>
        <p:spPr>
          <a:xfrm>
            <a:off x="8229600" y="2542032"/>
            <a:ext cx="3383280" cy="731520"/>
          </a:xfrm>
          <a:prstGeom prst="rect">
            <a:avLst/>
          </a:prstGeom>
          <a:noFill/>
          <a:ln/>
        </p:spPr>
        <p:txBody>
          <a:bodyPr wrap="square" lIns="0" tIns="0" rIns="0" bIns="0" rtlCol="0" anchor="b"/>
          <a:lstStyle/>
          <a:p>
            <a:pPr indent="0" marL="0">
              <a:buNone/>
            </a:pPr>
            <a:r>
              <a:rPr lang="en-US" sz="5000" b="1" dirty="0">
                <a:solidFill>
                  <a:schemeClr val="accent1"/>
                </a:solidFill>
                <a:latin typeface="Cambria" pitchFamily="34" charset="0"/>
                <a:ea typeface="Cambria" pitchFamily="34" charset="-122"/>
                <a:cs typeface="Cambria" pitchFamily="34" charset="-120"/>
              </a:rPr>
              <a:t>76</a:t>
            </a:r>
            <a:endParaRPr lang="en-US" sz="5000" dirty="0"/>
          </a:p>
        </p:txBody>
      </p:sp>
      <p:sp>
        <p:nvSpPr>
          <p:cNvPr id="9" name="text-214"/>
          <p:cNvSpPr txBox="1"/>
          <p:nvPr/>
        </p:nvSpPr>
        <p:spPr>
          <a:xfrm>
            <a:off x="8229600" y="3319272"/>
            <a:ext cx="3383280" cy="320040"/>
          </a:xfrm>
          <a:prstGeom prst="rect">
            <a:avLst/>
          </a:prstGeom>
          <a:noFill/>
          <a:ln/>
        </p:spPr>
        <p:txBody>
          <a:bodyPr wrap="square" lIns="0" tIns="0" rIns="0" bIns="0" rtlCol="0" anchor="t"/>
          <a:lstStyle/>
          <a:p>
            <a:pPr indent="0" marL="0">
              <a:buNone/>
            </a:pPr>
            <a:r>
              <a:rPr lang="en-US" sz="1500" dirty="0">
                <a:solidFill>
                  <a:schemeClr val="tx1"/>
                </a:solidFill>
              </a:rPr>
              <a:t>messages exchanged</a:t>
            </a:r>
            <a:endParaRPr lang="en-US" sz="1500" dirty="0"/>
          </a:p>
        </p:txBody>
      </p:sp>
      <p:sp>
        <p:nvSpPr>
          <p:cNvPr id="10" name="text-215"/>
          <p:cNvSpPr txBox="1"/>
          <p:nvPr/>
        </p:nvSpPr>
        <p:spPr>
          <a:xfrm>
            <a:off x="8229600" y="3758184"/>
            <a:ext cx="3383280" cy="731520"/>
          </a:xfrm>
          <a:prstGeom prst="rect">
            <a:avLst/>
          </a:prstGeom>
          <a:noFill/>
          <a:ln/>
        </p:spPr>
        <p:txBody>
          <a:bodyPr wrap="square" lIns="0" tIns="0" rIns="0" bIns="0" rtlCol="0" anchor="b"/>
          <a:lstStyle/>
          <a:p>
            <a:pPr indent="0" marL="0">
              <a:buNone/>
            </a:pPr>
            <a:r>
              <a:rPr lang="en-US" sz="5000" b="1" dirty="0">
                <a:solidFill>
                  <a:schemeClr val="accent3"/>
                </a:solidFill>
                <a:latin typeface="Cambria" pitchFamily="34" charset="0"/>
                <a:ea typeface="Cambria" pitchFamily="34" charset="-122"/>
                <a:cs typeface="Cambria" pitchFamily="34" charset="-120"/>
              </a:rPr>
              <a:t>0</a:t>
            </a:r>
            <a:endParaRPr lang="en-US" sz="5000" dirty="0"/>
          </a:p>
        </p:txBody>
      </p:sp>
      <p:sp>
        <p:nvSpPr>
          <p:cNvPr id="11" name="text-216"/>
          <p:cNvSpPr txBox="1"/>
          <p:nvPr/>
        </p:nvSpPr>
        <p:spPr>
          <a:xfrm>
            <a:off x="8229600" y="4535424"/>
            <a:ext cx="3383280" cy="320040"/>
          </a:xfrm>
          <a:prstGeom prst="rect">
            <a:avLst/>
          </a:prstGeom>
          <a:noFill/>
          <a:ln/>
        </p:spPr>
        <p:txBody>
          <a:bodyPr wrap="square" lIns="0" tIns="0" rIns="0" bIns="0" rtlCol="0" anchor="t"/>
          <a:lstStyle/>
          <a:p>
            <a:pPr indent="0" marL="0">
              <a:buNone/>
            </a:pPr>
            <a:r>
              <a:rPr lang="en-US" sz="1500" dirty="0">
                <a:solidFill>
                  <a:schemeClr val="tx1"/>
                </a:solidFill>
              </a:rPr>
              <a:t>high-risk messages flagged</a:t>
            </a:r>
            <a:endParaRPr lang="en-US" sz="1500" dirty="0"/>
          </a:p>
        </p:txBody>
      </p:sp>
      <p:sp>
        <p:nvSpPr>
          <p:cNvPr id="12" name="card-217"/>
          <p:cNvSpPr/>
          <p:nvPr/>
        </p:nvSpPr>
        <p:spPr>
          <a:xfrm>
            <a:off x="548640" y="5166360"/>
            <a:ext cx="11064240" cy="868680"/>
          </a:xfrm>
          <a:prstGeom prst="roundRect">
            <a:avLst>
              <a:gd name="adj" fmla="val 14737"/>
            </a:avLst>
          </a:prstGeom>
          <a:solidFill>
            <a:schemeClr val="bg2"/>
          </a:solidFill>
          <a:ln/>
        </p:spPr>
      </p:sp>
      <p:sp>
        <p:nvSpPr>
          <p:cNvPr id="13" name="icon-circle-218"/>
          <p:cNvSpPr/>
          <p:nvPr/>
        </p:nvSpPr>
        <p:spPr>
          <a:xfrm>
            <a:off x="777240" y="5303520"/>
            <a:ext cx="594360" cy="594360"/>
          </a:xfrm>
          <a:prstGeom prst="ellipse">
            <a:avLst/>
          </a:prstGeom>
          <a:solidFill>
            <a:schemeClr val="accent3"/>
          </a:solidFill>
          <a:ln/>
        </p:spPr>
      </p:sp>
      <p:pic>
        <p:nvPicPr>
          <p:cNvPr id="14" name="icon-219" descr="preencoded.png">    </p:cNvPr>
          <p:cNvPicPr>
            <a:picLocks noChangeAspect="1"/>
          </p:cNvPicPr>
          <p:nvPr/>
        </p:nvPicPr>
        <p:blipFill>
          <a:blip r:embed="rId2"/>
          <a:stretch>
            <a:fillRect/>
          </a:stretch>
        </p:blipFill>
        <p:spPr>
          <a:xfrm>
            <a:off x="919886" y="5446166"/>
            <a:ext cx="309067" cy="309067"/>
          </a:xfrm>
          <a:prstGeom prst="rect">
            <a:avLst/>
          </a:prstGeom>
        </p:spPr>
      </p:pic>
      <p:sp>
        <p:nvSpPr>
          <p:cNvPr id="15" name="text-220"/>
          <p:cNvSpPr txBox="1"/>
          <p:nvPr/>
        </p:nvSpPr>
        <p:spPr>
          <a:xfrm>
            <a:off x="1600200" y="5212080"/>
            <a:ext cx="9784080" cy="777240"/>
          </a:xfrm>
          <a:prstGeom prst="rect">
            <a:avLst/>
          </a:prstGeom>
          <a:noFill/>
          <a:ln/>
        </p:spPr>
        <p:txBody>
          <a:bodyPr wrap="square" lIns="0" tIns="0" rIns="0" bIns="0" rtlCol="0" anchor="ctr"/>
          <a:lstStyle/>
          <a:p>
            <a:pPr indent="0" marL="0">
              <a:buNone/>
            </a:pPr>
            <a:r>
              <a:rPr lang="en-US" sz="1600" dirty="0">
                <a:solidFill>
                  <a:schemeClr val="tx2"/>
                </a:solidFill>
              </a:rPr>
              <a:t>Counsellors can open any conversation, and risky messages are flagged so the team can step in.</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Nothing slips through</a:t>
            </a:r>
            <a:endParaRPr lang="en-US" sz="3400" dirty="0"/>
          </a:p>
        </p:txBody>
      </p:sp>
      <p:sp>
        <p:nvSpPr>
          <p:cNvPr id="3" name="icon-circle-221"/>
          <p:cNvSpPr/>
          <p:nvPr/>
        </p:nvSpPr>
        <p:spPr>
          <a:xfrm>
            <a:off x="548640" y="1508760"/>
            <a:ext cx="566928" cy="566928"/>
          </a:xfrm>
          <a:prstGeom prst="ellipse">
            <a:avLst/>
          </a:prstGeom>
          <a:solidFill>
            <a:schemeClr val="bg2"/>
          </a:solidFill>
          <a:ln/>
        </p:spPr>
      </p:sp>
      <p:pic>
        <p:nvPicPr>
          <p:cNvPr id="4" name="icon-222" descr="preencoded.png">    </p:cNvPr>
          <p:cNvPicPr>
            <a:picLocks noChangeAspect="1"/>
          </p:cNvPicPr>
          <p:nvPr/>
        </p:nvPicPr>
        <p:blipFill>
          <a:blip r:embed="rId1"/>
          <a:stretch>
            <a:fillRect/>
          </a:stretch>
        </p:blipFill>
        <p:spPr>
          <a:xfrm>
            <a:off x="684703" y="1644823"/>
            <a:ext cx="294803" cy="294803"/>
          </a:xfrm>
          <a:prstGeom prst="rect">
            <a:avLst/>
          </a:prstGeom>
        </p:spPr>
      </p:pic>
      <p:sp>
        <p:nvSpPr>
          <p:cNvPr id="5" name="text-223"/>
          <p:cNvSpPr txBox="1"/>
          <p:nvPr/>
        </p:nvSpPr>
        <p:spPr>
          <a:xfrm>
            <a:off x="1344168" y="1490472"/>
            <a:ext cx="3502152" cy="960120"/>
          </a:xfrm>
          <a:prstGeom prst="rect">
            <a:avLst/>
          </a:prstGeom>
          <a:noFill/>
          <a:ln/>
        </p:spPr>
        <p:txBody>
          <a:bodyPr wrap="square" lIns="0" tIns="0" rIns="0" bIns="0" rtlCol="0" anchor="t"/>
          <a:lstStyle/>
          <a:p>
            <a:pPr indent="0" marL="0">
              <a:buNone/>
            </a:pPr>
            <a:r>
              <a:rPr lang="en-US" sz="1700" b="1" dirty="0">
                <a:solidFill>
                  <a:schemeClr val="tx2"/>
                </a:solidFill>
              </a:rPr>
              <a:t>New support requests</a:t>
            </a:r>
            <a:endParaRPr lang="en-US" sz="1600" dirty="0"/>
          </a:p>
          <a:p>
            <a:pPr indent="0" marL="0">
              <a:buNone/>
            </a:pPr>
            <a:r>
              <a:rPr lang="en-US" sz="1400" dirty="0">
                <a:solidFill>
                  <a:schemeClr val="tx1"/>
                </a:solidFill>
              </a:rPr>
              <a:t>A student has asked to talk to a counsellor.</a:t>
            </a:r>
            <a:endParaRPr lang="en-US" sz="1600" dirty="0"/>
          </a:p>
        </p:txBody>
      </p:sp>
      <p:sp>
        <p:nvSpPr>
          <p:cNvPr id="6" name="icon-circle-224"/>
          <p:cNvSpPr/>
          <p:nvPr/>
        </p:nvSpPr>
        <p:spPr>
          <a:xfrm>
            <a:off x="548640" y="2560320"/>
            <a:ext cx="566928" cy="566928"/>
          </a:xfrm>
          <a:prstGeom prst="ellipse">
            <a:avLst/>
          </a:prstGeom>
          <a:solidFill>
            <a:schemeClr val="bg2"/>
          </a:solidFill>
          <a:ln/>
        </p:spPr>
      </p:sp>
      <p:pic>
        <p:nvPicPr>
          <p:cNvPr id="7" name="icon-225" descr="preencoded.png">    </p:cNvPr>
          <p:cNvPicPr>
            <a:picLocks noChangeAspect="1"/>
          </p:cNvPicPr>
          <p:nvPr/>
        </p:nvPicPr>
        <p:blipFill>
          <a:blip r:embed="rId2"/>
          <a:stretch>
            <a:fillRect/>
          </a:stretch>
        </p:blipFill>
        <p:spPr>
          <a:xfrm>
            <a:off x="684703" y="2696383"/>
            <a:ext cx="294803" cy="294803"/>
          </a:xfrm>
          <a:prstGeom prst="rect">
            <a:avLst/>
          </a:prstGeom>
        </p:spPr>
      </p:pic>
      <p:sp>
        <p:nvSpPr>
          <p:cNvPr id="8" name="text-226"/>
          <p:cNvSpPr txBox="1"/>
          <p:nvPr/>
        </p:nvSpPr>
        <p:spPr>
          <a:xfrm>
            <a:off x="1344168" y="2542032"/>
            <a:ext cx="3502152" cy="960120"/>
          </a:xfrm>
          <a:prstGeom prst="rect">
            <a:avLst/>
          </a:prstGeom>
          <a:noFill/>
          <a:ln/>
        </p:spPr>
        <p:txBody>
          <a:bodyPr wrap="square" lIns="0" tIns="0" rIns="0" bIns="0" rtlCol="0" anchor="t"/>
          <a:lstStyle/>
          <a:p>
            <a:pPr indent="0" marL="0">
              <a:buNone/>
            </a:pPr>
            <a:r>
              <a:rPr lang="en-US" sz="1700" b="1" dirty="0">
                <a:solidFill>
                  <a:schemeClr val="tx2"/>
                </a:solidFill>
              </a:rPr>
              <a:t>New appointment requests</a:t>
            </a:r>
            <a:endParaRPr lang="en-US" sz="1600" dirty="0"/>
          </a:p>
          <a:p>
            <a:pPr indent="0" marL="0">
              <a:buNone/>
            </a:pPr>
            <a:r>
              <a:rPr lang="en-US" sz="1400" dirty="0">
                <a:solidFill>
                  <a:schemeClr val="tx1"/>
                </a:solidFill>
              </a:rPr>
              <a:t>With the date and time the student prefers.</a:t>
            </a:r>
            <a:endParaRPr lang="en-US" sz="1600" dirty="0"/>
          </a:p>
        </p:txBody>
      </p:sp>
      <p:sp>
        <p:nvSpPr>
          <p:cNvPr id="9" name="icon-circle-227"/>
          <p:cNvSpPr/>
          <p:nvPr/>
        </p:nvSpPr>
        <p:spPr>
          <a:xfrm>
            <a:off x="548640" y="3611880"/>
            <a:ext cx="566928" cy="566928"/>
          </a:xfrm>
          <a:prstGeom prst="ellipse">
            <a:avLst/>
          </a:prstGeom>
          <a:solidFill>
            <a:schemeClr val="bg2"/>
          </a:solidFill>
          <a:ln/>
        </p:spPr>
      </p:sp>
      <p:pic>
        <p:nvPicPr>
          <p:cNvPr id="10" name="icon-228" descr="preencoded.png">    </p:cNvPr>
          <p:cNvPicPr>
            <a:picLocks noChangeAspect="1"/>
          </p:cNvPicPr>
          <p:nvPr/>
        </p:nvPicPr>
        <p:blipFill>
          <a:blip r:embed="rId3"/>
          <a:stretch>
            <a:fillRect/>
          </a:stretch>
        </p:blipFill>
        <p:spPr>
          <a:xfrm>
            <a:off x="684703" y="3747943"/>
            <a:ext cx="294803" cy="294803"/>
          </a:xfrm>
          <a:prstGeom prst="rect">
            <a:avLst/>
          </a:prstGeom>
        </p:spPr>
      </p:pic>
      <p:sp>
        <p:nvSpPr>
          <p:cNvPr id="11" name="text-229"/>
          <p:cNvSpPr txBox="1"/>
          <p:nvPr/>
        </p:nvSpPr>
        <p:spPr>
          <a:xfrm>
            <a:off x="1344168" y="3593592"/>
            <a:ext cx="3502152" cy="960120"/>
          </a:xfrm>
          <a:prstGeom prst="rect">
            <a:avLst/>
          </a:prstGeom>
          <a:noFill/>
          <a:ln/>
        </p:spPr>
        <p:txBody>
          <a:bodyPr wrap="square" lIns="0" tIns="0" rIns="0" bIns="0" rtlCol="0" anchor="t"/>
          <a:lstStyle/>
          <a:p>
            <a:pPr indent="0" marL="0">
              <a:buNone/>
            </a:pPr>
            <a:r>
              <a:rPr lang="en-US" sz="1700" b="1" dirty="0">
                <a:solidFill>
                  <a:schemeClr val="tx2"/>
                </a:solidFill>
              </a:rPr>
              <a:t>Follow-ups completed</a:t>
            </a:r>
            <a:endParaRPr lang="en-US" sz="1600" dirty="0"/>
          </a:p>
          <a:p>
            <a:pPr indent="0" marL="0">
              <a:buNone/>
            </a:pPr>
            <a:r>
              <a:rPr lang="en-US" sz="1400" dirty="0">
                <a:solidFill>
                  <a:schemeClr val="tx1"/>
                </a:solidFill>
              </a:rPr>
              <a:t>A student has finished a task the team set.</a:t>
            </a:r>
            <a:endParaRPr lang="en-US" sz="1600" dirty="0"/>
          </a:p>
        </p:txBody>
      </p:sp>
      <p:sp>
        <p:nvSpPr>
          <p:cNvPr id="12" name="icon-circle-230"/>
          <p:cNvSpPr/>
          <p:nvPr/>
        </p:nvSpPr>
        <p:spPr>
          <a:xfrm>
            <a:off x="548640" y="4663440"/>
            <a:ext cx="566928" cy="566928"/>
          </a:xfrm>
          <a:prstGeom prst="ellipse">
            <a:avLst/>
          </a:prstGeom>
          <a:solidFill>
            <a:schemeClr val="bg2"/>
          </a:solidFill>
          <a:ln/>
        </p:spPr>
      </p:sp>
      <p:pic>
        <p:nvPicPr>
          <p:cNvPr id="13" name="icon-231" descr="preencoded.png">    </p:cNvPr>
          <p:cNvPicPr>
            <a:picLocks noChangeAspect="1"/>
          </p:cNvPicPr>
          <p:nvPr/>
        </p:nvPicPr>
        <p:blipFill>
          <a:blip r:embed="rId4"/>
          <a:stretch>
            <a:fillRect/>
          </a:stretch>
        </p:blipFill>
        <p:spPr>
          <a:xfrm>
            <a:off x="684703" y="4799503"/>
            <a:ext cx="294803" cy="294803"/>
          </a:xfrm>
          <a:prstGeom prst="rect">
            <a:avLst/>
          </a:prstGeom>
        </p:spPr>
      </p:pic>
      <p:sp>
        <p:nvSpPr>
          <p:cNvPr id="14" name="text-232"/>
          <p:cNvSpPr txBox="1"/>
          <p:nvPr/>
        </p:nvSpPr>
        <p:spPr>
          <a:xfrm>
            <a:off x="1344168" y="4645152"/>
            <a:ext cx="3502152" cy="960120"/>
          </a:xfrm>
          <a:prstGeom prst="rect">
            <a:avLst/>
          </a:prstGeom>
          <a:noFill/>
          <a:ln/>
        </p:spPr>
        <p:txBody>
          <a:bodyPr wrap="square" lIns="0" tIns="0" rIns="0" bIns="0" rtlCol="0" anchor="t"/>
          <a:lstStyle/>
          <a:p>
            <a:pPr indent="0" marL="0">
              <a:buNone/>
            </a:pPr>
            <a:r>
              <a:rPr lang="en-US" sz="1700" b="1" dirty="0">
                <a:solidFill>
                  <a:schemeClr val="tx2"/>
                </a:solidFill>
              </a:rPr>
              <a:t>Mark as read</a:t>
            </a:r>
            <a:endParaRPr lang="en-US" sz="1600" dirty="0"/>
          </a:p>
          <a:p>
            <a:pPr indent="0" marL="0">
              <a:buNone/>
            </a:pPr>
            <a:r>
              <a:rPr lang="en-US" sz="1400" dirty="0">
                <a:solidFill>
                  <a:schemeClr val="tx1"/>
                </a:solidFill>
              </a:rPr>
              <a:t>Clear each item once it has been handled.</a:t>
            </a:r>
            <a:endParaRPr lang="en-US" sz="1600" dirty="0"/>
          </a:p>
        </p:txBody>
      </p:sp>
      <p:sp>
        <p:nvSpPr>
          <p:cNvPr id="15" name="screenshot-frame-233"/>
          <p:cNvSpPr/>
          <p:nvPr/>
        </p:nvSpPr>
        <p:spPr>
          <a:xfrm>
            <a:off x="4855464" y="1517904"/>
            <a:ext cx="6839712" cy="3183543"/>
          </a:xfrm>
          <a:prstGeom prst="roundRect">
            <a:avLst>
              <a:gd name="adj" fmla="val 3447"/>
            </a:avLst>
          </a:prstGeom>
          <a:solidFill>
            <a:schemeClr val="bg1"/>
          </a:solidFill>
          <a:ln w="9525">
            <a:solidFill>
              <a:srgbClr val="E2E0F5"/>
            </a:solidFill>
            <a:prstDash val="solid"/>
          </a:ln>
          <a:effectLst>
            <a:outerShdw sx="100000" sy="100000" kx="0" ky="0" algn="bl" rotWithShape="0" blurRad="152400" dist="38100" dir="5400000">
              <a:srgbClr val="1F1B3A">
                <a:alpha val="18000"/>
              </a:srgbClr>
            </a:outerShdw>
          </a:effectLst>
        </p:spPr>
      </p:sp>
      <p:pic>
        <p:nvPicPr>
          <p:cNvPr id="16" name="screenshot-234" descr="Dashboard screenshot">    </p:cNvPr>
          <p:cNvPicPr>
            <a:picLocks noChangeAspect="1"/>
          </p:cNvPicPr>
          <p:nvPr/>
        </p:nvPicPr>
        <p:blipFill>
          <a:blip r:embed="rId5"/>
          <a:stretch>
            <a:fillRect/>
          </a:stretch>
        </p:blipFill>
        <p:spPr>
          <a:xfrm>
            <a:off x="4937760" y="1600200"/>
            <a:ext cx="6675120" cy="3018951"/>
          </a:xfrm>
          <a:prstGeom prst="rect">
            <a:avLst/>
          </a:prstGeom>
        </p:spPr>
      </p:pic>
      <p:sp>
        <p:nvSpPr>
          <p:cNvPr id="17" name="text-235"/>
          <p:cNvSpPr txBox="1"/>
          <p:nvPr/>
        </p:nvSpPr>
        <p:spPr>
          <a:xfrm>
            <a:off x="4937760" y="4802031"/>
            <a:ext cx="6675120" cy="274320"/>
          </a:xfrm>
          <a:prstGeom prst="rect">
            <a:avLst/>
          </a:prstGeom>
          <a:noFill/>
          <a:ln/>
        </p:spPr>
        <p:txBody>
          <a:bodyPr wrap="square" lIns="0" tIns="0" rIns="0" bIns="0" rtlCol="0" anchor="t"/>
          <a:lstStyle/>
          <a:p>
            <a:pPr indent="0" marL="0">
              <a:buNone/>
            </a:pPr>
            <a:r>
              <a:rPr lang="en-US" sz="1100" i="1" dirty="0">
                <a:solidFill>
                  <a:schemeClr val="accent6"/>
                </a:solidFill>
              </a:rPr>
              <a:t>Screens show test data</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Use case: from a worrying answer to a phone call</a:t>
            </a:r>
            <a:endParaRPr lang="en-US" sz="3400" dirty="0"/>
          </a:p>
        </p:txBody>
      </p:sp>
      <p:sp>
        <p:nvSpPr>
          <p:cNvPr id="3" name="card-236"/>
          <p:cNvSpPr/>
          <p:nvPr/>
        </p:nvSpPr>
        <p:spPr>
          <a:xfrm>
            <a:off x="548640" y="1417320"/>
            <a:ext cx="3520440" cy="1920240"/>
          </a:xfrm>
          <a:prstGeom prst="roundRect">
            <a:avLst>
              <a:gd name="adj" fmla="val 6667"/>
            </a:avLst>
          </a:prstGeom>
          <a:solidFill>
            <a:schemeClr val="bg2"/>
          </a:solidFill>
          <a:ln/>
        </p:spPr>
      </p:sp>
      <p:sp>
        <p:nvSpPr>
          <p:cNvPr id="4" name="icon-circle-237"/>
          <p:cNvSpPr/>
          <p:nvPr/>
        </p:nvSpPr>
        <p:spPr>
          <a:xfrm>
            <a:off x="822960" y="1691640"/>
            <a:ext cx="640080" cy="640080"/>
          </a:xfrm>
          <a:prstGeom prst="ellipse">
            <a:avLst/>
          </a:prstGeom>
          <a:solidFill>
            <a:schemeClr val="accent1"/>
          </a:solidFill>
          <a:ln/>
        </p:spPr>
      </p:sp>
      <p:pic>
        <p:nvPicPr>
          <p:cNvPr id="5" name="icon-238" descr="preencoded.png">    </p:cNvPr>
          <p:cNvPicPr>
            <a:picLocks noChangeAspect="1"/>
          </p:cNvPicPr>
          <p:nvPr/>
        </p:nvPicPr>
        <p:blipFill>
          <a:blip r:embed="rId1"/>
          <a:stretch>
            <a:fillRect/>
          </a:stretch>
        </p:blipFill>
        <p:spPr>
          <a:xfrm>
            <a:off x="976579" y="1845259"/>
            <a:ext cx="332842" cy="332842"/>
          </a:xfrm>
          <a:prstGeom prst="rect">
            <a:avLst/>
          </a:prstGeom>
        </p:spPr>
      </p:pic>
      <p:sp>
        <p:nvSpPr>
          <p:cNvPr id="6" name="text-239"/>
          <p:cNvSpPr txBox="1"/>
          <p:nvPr/>
        </p:nvSpPr>
        <p:spPr>
          <a:xfrm>
            <a:off x="3383280" y="1600200"/>
            <a:ext cx="457200" cy="548640"/>
          </a:xfrm>
          <a:prstGeom prst="rect">
            <a:avLst/>
          </a:prstGeom>
          <a:noFill/>
          <a:ln/>
        </p:spPr>
        <p:txBody>
          <a:bodyPr wrap="square" lIns="0" tIns="0" rIns="0" bIns="0" rtlCol="0" anchor="t"/>
          <a:lstStyle/>
          <a:p>
            <a:pPr algn="r" indent="0" marL="0">
              <a:buNone/>
            </a:pPr>
            <a:r>
              <a:rPr lang="en-US" sz="3000" b="1" dirty="0">
                <a:solidFill>
                  <a:srgbClr val="D9D6F5"/>
                </a:solidFill>
                <a:latin typeface="Cambria" pitchFamily="34" charset="0"/>
                <a:ea typeface="Cambria" pitchFamily="34" charset="-122"/>
                <a:cs typeface="Cambria" pitchFamily="34" charset="-120"/>
              </a:rPr>
              <a:t>1</a:t>
            </a:r>
            <a:endParaRPr lang="en-US" sz="3000" dirty="0"/>
          </a:p>
        </p:txBody>
      </p:sp>
      <p:sp>
        <p:nvSpPr>
          <p:cNvPr id="7" name="text-240"/>
          <p:cNvSpPr txBox="1"/>
          <p:nvPr/>
        </p:nvSpPr>
        <p:spPr>
          <a:xfrm>
            <a:off x="822960" y="2423160"/>
            <a:ext cx="3063240" cy="868680"/>
          </a:xfrm>
          <a:prstGeom prst="rect">
            <a:avLst/>
          </a:prstGeom>
          <a:noFill/>
          <a:ln/>
        </p:spPr>
        <p:txBody>
          <a:bodyPr wrap="square" lIns="0" tIns="0" rIns="0" bIns="0" rtlCol="0" anchor="t"/>
          <a:lstStyle/>
          <a:p>
            <a:pPr indent="0" marL="0">
              <a:buNone/>
            </a:pPr>
            <a:r>
              <a:rPr lang="en-US" sz="1700" b="1" dirty="0">
                <a:solidFill>
                  <a:schemeClr val="tx2"/>
                </a:solidFill>
              </a:rPr>
              <a:t>A student answers</a:t>
            </a:r>
            <a:endParaRPr lang="en-US" sz="1600" dirty="0"/>
          </a:p>
          <a:p>
            <a:pPr indent="0" marL="0">
              <a:buNone/>
            </a:pPr>
            <a:r>
              <a:rPr lang="en-US" sz="1400" dirty="0">
                <a:solidFill>
                  <a:schemeClr val="tx1"/>
                </a:solidFill>
              </a:rPr>
              <a:t>During a wellbeing questionnaire, one answer suggests thoughts of self-harm.</a:t>
            </a:r>
            <a:endParaRPr lang="en-US" sz="1600" dirty="0"/>
          </a:p>
        </p:txBody>
      </p:sp>
      <p:sp>
        <p:nvSpPr>
          <p:cNvPr id="8" name="card-241"/>
          <p:cNvSpPr/>
          <p:nvPr/>
        </p:nvSpPr>
        <p:spPr>
          <a:xfrm>
            <a:off x="4297680" y="1417320"/>
            <a:ext cx="3520440" cy="1920240"/>
          </a:xfrm>
          <a:prstGeom prst="roundRect">
            <a:avLst>
              <a:gd name="adj" fmla="val 6667"/>
            </a:avLst>
          </a:prstGeom>
          <a:solidFill>
            <a:schemeClr val="bg2"/>
          </a:solidFill>
          <a:ln/>
        </p:spPr>
      </p:sp>
      <p:sp>
        <p:nvSpPr>
          <p:cNvPr id="9" name="icon-circle-242"/>
          <p:cNvSpPr/>
          <p:nvPr/>
        </p:nvSpPr>
        <p:spPr>
          <a:xfrm>
            <a:off x="4572000" y="1691640"/>
            <a:ext cx="640080" cy="640080"/>
          </a:xfrm>
          <a:prstGeom prst="ellipse">
            <a:avLst/>
          </a:prstGeom>
          <a:solidFill>
            <a:schemeClr val="accent4"/>
          </a:solidFill>
          <a:ln/>
        </p:spPr>
      </p:sp>
      <p:pic>
        <p:nvPicPr>
          <p:cNvPr id="10" name="icon-243" descr="preencoded.png">    </p:cNvPr>
          <p:cNvPicPr>
            <a:picLocks noChangeAspect="1"/>
          </p:cNvPicPr>
          <p:nvPr/>
        </p:nvPicPr>
        <p:blipFill>
          <a:blip r:embed="rId2"/>
          <a:stretch>
            <a:fillRect/>
          </a:stretch>
        </p:blipFill>
        <p:spPr>
          <a:xfrm>
            <a:off x="4725619" y="1845259"/>
            <a:ext cx="332842" cy="332842"/>
          </a:xfrm>
          <a:prstGeom prst="rect">
            <a:avLst/>
          </a:prstGeom>
        </p:spPr>
      </p:pic>
      <p:sp>
        <p:nvSpPr>
          <p:cNvPr id="11" name="text-244"/>
          <p:cNvSpPr txBox="1"/>
          <p:nvPr/>
        </p:nvSpPr>
        <p:spPr>
          <a:xfrm>
            <a:off x="7132320" y="1600200"/>
            <a:ext cx="457200" cy="548640"/>
          </a:xfrm>
          <a:prstGeom prst="rect">
            <a:avLst/>
          </a:prstGeom>
          <a:noFill/>
          <a:ln/>
        </p:spPr>
        <p:txBody>
          <a:bodyPr wrap="square" lIns="0" tIns="0" rIns="0" bIns="0" rtlCol="0" anchor="t"/>
          <a:lstStyle/>
          <a:p>
            <a:pPr algn="r" indent="0" marL="0">
              <a:buNone/>
            </a:pPr>
            <a:r>
              <a:rPr lang="en-US" sz="3000" b="1" dirty="0">
                <a:solidFill>
                  <a:srgbClr val="D9D6F5"/>
                </a:solidFill>
                <a:latin typeface="Cambria" pitchFamily="34" charset="0"/>
                <a:ea typeface="Cambria" pitchFamily="34" charset="-122"/>
                <a:cs typeface="Cambria" pitchFamily="34" charset="-120"/>
              </a:rPr>
              <a:t>2</a:t>
            </a:r>
            <a:endParaRPr lang="en-US" sz="3000" dirty="0"/>
          </a:p>
        </p:txBody>
      </p:sp>
      <p:sp>
        <p:nvSpPr>
          <p:cNvPr id="12" name="text-245"/>
          <p:cNvSpPr txBox="1"/>
          <p:nvPr/>
        </p:nvSpPr>
        <p:spPr>
          <a:xfrm>
            <a:off x="4572000" y="2423160"/>
            <a:ext cx="3063240" cy="868680"/>
          </a:xfrm>
          <a:prstGeom prst="rect">
            <a:avLst/>
          </a:prstGeom>
          <a:noFill/>
          <a:ln/>
        </p:spPr>
        <p:txBody>
          <a:bodyPr wrap="square" lIns="0" tIns="0" rIns="0" bIns="0" rtlCol="0" anchor="t"/>
          <a:lstStyle/>
          <a:p>
            <a:pPr indent="0" marL="0">
              <a:buNone/>
            </a:pPr>
            <a:r>
              <a:rPr lang="en-US" sz="1700" b="1" dirty="0">
                <a:solidFill>
                  <a:schemeClr val="tx2"/>
                </a:solidFill>
              </a:rPr>
              <a:t>An alert is raised</a:t>
            </a:r>
            <a:endParaRPr lang="en-US" sz="1600" dirty="0"/>
          </a:p>
          <a:p>
            <a:pPr indent="0" marL="0">
              <a:buNone/>
            </a:pPr>
            <a:r>
              <a:rPr lang="en-US" sz="1400" dirty="0">
                <a:solidFill>
                  <a:schemeClr val="tx1"/>
                </a:solidFill>
              </a:rPr>
              <a:t>Emotify creates a high-priority alert straight away.</a:t>
            </a:r>
            <a:endParaRPr lang="en-US" sz="1600" dirty="0"/>
          </a:p>
        </p:txBody>
      </p:sp>
      <p:sp>
        <p:nvSpPr>
          <p:cNvPr id="13" name="card-246"/>
          <p:cNvSpPr/>
          <p:nvPr/>
        </p:nvSpPr>
        <p:spPr>
          <a:xfrm>
            <a:off x="8046720" y="1417320"/>
            <a:ext cx="3520440" cy="1920240"/>
          </a:xfrm>
          <a:prstGeom prst="roundRect">
            <a:avLst>
              <a:gd name="adj" fmla="val 6667"/>
            </a:avLst>
          </a:prstGeom>
          <a:solidFill>
            <a:schemeClr val="bg2"/>
          </a:solidFill>
          <a:ln/>
        </p:spPr>
      </p:sp>
      <p:sp>
        <p:nvSpPr>
          <p:cNvPr id="14" name="icon-circle-247"/>
          <p:cNvSpPr/>
          <p:nvPr/>
        </p:nvSpPr>
        <p:spPr>
          <a:xfrm>
            <a:off x="8321040" y="1691640"/>
            <a:ext cx="640080" cy="640080"/>
          </a:xfrm>
          <a:prstGeom prst="ellipse">
            <a:avLst/>
          </a:prstGeom>
          <a:solidFill>
            <a:schemeClr val="accent1"/>
          </a:solidFill>
          <a:ln/>
        </p:spPr>
      </p:sp>
      <p:pic>
        <p:nvPicPr>
          <p:cNvPr id="15" name="icon-248" descr="preencoded.png">    </p:cNvPr>
          <p:cNvPicPr>
            <a:picLocks noChangeAspect="1"/>
          </p:cNvPicPr>
          <p:nvPr/>
        </p:nvPicPr>
        <p:blipFill>
          <a:blip r:embed="rId3"/>
          <a:stretch>
            <a:fillRect/>
          </a:stretch>
        </p:blipFill>
        <p:spPr>
          <a:xfrm>
            <a:off x="8474659" y="1845259"/>
            <a:ext cx="332842" cy="332842"/>
          </a:xfrm>
          <a:prstGeom prst="rect">
            <a:avLst/>
          </a:prstGeom>
        </p:spPr>
      </p:pic>
      <p:sp>
        <p:nvSpPr>
          <p:cNvPr id="16" name="text-249"/>
          <p:cNvSpPr txBox="1"/>
          <p:nvPr/>
        </p:nvSpPr>
        <p:spPr>
          <a:xfrm>
            <a:off x="10881360" y="1600200"/>
            <a:ext cx="457200" cy="548640"/>
          </a:xfrm>
          <a:prstGeom prst="rect">
            <a:avLst/>
          </a:prstGeom>
          <a:noFill/>
          <a:ln/>
        </p:spPr>
        <p:txBody>
          <a:bodyPr wrap="square" lIns="0" tIns="0" rIns="0" bIns="0" rtlCol="0" anchor="t"/>
          <a:lstStyle/>
          <a:p>
            <a:pPr algn="r" indent="0" marL="0">
              <a:buNone/>
            </a:pPr>
            <a:r>
              <a:rPr lang="en-US" sz="3000" b="1" dirty="0">
                <a:solidFill>
                  <a:srgbClr val="D9D6F5"/>
                </a:solidFill>
                <a:latin typeface="Cambria" pitchFamily="34" charset="0"/>
                <a:ea typeface="Cambria" pitchFamily="34" charset="-122"/>
                <a:cs typeface="Cambria" pitchFamily="34" charset="-120"/>
              </a:rPr>
              <a:t>3</a:t>
            </a:r>
            <a:endParaRPr lang="en-US" sz="3000" dirty="0"/>
          </a:p>
        </p:txBody>
      </p:sp>
      <p:sp>
        <p:nvSpPr>
          <p:cNvPr id="17" name="text-250"/>
          <p:cNvSpPr txBox="1"/>
          <p:nvPr/>
        </p:nvSpPr>
        <p:spPr>
          <a:xfrm>
            <a:off x="8321040" y="2423160"/>
            <a:ext cx="3063240" cy="868680"/>
          </a:xfrm>
          <a:prstGeom prst="rect">
            <a:avLst/>
          </a:prstGeom>
          <a:noFill/>
          <a:ln/>
        </p:spPr>
        <p:txBody>
          <a:bodyPr wrap="square" lIns="0" tIns="0" rIns="0" bIns="0" rtlCol="0" anchor="t"/>
          <a:lstStyle/>
          <a:p>
            <a:pPr indent="0" marL="0">
              <a:buNone/>
            </a:pPr>
            <a:r>
              <a:rPr lang="en-US" sz="1700" b="1" dirty="0">
                <a:solidFill>
                  <a:schemeClr val="tx2"/>
                </a:solidFill>
              </a:rPr>
              <a:t>It appears first</a:t>
            </a:r>
            <a:endParaRPr lang="en-US" sz="1600" dirty="0"/>
          </a:p>
          <a:p>
            <a:pPr indent="0" marL="0">
              <a:buNone/>
            </a:pPr>
            <a:r>
              <a:rPr lang="en-US" sz="1400" dirty="0">
                <a:solidFill>
                  <a:schemeClr val="tx1"/>
                </a:solidFill>
              </a:rPr>
              <a:t>The alert sits at the top of “Needs your attention”.</a:t>
            </a:r>
            <a:endParaRPr lang="en-US" sz="1600" dirty="0"/>
          </a:p>
        </p:txBody>
      </p:sp>
      <p:sp>
        <p:nvSpPr>
          <p:cNvPr id="18" name="card-251"/>
          <p:cNvSpPr/>
          <p:nvPr/>
        </p:nvSpPr>
        <p:spPr>
          <a:xfrm>
            <a:off x="548640" y="3566160"/>
            <a:ext cx="3520440" cy="1920240"/>
          </a:xfrm>
          <a:prstGeom prst="roundRect">
            <a:avLst>
              <a:gd name="adj" fmla="val 6667"/>
            </a:avLst>
          </a:prstGeom>
          <a:solidFill>
            <a:schemeClr val="bg2"/>
          </a:solidFill>
          <a:ln/>
        </p:spPr>
      </p:sp>
      <p:sp>
        <p:nvSpPr>
          <p:cNvPr id="19" name="icon-circle-252"/>
          <p:cNvSpPr/>
          <p:nvPr/>
        </p:nvSpPr>
        <p:spPr>
          <a:xfrm>
            <a:off x="822960" y="3840480"/>
            <a:ext cx="640080" cy="640080"/>
          </a:xfrm>
          <a:prstGeom prst="ellipse">
            <a:avLst/>
          </a:prstGeom>
          <a:solidFill>
            <a:schemeClr val="accent1"/>
          </a:solidFill>
          <a:ln/>
        </p:spPr>
      </p:sp>
      <p:pic>
        <p:nvPicPr>
          <p:cNvPr id="20" name="icon-253" descr="preencoded.png">    </p:cNvPr>
          <p:cNvPicPr>
            <a:picLocks noChangeAspect="1"/>
          </p:cNvPicPr>
          <p:nvPr/>
        </p:nvPicPr>
        <p:blipFill>
          <a:blip r:embed="rId4"/>
          <a:stretch>
            <a:fillRect/>
          </a:stretch>
        </p:blipFill>
        <p:spPr>
          <a:xfrm>
            <a:off x="976579" y="3994099"/>
            <a:ext cx="332842" cy="332842"/>
          </a:xfrm>
          <a:prstGeom prst="rect">
            <a:avLst/>
          </a:prstGeom>
        </p:spPr>
      </p:pic>
      <p:sp>
        <p:nvSpPr>
          <p:cNvPr id="21" name="text-254"/>
          <p:cNvSpPr txBox="1"/>
          <p:nvPr/>
        </p:nvSpPr>
        <p:spPr>
          <a:xfrm>
            <a:off x="3383280" y="3749040"/>
            <a:ext cx="457200" cy="548640"/>
          </a:xfrm>
          <a:prstGeom prst="rect">
            <a:avLst/>
          </a:prstGeom>
          <a:noFill/>
          <a:ln/>
        </p:spPr>
        <p:txBody>
          <a:bodyPr wrap="square" lIns="0" tIns="0" rIns="0" bIns="0" rtlCol="0" anchor="t"/>
          <a:lstStyle/>
          <a:p>
            <a:pPr algn="r" indent="0" marL="0">
              <a:buNone/>
            </a:pPr>
            <a:r>
              <a:rPr lang="en-US" sz="3000" b="1" dirty="0">
                <a:solidFill>
                  <a:srgbClr val="D9D6F5"/>
                </a:solidFill>
                <a:latin typeface="Cambria" pitchFamily="34" charset="0"/>
                <a:ea typeface="Cambria" pitchFamily="34" charset="-122"/>
                <a:cs typeface="Cambria" pitchFamily="34" charset="-120"/>
              </a:rPr>
              <a:t>4</a:t>
            </a:r>
            <a:endParaRPr lang="en-US" sz="3000" dirty="0"/>
          </a:p>
        </p:txBody>
      </p:sp>
      <p:sp>
        <p:nvSpPr>
          <p:cNvPr id="22" name="text-255"/>
          <p:cNvSpPr txBox="1"/>
          <p:nvPr/>
        </p:nvSpPr>
        <p:spPr>
          <a:xfrm>
            <a:off x="822960" y="4572000"/>
            <a:ext cx="3063240" cy="868680"/>
          </a:xfrm>
          <a:prstGeom prst="rect">
            <a:avLst/>
          </a:prstGeom>
          <a:noFill/>
          <a:ln/>
        </p:spPr>
        <p:txBody>
          <a:bodyPr wrap="square" lIns="0" tIns="0" rIns="0" bIns="0" rtlCol="0" anchor="t"/>
          <a:lstStyle/>
          <a:p>
            <a:pPr indent="0" marL="0">
              <a:buNone/>
            </a:pPr>
            <a:r>
              <a:rPr lang="en-US" sz="1700" b="1" dirty="0">
                <a:solidFill>
                  <a:schemeClr val="tx2"/>
                </a:solidFill>
              </a:rPr>
              <a:t>The counsellor decides</a:t>
            </a:r>
            <a:endParaRPr lang="en-US" sz="1600" dirty="0"/>
          </a:p>
          <a:p>
            <a:pPr indent="0" marL="0">
              <a:buNone/>
            </a:pPr>
            <a:r>
              <a:rPr lang="en-US" sz="1400" dirty="0">
                <a:solidFill>
                  <a:schemeClr val="tx1"/>
                </a:solidFill>
              </a:rPr>
              <a:t>They review it and choose the right level of support.</a:t>
            </a:r>
            <a:endParaRPr lang="en-US" sz="1600" dirty="0"/>
          </a:p>
        </p:txBody>
      </p:sp>
      <p:sp>
        <p:nvSpPr>
          <p:cNvPr id="23" name="card-256"/>
          <p:cNvSpPr/>
          <p:nvPr/>
        </p:nvSpPr>
        <p:spPr>
          <a:xfrm>
            <a:off x="4297680" y="3566160"/>
            <a:ext cx="3520440" cy="1920240"/>
          </a:xfrm>
          <a:prstGeom prst="roundRect">
            <a:avLst>
              <a:gd name="adj" fmla="val 6667"/>
            </a:avLst>
          </a:prstGeom>
          <a:solidFill>
            <a:schemeClr val="bg2"/>
          </a:solidFill>
          <a:ln/>
        </p:spPr>
      </p:sp>
      <p:sp>
        <p:nvSpPr>
          <p:cNvPr id="24" name="icon-circle-257"/>
          <p:cNvSpPr/>
          <p:nvPr/>
        </p:nvSpPr>
        <p:spPr>
          <a:xfrm>
            <a:off x="4572000" y="3840480"/>
            <a:ext cx="640080" cy="640080"/>
          </a:xfrm>
          <a:prstGeom prst="ellipse">
            <a:avLst/>
          </a:prstGeom>
          <a:solidFill>
            <a:schemeClr val="accent1"/>
          </a:solidFill>
          <a:ln/>
        </p:spPr>
      </p:sp>
      <p:pic>
        <p:nvPicPr>
          <p:cNvPr id="25" name="icon-258" descr="preencoded.png">    </p:cNvPr>
          <p:cNvPicPr>
            <a:picLocks noChangeAspect="1"/>
          </p:cNvPicPr>
          <p:nvPr/>
        </p:nvPicPr>
        <p:blipFill>
          <a:blip r:embed="rId5"/>
          <a:stretch>
            <a:fillRect/>
          </a:stretch>
        </p:blipFill>
        <p:spPr>
          <a:xfrm>
            <a:off x="4725619" y="3994099"/>
            <a:ext cx="332842" cy="332842"/>
          </a:xfrm>
          <a:prstGeom prst="rect">
            <a:avLst/>
          </a:prstGeom>
        </p:spPr>
      </p:pic>
      <p:sp>
        <p:nvSpPr>
          <p:cNvPr id="26" name="text-259"/>
          <p:cNvSpPr txBox="1"/>
          <p:nvPr/>
        </p:nvSpPr>
        <p:spPr>
          <a:xfrm>
            <a:off x="7132320" y="3749040"/>
            <a:ext cx="457200" cy="548640"/>
          </a:xfrm>
          <a:prstGeom prst="rect">
            <a:avLst/>
          </a:prstGeom>
          <a:noFill/>
          <a:ln/>
        </p:spPr>
        <p:txBody>
          <a:bodyPr wrap="square" lIns="0" tIns="0" rIns="0" bIns="0" rtlCol="0" anchor="t"/>
          <a:lstStyle/>
          <a:p>
            <a:pPr algn="r" indent="0" marL="0">
              <a:buNone/>
            </a:pPr>
            <a:r>
              <a:rPr lang="en-US" sz="3000" b="1" dirty="0">
                <a:solidFill>
                  <a:srgbClr val="D9D6F5"/>
                </a:solidFill>
                <a:latin typeface="Cambria" pitchFamily="34" charset="0"/>
                <a:ea typeface="Cambria" pitchFamily="34" charset="-122"/>
                <a:cs typeface="Cambria" pitchFamily="34" charset="-120"/>
              </a:rPr>
              <a:t>5</a:t>
            </a:r>
            <a:endParaRPr lang="en-US" sz="3000" dirty="0"/>
          </a:p>
        </p:txBody>
      </p:sp>
      <p:sp>
        <p:nvSpPr>
          <p:cNvPr id="27" name="text-260"/>
          <p:cNvSpPr txBox="1"/>
          <p:nvPr/>
        </p:nvSpPr>
        <p:spPr>
          <a:xfrm>
            <a:off x="4572000" y="4572000"/>
            <a:ext cx="3063240" cy="868680"/>
          </a:xfrm>
          <a:prstGeom prst="rect">
            <a:avLst/>
          </a:prstGeom>
          <a:noFill/>
          <a:ln/>
        </p:spPr>
        <p:txBody>
          <a:bodyPr wrap="square" lIns="0" tIns="0" rIns="0" bIns="0" rtlCol="0" anchor="t"/>
          <a:lstStyle/>
          <a:p>
            <a:pPr indent="0" marL="0">
              <a:buNone/>
            </a:pPr>
            <a:r>
              <a:rPr lang="en-US" sz="1700" b="1" dirty="0">
                <a:solidFill>
                  <a:schemeClr val="tx2"/>
                </a:solidFill>
              </a:rPr>
              <a:t>They reach out</a:t>
            </a:r>
            <a:endParaRPr lang="en-US" sz="1600" dirty="0"/>
          </a:p>
          <a:p>
            <a:pPr indent="0" marL="0">
              <a:buNone/>
            </a:pPr>
            <a:r>
              <a:rPr lang="en-US" sz="1400" dirty="0">
                <a:solidFill>
                  <a:schemeClr val="tx1"/>
                </a:solidFill>
              </a:rPr>
              <a:t>A call is made or a session is booked.</a:t>
            </a:r>
            <a:endParaRPr lang="en-US" sz="1600" dirty="0"/>
          </a:p>
        </p:txBody>
      </p:sp>
      <p:sp>
        <p:nvSpPr>
          <p:cNvPr id="28" name="card-261"/>
          <p:cNvSpPr/>
          <p:nvPr/>
        </p:nvSpPr>
        <p:spPr>
          <a:xfrm>
            <a:off x="8046720" y="3566160"/>
            <a:ext cx="3520440" cy="1920240"/>
          </a:xfrm>
          <a:prstGeom prst="roundRect">
            <a:avLst>
              <a:gd name="adj" fmla="val 6667"/>
            </a:avLst>
          </a:prstGeom>
          <a:solidFill>
            <a:schemeClr val="bg2"/>
          </a:solidFill>
          <a:ln/>
        </p:spPr>
      </p:sp>
      <p:sp>
        <p:nvSpPr>
          <p:cNvPr id="29" name="icon-circle-262"/>
          <p:cNvSpPr/>
          <p:nvPr/>
        </p:nvSpPr>
        <p:spPr>
          <a:xfrm>
            <a:off x="8321040" y="3840480"/>
            <a:ext cx="640080" cy="640080"/>
          </a:xfrm>
          <a:prstGeom prst="ellipse">
            <a:avLst/>
          </a:prstGeom>
          <a:solidFill>
            <a:schemeClr val="accent1"/>
          </a:solidFill>
          <a:ln/>
        </p:spPr>
      </p:sp>
      <p:pic>
        <p:nvPicPr>
          <p:cNvPr id="30" name="icon-263" descr="preencoded.png">    </p:cNvPr>
          <p:cNvPicPr>
            <a:picLocks noChangeAspect="1"/>
          </p:cNvPicPr>
          <p:nvPr/>
        </p:nvPicPr>
        <p:blipFill>
          <a:blip r:embed="rId6"/>
          <a:stretch>
            <a:fillRect/>
          </a:stretch>
        </p:blipFill>
        <p:spPr>
          <a:xfrm>
            <a:off x="8474659" y="3994099"/>
            <a:ext cx="332842" cy="332842"/>
          </a:xfrm>
          <a:prstGeom prst="rect">
            <a:avLst/>
          </a:prstGeom>
        </p:spPr>
      </p:pic>
      <p:sp>
        <p:nvSpPr>
          <p:cNvPr id="31" name="text-264"/>
          <p:cNvSpPr txBox="1"/>
          <p:nvPr/>
        </p:nvSpPr>
        <p:spPr>
          <a:xfrm>
            <a:off x="10881360" y="3749040"/>
            <a:ext cx="457200" cy="548640"/>
          </a:xfrm>
          <a:prstGeom prst="rect">
            <a:avLst/>
          </a:prstGeom>
          <a:noFill/>
          <a:ln/>
        </p:spPr>
        <p:txBody>
          <a:bodyPr wrap="square" lIns="0" tIns="0" rIns="0" bIns="0" rtlCol="0" anchor="t"/>
          <a:lstStyle/>
          <a:p>
            <a:pPr algn="r" indent="0" marL="0">
              <a:buNone/>
            </a:pPr>
            <a:r>
              <a:rPr lang="en-US" sz="3000" b="1" dirty="0">
                <a:solidFill>
                  <a:srgbClr val="D9D6F5"/>
                </a:solidFill>
                <a:latin typeface="Cambria" pitchFamily="34" charset="0"/>
                <a:ea typeface="Cambria" pitchFamily="34" charset="-122"/>
                <a:cs typeface="Cambria" pitchFamily="34" charset="-120"/>
              </a:rPr>
              <a:t>6</a:t>
            </a:r>
            <a:endParaRPr lang="en-US" sz="3000" dirty="0"/>
          </a:p>
        </p:txBody>
      </p:sp>
      <p:sp>
        <p:nvSpPr>
          <p:cNvPr id="32" name="text-265"/>
          <p:cNvSpPr txBox="1"/>
          <p:nvPr/>
        </p:nvSpPr>
        <p:spPr>
          <a:xfrm>
            <a:off x="8321040" y="4572000"/>
            <a:ext cx="3063240" cy="868680"/>
          </a:xfrm>
          <a:prstGeom prst="rect">
            <a:avLst/>
          </a:prstGeom>
          <a:noFill/>
          <a:ln/>
        </p:spPr>
        <p:txBody>
          <a:bodyPr wrap="square" lIns="0" tIns="0" rIns="0" bIns="0" rtlCol="0" anchor="t"/>
          <a:lstStyle/>
          <a:p>
            <a:pPr indent="0" marL="0">
              <a:buNone/>
            </a:pPr>
            <a:r>
              <a:rPr lang="en-US" sz="1700" b="1" dirty="0">
                <a:solidFill>
                  <a:schemeClr val="tx2"/>
                </a:solidFill>
              </a:rPr>
              <a:t>It is followed through</a:t>
            </a:r>
            <a:endParaRPr lang="en-US" sz="1600" dirty="0"/>
          </a:p>
          <a:p>
            <a:pPr indent="0" marL="0">
              <a:buNone/>
            </a:pPr>
            <a:r>
              <a:rPr lang="en-US" sz="1400" dirty="0">
                <a:solidFill>
                  <a:schemeClr val="tx1"/>
                </a:solidFill>
              </a:rPr>
              <a:t>The follow-up is tracked until it is completed.</a:t>
            </a:r>
            <a:endParaRPr lang="en-US" sz="1600" dirty="0"/>
          </a:p>
        </p:txBody>
      </p:sp>
      <p:sp>
        <p:nvSpPr>
          <p:cNvPr id="33" name="text-266"/>
          <p:cNvSpPr txBox="1"/>
          <p:nvPr/>
        </p:nvSpPr>
        <p:spPr>
          <a:xfrm>
            <a:off x="548640" y="5852160"/>
            <a:ext cx="11064240" cy="320040"/>
          </a:xfrm>
          <a:prstGeom prst="rect">
            <a:avLst/>
          </a:prstGeom>
          <a:noFill/>
          <a:ln/>
        </p:spPr>
        <p:txBody>
          <a:bodyPr wrap="square" lIns="0" tIns="0" rIns="0" bIns="0" rtlCol="0" anchor="t"/>
          <a:lstStyle/>
          <a:p>
            <a:pPr indent="0" marL="0">
              <a:buNone/>
            </a:pPr>
            <a:r>
              <a:rPr lang="en-US" sz="1200" i="1" dirty="0">
                <a:solidFill>
                  <a:schemeClr val="accent6"/>
                </a:solidFill>
              </a:rPr>
              <a:t>An illustrative example based on the test data shown in this presentation.</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chemeClr val="tx2"/>
                </a:solidFill>
                <a:latin typeface="Cambria" pitchFamily="34" charset="0"/>
                <a:ea typeface="Cambria" pitchFamily="34" charset="-122"/>
                <a:cs typeface="Cambria" pitchFamily="34" charset="-120"/>
              </a:rPr>
              <a:t>What it means for your institution</a:t>
            </a:r>
            <a:endParaRPr lang="en-US" sz="3400" dirty="0"/>
          </a:p>
        </p:txBody>
      </p:sp>
      <p:sp>
        <p:nvSpPr>
          <p:cNvPr id="3" name="card-267"/>
          <p:cNvSpPr/>
          <p:nvPr/>
        </p:nvSpPr>
        <p:spPr>
          <a:xfrm>
            <a:off x="548640" y="1463040"/>
            <a:ext cx="3520440" cy="3749040"/>
          </a:xfrm>
          <a:prstGeom prst="roundRect">
            <a:avLst>
              <a:gd name="adj" fmla="val 3636"/>
            </a:avLst>
          </a:prstGeom>
          <a:solidFill>
            <a:schemeClr val="bg2"/>
          </a:solidFill>
          <a:ln/>
        </p:spPr>
      </p:sp>
      <p:sp>
        <p:nvSpPr>
          <p:cNvPr id="4" name="icon-circle-268"/>
          <p:cNvSpPr/>
          <p:nvPr/>
        </p:nvSpPr>
        <p:spPr>
          <a:xfrm>
            <a:off x="868680" y="1737360"/>
            <a:ext cx="777240" cy="777240"/>
          </a:xfrm>
          <a:prstGeom prst="ellipse">
            <a:avLst/>
          </a:prstGeom>
          <a:solidFill>
            <a:schemeClr val="accent1"/>
          </a:solidFill>
          <a:ln/>
        </p:spPr>
      </p:sp>
      <p:pic>
        <p:nvPicPr>
          <p:cNvPr id="5" name="icon-269" descr="preencoded.png">    </p:cNvPr>
          <p:cNvPicPr>
            <a:picLocks noChangeAspect="1"/>
          </p:cNvPicPr>
          <p:nvPr/>
        </p:nvPicPr>
        <p:blipFill>
          <a:blip r:embed="rId1"/>
          <a:stretch>
            <a:fillRect/>
          </a:stretch>
        </p:blipFill>
        <p:spPr>
          <a:xfrm>
            <a:off x="1055218" y="1923898"/>
            <a:ext cx="404165" cy="404165"/>
          </a:xfrm>
          <a:prstGeom prst="rect">
            <a:avLst/>
          </a:prstGeom>
        </p:spPr>
      </p:pic>
      <p:sp>
        <p:nvSpPr>
          <p:cNvPr id="6" name="text-270"/>
          <p:cNvSpPr txBox="1"/>
          <p:nvPr/>
        </p:nvSpPr>
        <p:spPr>
          <a:xfrm>
            <a:off x="868680" y="2697480"/>
            <a:ext cx="2926080" cy="457200"/>
          </a:xfrm>
          <a:prstGeom prst="rect">
            <a:avLst/>
          </a:prstGeom>
          <a:noFill/>
          <a:ln/>
        </p:spPr>
        <p:txBody>
          <a:bodyPr wrap="square" lIns="0" tIns="0" rIns="0" bIns="0" rtlCol="0" anchor="t"/>
          <a:lstStyle/>
          <a:p>
            <a:pPr indent="0" marL="0">
              <a:buNone/>
            </a:pPr>
            <a:r>
              <a:rPr lang="en-US" sz="2100" b="1" dirty="0">
                <a:solidFill>
                  <a:schemeClr val="tx2"/>
                </a:solidFill>
              </a:rPr>
              <a:t>For counsellors</a:t>
            </a:r>
            <a:endParaRPr lang="en-US" sz="2100" dirty="0"/>
          </a:p>
        </p:txBody>
      </p:sp>
      <p:sp>
        <p:nvSpPr>
          <p:cNvPr id="7" name="text-271"/>
          <p:cNvSpPr txBox="1"/>
          <p:nvPr/>
        </p:nvSpPr>
        <p:spPr>
          <a:xfrm>
            <a:off x="868680" y="3291840"/>
            <a:ext cx="2971800" cy="178308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chemeClr val="tx1"/>
                </a:solidFill>
              </a:rPr>
              <a:t>Time goes to the students who need it most</a:t>
            </a:r>
            <a:endParaRPr lang="en-US" sz="1600" dirty="0"/>
          </a:p>
          <a:p>
            <a:pPr marL="228600" indent="-228600">
              <a:spcAft>
                <a:spcPts val="1000"/>
              </a:spcAft>
              <a:buSzPct val="100000"/>
              <a:buChar char="•"/>
            </a:pPr>
            <a:r>
              <a:rPr lang="en-US" sz="1600" dirty="0">
                <a:solidFill>
                  <a:schemeClr val="tx1"/>
                </a:solidFill>
              </a:rPr>
              <a:t>One place for alerts, requests and sessions</a:t>
            </a:r>
            <a:endParaRPr lang="en-US" sz="1600" dirty="0"/>
          </a:p>
          <a:p>
            <a:pPr marL="228600" indent="-228600">
              <a:spcAft>
                <a:spcPts val="1000"/>
              </a:spcAft>
              <a:buSzPct val="100000"/>
              <a:buChar char="•"/>
            </a:pPr>
            <a:r>
              <a:rPr lang="en-US" sz="1600" dirty="0">
                <a:solidFill>
                  <a:schemeClr val="tx1"/>
                </a:solidFill>
              </a:rPr>
              <a:t>Clear records of what was done</a:t>
            </a:r>
            <a:endParaRPr lang="en-US" sz="1600" dirty="0"/>
          </a:p>
        </p:txBody>
      </p:sp>
      <p:sp>
        <p:nvSpPr>
          <p:cNvPr id="8" name="card-272"/>
          <p:cNvSpPr/>
          <p:nvPr/>
        </p:nvSpPr>
        <p:spPr>
          <a:xfrm>
            <a:off x="4297680" y="1463040"/>
            <a:ext cx="3520440" cy="3749040"/>
          </a:xfrm>
          <a:prstGeom prst="roundRect">
            <a:avLst>
              <a:gd name="adj" fmla="val 3636"/>
            </a:avLst>
          </a:prstGeom>
          <a:solidFill>
            <a:schemeClr val="bg2"/>
          </a:solidFill>
          <a:ln/>
        </p:spPr>
      </p:sp>
      <p:sp>
        <p:nvSpPr>
          <p:cNvPr id="9" name="icon-circle-273"/>
          <p:cNvSpPr/>
          <p:nvPr/>
        </p:nvSpPr>
        <p:spPr>
          <a:xfrm>
            <a:off x="4617720" y="1737360"/>
            <a:ext cx="777240" cy="777240"/>
          </a:xfrm>
          <a:prstGeom prst="ellipse">
            <a:avLst/>
          </a:prstGeom>
          <a:solidFill>
            <a:schemeClr val="accent1"/>
          </a:solidFill>
          <a:ln/>
        </p:spPr>
      </p:sp>
      <p:pic>
        <p:nvPicPr>
          <p:cNvPr id="10" name="icon-274" descr="preencoded.png">    </p:cNvPr>
          <p:cNvPicPr>
            <a:picLocks noChangeAspect="1"/>
          </p:cNvPicPr>
          <p:nvPr/>
        </p:nvPicPr>
        <p:blipFill>
          <a:blip r:embed="rId2"/>
          <a:stretch>
            <a:fillRect/>
          </a:stretch>
        </p:blipFill>
        <p:spPr>
          <a:xfrm>
            <a:off x="4804258" y="1923898"/>
            <a:ext cx="404165" cy="404165"/>
          </a:xfrm>
          <a:prstGeom prst="rect">
            <a:avLst/>
          </a:prstGeom>
        </p:spPr>
      </p:pic>
      <p:sp>
        <p:nvSpPr>
          <p:cNvPr id="11" name="text-275"/>
          <p:cNvSpPr txBox="1"/>
          <p:nvPr/>
        </p:nvSpPr>
        <p:spPr>
          <a:xfrm>
            <a:off x="4617720" y="2697480"/>
            <a:ext cx="2926080" cy="457200"/>
          </a:xfrm>
          <a:prstGeom prst="rect">
            <a:avLst/>
          </a:prstGeom>
          <a:noFill/>
          <a:ln/>
        </p:spPr>
        <p:txBody>
          <a:bodyPr wrap="square" lIns="0" tIns="0" rIns="0" bIns="0" rtlCol="0" anchor="t"/>
          <a:lstStyle/>
          <a:p>
            <a:pPr indent="0" marL="0">
              <a:buNone/>
            </a:pPr>
            <a:r>
              <a:rPr lang="en-US" sz="2100" b="1" dirty="0">
                <a:solidFill>
                  <a:schemeClr val="tx2"/>
                </a:solidFill>
              </a:rPr>
              <a:t>For students</a:t>
            </a:r>
            <a:endParaRPr lang="en-US" sz="2100" dirty="0"/>
          </a:p>
        </p:txBody>
      </p:sp>
      <p:sp>
        <p:nvSpPr>
          <p:cNvPr id="12" name="text-276"/>
          <p:cNvSpPr txBox="1"/>
          <p:nvPr/>
        </p:nvSpPr>
        <p:spPr>
          <a:xfrm>
            <a:off x="4617720" y="3291840"/>
            <a:ext cx="2971800" cy="178308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chemeClr val="tx1"/>
                </a:solidFill>
              </a:rPr>
              <a:t>Help arrives sooner, even if they don’t ask</a:t>
            </a:r>
            <a:endParaRPr lang="en-US" sz="1600" dirty="0"/>
          </a:p>
          <a:p>
            <a:pPr marL="228600" indent="-228600">
              <a:spcAft>
                <a:spcPts val="1000"/>
              </a:spcAft>
              <a:buSzPct val="100000"/>
              <a:buChar char="•"/>
            </a:pPr>
            <a:r>
              <a:rPr lang="en-US" sz="1600" dirty="0">
                <a:solidFill>
                  <a:schemeClr val="tx1"/>
                </a:solidFill>
              </a:rPr>
              <a:t>Support matched to how they are doing</a:t>
            </a:r>
            <a:endParaRPr lang="en-US" sz="1600" dirty="0"/>
          </a:p>
          <a:p>
            <a:pPr marL="228600" indent="-228600">
              <a:spcAft>
                <a:spcPts val="1000"/>
              </a:spcAft>
              <a:buSzPct val="100000"/>
              <a:buChar char="•"/>
            </a:pPr>
            <a:r>
              <a:rPr lang="en-US" sz="1600" dirty="0">
                <a:solidFill>
                  <a:schemeClr val="tx1"/>
                </a:solidFill>
              </a:rPr>
              <a:t>A friendly app they actually use</a:t>
            </a:r>
            <a:endParaRPr lang="en-US" sz="1600" dirty="0"/>
          </a:p>
        </p:txBody>
      </p:sp>
      <p:sp>
        <p:nvSpPr>
          <p:cNvPr id="13" name="card-277"/>
          <p:cNvSpPr/>
          <p:nvPr/>
        </p:nvSpPr>
        <p:spPr>
          <a:xfrm>
            <a:off x="8046720" y="1463040"/>
            <a:ext cx="3520440" cy="3749040"/>
          </a:xfrm>
          <a:prstGeom prst="roundRect">
            <a:avLst>
              <a:gd name="adj" fmla="val 3636"/>
            </a:avLst>
          </a:prstGeom>
          <a:solidFill>
            <a:schemeClr val="bg2"/>
          </a:solidFill>
          <a:ln/>
        </p:spPr>
      </p:sp>
      <p:sp>
        <p:nvSpPr>
          <p:cNvPr id="14" name="icon-circle-278"/>
          <p:cNvSpPr/>
          <p:nvPr/>
        </p:nvSpPr>
        <p:spPr>
          <a:xfrm>
            <a:off x="8366760" y="1737360"/>
            <a:ext cx="777240" cy="777240"/>
          </a:xfrm>
          <a:prstGeom prst="ellipse">
            <a:avLst/>
          </a:prstGeom>
          <a:solidFill>
            <a:schemeClr val="accent1"/>
          </a:solidFill>
          <a:ln/>
        </p:spPr>
      </p:sp>
      <p:pic>
        <p:nvPicPr>
          <p:cNvPr id="15" name="icon-279" descr="preencoded.png">    </p:cNvPr>
          <p:cNvPicPr>
            <a:picLocks noChangeAspect="1"/>
          </p:cNvPicPr>
          <p:nvPr/>
        </p:nvPicPr>
        <p:blipFill>
          <a:blip r:embed="rId3"/>
          <a:stretch>
            <a:fillRect/>
          </a:stretch>
        </p:blipFill>
        <p:spPr>
          <a:xfrm>
            <a:off x="8553298" y="1923898"/>
            <a:ext cx="404165" cy="404165"/>
          </a:xfrm>
          <a:prstGeom prst="rect">
            <a:avLst/>
          </a:prstGeom>
        </p:spPr>
      </p:pic>
      <p:sp>
        <p:nvSpPr>
          <p:cNvPr id="16" name="text-280"/>
          <p:cNvSpPr txBox="1"/>
          <p:nvPr/>
        </p:nvSpPr>
        <p:spPr>
          <a:xfrm>
            <a:off x="8366760" y="2697480"/>
            <a:ext cx="2926080" cy="457200"/>
          </a:xfrm>
          <a:prstGeom prst="rect">
            <a:avLst/>
          </a:prstGeom>
          <a:noFill/>
          <a:ln/>
        </p:spPr>
        <p:txBody>
          <a:bodyPr wrap="square" lIns="0" tIns="0" rIns="0" bIns="0" rtlCol="0" anchor="t"/>
          <a:lstStyle/>
          <a:p>
            <a:pPr indent="0" marL="0">
              <a:buNone/>
            </a:pPr>
            <a:r>
              <a:rPr lang="en-US" sz="2100" b="1" dirty="0">
                <a:solidFill>
                  <a:schemeClr val="tx2"/>
                </a:solidFill>
              </a:rPr>
              <a:t>For the institution</a:t>
            </a:r>
            <a:endParaRPr lang="en-US" sz="2100" dirty="0"/>
          </a:p>
        </p:txBody>
      </p:sp>
      <p:sp>
        <p:nvSpPr>
          <p:cNvPr id="17" name="text-281"/>
          <p:cNvSpPr txBox="1"/>
          <p:nvPr/>
        </p:nvSpPr>
        <p:spPr>
          <a:xfrm>
            <a:off x="8366760" y="3291840"/>
            <a:ext cx="2971800" cy="178308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chemeClr val="tx1"/>
                </a:solidFill>
              </a:rPr>
              <a:t>A live picture of student wellbeing</a:t>
            </a:r>
            <a:endParaRPr lang="en-US" sz="1600" dirty="0"/>
          </a:p>
          <a:p>
            <a:pPr marL="228600" indent="-228600">
              <a:spcAft>
                <a:spcPts val="1000"/>
              </a:spcAft>
              <a:buSzPct val="100000"/>
              <a:buChar char="•"/>
            </a:pPr>
            <a:r>
              <a:rPr lang="en-US" sz="1600" dirty="0">
                <a:solidFill>
                  <a:schemeClr val="tx1"/>
                </a:solidFill>
              </a:rPr>
              <a:t>Based on well-established questionnaires</a:t>
            </a:r>
            <a:endParaRPr lang="en-US" sz="1600" dirty="0"/>
          </a:p>
          <a:p>
            <a:pPr marL="228600" indent="-228600">
              <a:spcAft>
                <a:spcPts val="1000"/>
              </a:spcAft>
              <a:buSzPct val="100000"/>
              <a:buChar char="•"/>
            </a:pPr>
            <a:r>
              <a:rPr lang="en-US" sz="1600" dirty="0">
                <a:solidFill>
                  <a:schemeClr val="tx1"/>
                </a:solidFill>
              </a:rPr>
              <a:t>Confidence that concerns are followed up</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5760720" cy="182880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See who needs help.</a:t>
            </a:r>
            <a:endParaRPr lang="en-US" sz="4400" dirty="0"/>
          </a:p>
          <a:p>
            <a:pPr algn="l" indent="0" marL="0">
              <a:buNone/>
            </a:pPr>
            <a:r>
              <a:rPr lang="en-US" sz="4400" b="1" dirty="0">
                <a:solidFill>
                  <a:schemeClr val="bg1"/>
                </a:solidFill>
                <a:latin typeface="Cambria" pitchFamily="34" charset="0"/>
                <a:ea typeface="Cambria" pitchFamily="34" charset="-122"/>
                <a:cs typeface="Cambria" pitchFamily="34" charset="-120"/>
              </a:rPr>
              <a:t>Decide quickly.</a:t>
            </a:r>
            <a:endParaRPr lang="en-US" sz="4400" dirty="0"/>
          </a:p>
          <a:p>
            <a:pPr algn="l" indent="0" marL="0">
              <a:buNone/>
            </a:pPr>
            <a:r>
              <a:rPr lang="en-US" sz="4400" b="1" dirty="0">
                <a:solidFill>
                  <a:schemeClr val="bg1"/>
                </a:solidFill>
                <a:latin typeface="Cambria" pitchFamily="34" charset="0"/>
                <a:ea typeface="Cambria" pitchFamily="34" charset="-122"/>
                <a:cs typeface="Cambria" pitchFamily="34" charset="-120"/>
              </a:rPr>
              <a:t>Follow through.</a:t>
            </a:r>
            <a:endParaRPr lang="en-US" sz="4400" dirty="0"/>
          </a:p>
        </p:txBody>
      </p:sp>
      <p:sp>
        <p:nvSpPr>
          <p:cNvPr id="3" name="Text 0"/>
          <p:cNvSpPr/>
          <p:nvPr>
            <p:ph idx="101" type="body" hasCustomPrompt="1"/>
          </p:nvPr>
        </p:nvSpPr>
        <p:spPr>
          <a:xfrm>
            <a:off x="640080" y="3840480"/>
            <a:ext cx="5486400" cy="1097280"/>
          </a:xfrm>
          <a:prstGeom prst="rect">
            <a:avLst/>
          </a:prstGeom>
          <a:noFill/>
          <a:ln/>
        </p:spPr>
        <p:txBody>
          <a:bodyPr wrap="square" lIns="0" tIns="0" rIns="0" bIns="0" rtlCol="0" anchor="t"/>
          <a:lstStyle/>
          <a:p>
            <a:pPr algn="l" indent="0" marL="0">
              <a:buNone/>
            </a:pPr>
            <a:r>
              <a:rPr lang="en-US" sz="2000" dirty="0">
                <a:solidFill>
                  <a:schemeClr val="bg2"/>
                </a:solidFill>
              </a:rPr>
              <a:t>Thank you</a:t>
            </a:r>
            <a:endParaRPr lang="en-US" sz="2000" dirty="0"/>
          </a:p>
        </p:txBody>
      </p:sp>
      <p:sp>
        <p:nvSpPr>
          <p:cNvPr id="4" name="text-282"/>
          <p:cNvSpPr txBox="1"/>
          <p:nvPr/>
        </p:nvSpPr>
        <p:spPr>
          <a:xfrm>
            <a:off x="7132320" y="1737360"/>
            <a:ext cx="4480560" cy="457200"/>
          </a:xfrm>
          <a:prstGeom prst="rect">
            <a:avLst/>
          </a:prstGeom>
          <a:noFill/>
          <a:ln/>
        </p:spPr>
        <p:txBody>
          <a:bodyPr wrap="square" lIns="0" tIns="0" rIns="0" bIns="0" rtlCol="0" anchor="t"/>
          <a:lstStyle/>
          <a:p>
            <a:pPr indent="0" marL="0">
              <a:buNone/>
            </a:pPr>
            <a:r>
              <a:rPr lang="en-US" sz="2000" b="1" dirty="0">
                <a:solidFill>
                  <a:schemeClr val="bg1"/>
                </a:solidFill>
              </a:rPr>
              <a:t>Suggested next steps</a:t>
            </a:r>
            <a:endParaRPr lang="en-US" sz="2000" dirty="0"/>
          </a:p>
        </p:txBody>
      </p:sp>
      <p:sp>
        <p:nvSpPr>
          <p:cNvPr id="5" name="icon-circle-283"/>
          <p:cNvSpPr/>
          <p:nvPr/>
        </p:nvSpPr>
        <p:spPr>
          <a:xfrm>
            <a:off x="7132320" y="2423160"/>
            <a:ext cx="685800" cy="685800"/>
          </a:xfrm>
          <a:prstGeom prst="ellipse">
            <a:avLst/>
          </a:prstGeom>
          <a:solidFill>
            <a:schemeClr val="bg2"/>
          </a:solidFill>
          <a:ln/>
        </p:spPr>
      </p:sp>
      <p:pic>
        <p:nvPicPr>
          <p:cNvPr id="6" name="icon-284" descr="preencoded.png">    </p:cNvPr>
          <p:cNvPicPr>
            <a:picLocks noChangeAspect="1"/>
          </p:cNvPicPr>
          <p:nvPr/>
        </p:nvPicPr>
        <p:blipFill>
          <a:blip r:embed="rId1"/>
          <a:stretch>
            <a:fillRect/>
          </a:stretch>
        </p:blipFill>
        <p:spPr>
          <a:xfrm>
            <a:off x="7296912" y="2587752"/>
            <a:ext cx="356616" cy="356616"/>
          </a:xfrm>
          <a:prstGeom prst="rect">
            <a:avLst/>
          </a:prstGeom>
        </p:spPr>
      </p:pic>
      <p:sp>
        <p:nvSpPr>
          <p:cNvPr id="7" name="text-285"/>
          <p:cNvSpPr txBox="1"/>
          <p:nvPr/>
        </p:nvSpPr>
        <p:spPr>
          <a:xfrm>
            <a:off x="8046720" y="2423160"/>
            <a:ext cx="3657600" cy="685800"/>
          </a:xfrm>
          <a:prstGeom prst="rect">
            <a:avLst/>
          </a:prstGeom>
          <a:noFill/>
          <a:ln/>
        </p:spPr>
        <p:txBody>
          <a:bodyPr wrap="square" lIns="0" tIns="0" rIns="0" bIns="0" rtlCol="0" anchor="ctr"/>
          <a:lstStyle/>
          <a:p>
            <a:pPr indent="0" marL="0">
              <a:buNone/>
            </a:pPr>
            <a:r>
              <a:rPr lang="en-US" sz="1700" dirty="0">
                <a:solidFill>
                  <a:schemeClr val="bg1"/>
                </a:solidFill>
              </a:rPr>
              <a:t>Live demo with your counselling team</a:t>
            </a:r>
            <a:endParaRPr lang="en-US" sz="1700" dirty="0"/>
          </a:p>
        </p:txBody>
      </p:sp>
      <p:sp>
        <p:nvSpPr>
          <p:cNvPr id="8" name="icon-circle-286"/>
          <p:cNvSpPr/>
          <p:nvPr/>
        </p:nvSpPr>
        <p:spPr>
          <a:xfrm>
            <a:off x="7132320" y="3429000"/>
            <a:ext cx="685800" cy="685800"/>
          </a:xfrm>
          <a:prstGeom prst="ellipse">
            <a:avLst/>
          </a:prstGeom>
          <a:solidFill>
            <a:schemeClr val="bg2"/>
          </a:solidFill>
          <a:ln/>
        </p:spPr>
      </p:sp>
      <p:pic>
        <p:nvPicPr>
          <p:cNvPr id="9" name="icon-287" descr="preencoded.png">    </p:cNvPr>
          <p:cNvPicPr>
            <a:picLocks noChangeAspect="1"/>
          </p:cNvPicPr>
          <p:nvPr/>
        </p:nvPicPr>
        <p:blipFill>
          <a:blip r:embed="rId2"/>
          <a:stretch>
            <a:fillRect/>
          </a:stretch>
        </p:blipFill>
        <p:spPr>
          <a:xfrm>
            <a:off x="7296912" y="3593592"/>
            <a:ext cx="356616" cy="356616"/>
          </a:xfrm>
          <a:prstGeom prst="rect">
            <a:avLst/>
          </a:prstGeom>
        </p:spPr>
      </p:pic>
      <p:sp>
        <p:nvSpPr>
          <p:cNvPr id="10" name="text-288"/>
          <p:cNvSpPr txBox="1"/>
          <p:nvPr/>
        </p:nvSpPr>
        <p:spPr>
          <a:xfrm>
            <a:off x="8046720" y="3429000"/>
            <a:ext cx="3657600" cy="685800"/>
          </a:xfrm>
          <a:prstGeom prst="rect">
            <a:avLst/>
          </a:prstGeom>
          <a:noFill/>
          <a:ln/>
        </p:spPr>
        <p:txBody>
          <a:bodyPr wrap="square" lIns="0" tIns="0" rIns="0" bIns="0" rtlCol="0" anchor="ctr"/>
          <a:lstStyle/>
          <a:p>
            <a:pPr indent="0" marL="0">
              <a:buNone/>
            </a:pPr>
            <a:r>
              <a:rPr lang="en-US" sz="1700" dirty="0">
                <a:solidFill>
                  <a:schemeClr val="bg1"/>
                </a:solidFill>
              </a:rPr>
              <a:t>Agree how alerts and follow-ups are handled</a:t>
            </a:r>
            <a:endParaRPr lang="en-US" sz="1700" dirty="0"/>
          </a:p>
        </p:txBody>
      </p:sp>
      <p:sp>
        <p:nvSpPr>
          <p:cNvPr id="11" name="icon-circle-289"/>
          <p:cNvSpPr/>
          <p:nvPr/>
        </p:nvSpPr>
        <p:spPr>
          <a:xfrm>
            <a:off x="7132320" y="4434840"/>
            <a:ext cx="685800" cy="685800"/>
          </a:xfrm>
          <a:prstGeom prst="ellipse">
            <a:avLst/>
          </a:prstGeom>
          <a:solidFill>
            <a:schemeClr val="bg2"/>
          </a:solidFill>
          <a:ln/>
        </p:spPr>
      </p:sp>
      <p:pic>
        <p:nvPicPr>
          <p:cNvPr id="12" name="icon-290" descr="preencoded.png">    </p:cNvPr>
          <p:cNvPicPr>
            <a:picLocks noChangeAspect="1"/>
          </p:cNvPicPr>
          <p:nvPr/>
        </p:nvPicPr>
        <p:blipFill>
          <a:blip r:embed="rId3"/>
          <a:stretch>
            <a:fillRect/>
          </a:stretch>
        </p:blipFill>
        <p:spPr>
          <a:xfrm>
            <a:off x="7296912" y="4599432"/>
            <a:ext cx="356616" cy="356616"/>
          </a:xfrm>
          <a:prstGeom prst="rect">
            <a:avLst/>
          </a:prstGeom>
        </p:spPr>
      </p:pic>
      <p:sp>
        <p:nvSpPr>
          <p:cNvPr id="13" name="text-291"/>
          <p:cNvSpPr txBox="1"/>
          <p:nvPr/>
        </p:nvSpPr>
        <p:spPr>
          <a:xfrm>
            <a:off x="8046720" y="4434840"/>
            <a:ext cx="3657600" cy="685800"/>
          </a:xfrm>
          <a:prstGeom prst="rect">
            <a:avLst/>
          </a:prstGeom>
          <a:noFill/>
          <a:ln/>
        </p:spPr>
        <p:txBody>
          <a:bodyPr wrap="square" lIns="0" tIns="0" rIns="0" bIns="0" rtlCol="0" anchor="ctr"/>
          <a:lstStyle/>
          <a:p>
            <a:pPr indent="0" marL="0">
              <a:buNone/>
            </a:pPr>
            <a:r>
              <a:rPr lang="en-US" sz="1700" dirty="0">
                <a:solidFill>
                  <a:schemeClr val="bg1"/>
                </a:solidFill>
              </a:rPr>
              <a:t>Start a pilot with a group of students</a:t>
            </a:r>
            <a:endParaRPr lang="en-US" sz="1700" dirty="0"/>
          </a:p>
        </p:txBody>
      </p:sp>
    </p:spTree>
  </p:cSld>
  <p:clrMapOvr>
    <a:masterClrMapping/>
  </p:clrMapOvr>
</p:sld>
</file>

<file path=ppt/theme/theme1.xml><?xml version="1.0" encoding="utf-8"?>
<a:theme xmlns:a="http://schemas.openxmlformats.org/drawingml/2006/main" name="Emotify">
  <a:themeElements>
    <a:clrScheme name="Emotify">
      <a:dk1>
        <a:srgbClr val="1F1B3A"/>
      </a:dk1>
      <a:lt1>
        <a:srgbClr val="FFFFFF"/>
      </a:lt1>
      <a:dk2>
        <a:srgbClr val="2A2470"/>
      </a:dk2>
      <a:lt2>
        <a:srgbClr val="F3F1FF"/>
      </a:lt2>
      <a:accent1>
        <a:srgbClr val="5B4FE0"/>
      </a:accent1>
      <a:accent2>
        <a:srgbClr val="F59E0B"/>
      </a:accent2>
      <a:accent3>
        <a:srgbClr val="0F9F74"/>
      </a:accent3>
      <a:accent4>
        <a:srgbClr val="DC2626"/>
      </a:accent4>
      <a:accent5>
        <a:srgbClr val="0284C7"/>
      </a:accent5>
      <a:accent6>
        <a:srgbClr val="64748B"/>
      </a:accent6>
      <a:hlink>
        <a:srgbClr val="5B4FE0"/>
      </a:hlink>
      <a:folHlink>
        <a:srgbClr val="7C3AED"/>
      </a:folHlink>
    </a:clrScheme>
    <a:fontScheme name="Emotif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Emotify Counsellor Dashboard</dc:title>
  <dc:subject>PptxGenJS Presentation</dc:subject>
  <dc:creator>Emotify</dc:creator>
  <cp:lastModifiedBy>Emotify</cp:lastModifiedBy>
  <cp:revision>1</cp:revision>
  <dcterms:created xsi:type="dcterms:W3CDTF">2026-10-09T20:01:59Z</dcterms:created>
  <dcterms:modified xsi:type="dcterms:W3CDTF">2026-10-09T20:01:59Z</dcterms:modified>
</cp:coreProperties>
</file>