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912588-fd6e-a723-657f-896dddc96ef0}">
          <p14:sldIdLst>
            <p14:sldId id="256"/>
            <p14:sldId id="257"/>
            <p14:sldId id="258"/>
          </p14:sldIdLst>
        </p14:section>
        <p14:section name="Getting started" id="{3bc68e7e-dd16-e39b-ada0-5537ddd34c60}">
          <p14:sldIdLst>
            <p14:sldId id="259"/>
            <p14:sldId id="260"/>
            <p14:sldId id="261"/>
          </p14:sldIdLst>
        </p14:section>
        <p14:section name="Wellbeing check" id="{85bb1200-ecd6-f78f-4fcf-69b43717062d}">
          <p14:sldIdLst>
            <p14:sldId id="262"/>
            <p14:sldId id="263"/>
          </p14:sldIdLst>
        </p14:section>
        <p14:section name="Everyday support" id="{e9fe7408-8eb9-ca80-74a6-88d082ed03fe}">
          <p14:sldIdLst>
            <p14:sldId id="264"/>
            <p14:sldId id="265"/>
            <p14:sldId id="266"/>
            <p14:sldId id="267"/>
            <p14:sldId id="268"/>
            <p14:sldId id="269"/>
          </p14:sldIdLst>
        </p14:section>
        <p14:section name="Connected care" id="{45d581b5-7ec1-b91a-8294-88589e984657}">
          <p14:sldIdLst>
            <p14:sldId id="270"/>
            <p14:sldId id="271"/>
            <p14:sldId id="272"/>
          </p14:sldIdLst>
        </p14:section>
        <p14:section name="Use case and value" id="{5beaf64c-9b26-d179-8268-329aa4785501}">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walk through the Emotify student app: what students see, how it supports them day to day, and how it connects them with your counselling team when they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struggle quietly. They may not have the words for how they feel, they may hesitate to book a counsellor, and difficult moments rarely happen during office hours. Emotify is designed for exactly these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journey at a glance: a student signs up, meets their companion Emoty, completes a short wellbeing check, then uses the app for everyday support, with a counsellor always one request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is quick. Students create an account with their mobile number and a password, and can then sign in with fingerprint or face unlock. They can also choose their language right from the first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meet Emoty, the friendly companion that appears throughout the app, and choose how it looks. Before anything else, the app is honest about what it is and is not: it does not diagnose, and it tells students what to do in a crisis. Students then give informed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starts at sign-up. Every student must add an emergency contact, so the team can act if there is ever a serious concern. Students also share a few details, such as their preferred name and campus, so support feels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students complete a short wellbeing check. Behind the friendly names are well-established questionnaires that counsellors already trust. Questions appear one at a time, and Emoty reassures students that there are no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the check is finished, the support tools are locked. This makes sure the counselling team has a starting picture for every student. Progress is saved, so a student can stop and resume. Once complete, the whole app opens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is where students land every day. A one-tap check-in asks how they feel right now, and Emoty responds. Small habits, like stretching or a short walk, earn Calm Points. Simple indicators show their emotional balance and calm, based on their latest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I'm Feeling helps students put feelings into words. They pick the feeling, notice how it shows up in their body, with an optional short body scan if they are unsure, and rate how strong it is. Emoty then suggests one activity that matches, with an optional guided meditation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tab, called the Therapy Hub, groups every tool by what the student needs: mindfulness, relaxation, working with thoughts, building habits, and booking a session with a counsellor.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moments of stress, students have short guided exercises: a breathing break with a gentle animated rhythm, the 5-4-3-2-1 grounding exercise that brings attention back to the present through the senses, and a guided muscle relaxation with spoken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mind, Think Differently helps students work through unhelpful thoughts, starting from simple prompts. Small Steps turns good intentions into one small, achievable action each day. And at any point, a student can ask to speak with a counsellor.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Emoty is the app's AI companion. Students can chat by typing or speaking, at any time. Replies are warm and personal. Importantly, this is supervised: counsellors can review conversations on their dashboard, and risky messages are flagged for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never on their own. From Appointments they can ask for confidential guidance or book a session, and see follow-ups from the care team. Everything here connects to the Counsellor Dashboard we presented earlier, and safety concerns raise an alert automatically, even if a student never asks for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lets students see their own progress: their mood across the week, Calm Points and goals met, and how much time they have spent on exercises. Encouraging messages reward consistency rather than perfection.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profile shows a simple wellness identity that updates as the student uses the app, and lets them personalise Emoty's look, name and voice. Personal preferences are kept separate from screenings and counsellor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comes together. During exam week, a student starts the day feeling heavy. The guided check-in helps them understand what they feel, and Emoty suggests a short calming exercise. They take one small step for the day. That night, still worried, they talk to Emoty, and then request a session with a counsellor, which appears straight away on the counsellor's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Emotify is private support at any hour and a simple path to a counsellor. For counsellors, students arrive better prepared and risks surface early. For the institution, it means care that continues between sessions, built on trusted questionnaires.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Emotify puts support in students' pockets, with a counsellor one tap away. As next steps, we suggest a hands-on demo of the app, agreeing the onboarding and consent wording with your team, and a pilot with a group of students.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A247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035040" cy="19202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640080" y="3840480"/>
            <a:ext cx="576072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Emotify · Student App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jpe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035040" cy="19202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Emotify for students</a:t>
            </a:r>
            <a:endParaRPr lang="en-US" sz="4400" dirty="0"/>
          </a:p>
        </p:txBody>
      </p:sp>
      <p:sp>
        <p:nvSpPr>
          <p:cNvPr id="3" name="Text 0"/>
          <p:cNvSpPr/>
          <p:nvPr>
            <p:ph idx="101" type="body" hasCustomPrompt="1"/>
          </p:nvPr>
        </p:nvSpPr>
        <p:spPr>
          <a:xfrm>
            <a:off x="640080" y="3840480"/>
            <a:ext cx="5760720" cy="1097280"/>
          </a:xfrm>
          <a:prstGeom prst="rect">
            <a:avLst/>
          </a:prstGeom>
          <a:noFill/>
          <a:ln/>
        </p:spPr>
        <p:txBody>
          <a:bodyPr wrap="square" lIns="0" tIns="0" rIns="0" bIns="0" rtlCol="0" anchor="t"/>
          <a:lstStyle/>
          <a:p>
            <a:pPr algn="l" indent="0" marL="0">
              <a:buNone/>
            </a:pPr>
            <a:r>
              <a:rPr lang="en-US" sz="2000" dirty="0">
                <a:solidFill>
                  <a:schemeClr val="bg2"/>
                </a:solidFill>
              </a:rPr>
              <a:t>A friendly, private companion for everyday wellbeing, with a counsellor one tap away</a:t>
            </a:r>
            <a:endParaRPr lang="en-US" sz="2000" dirty="0"/>
          </a:p>
        </p:txBody>
      </p:sp>
      <p:sp>
        <p:nvSpPr>
          <p:cNvPr id="4" name="text-1"/>
          <p:cNvSpPr txBox="1"/>
          <p:nvPr/>
        </p:nvSpPr>
        <p:spPr>
          <a:xfrm>
            <a:off x="640080" y="5989320"/>
            <a:ext cx="5486400" cy="320040"/>
          </a:xfrm>
          <a:prstGeom prst="rect">
            <a:avLst/>
          </a:prstGeom>
          <a:noFill/>
          <a:ln/>
        </p:spPr>
        <p:txBody>
          <a:bodyPr wrap="square" lIns="0" tIns="0" rIns="0" bIns="0" rtlCol="0" anchor="t"/>
          <a:lstStyle/>
          <a:p>
            <a:pPr indent="0" marL="0">
              <a:buNone/>
            </a:pPr>
            <a:r>
              <a:rPr lang="en-US" sz="1400" dirty="0">
                <a:solidFill>
                  <a:schemeClr val="bg2"/>
                </a:solidFill>
              </a:rPr>
              <a:t>Client presentation · October 2026</a:t>
            </a:r>
            <a:endParaRPr lang="en-US" sz="1400" dirty="0"/>
          </a:p>
        </p:txBody>
      </p:sp>
      <p:sp>
        <p:nvSpPr>
          <p:cNvPr id="5" name="phone-body-2"/>
          <p:cNvSpPr/>
          <p:nvPr/>
        </p:nvSpPr>
        <p:spPr>
          <a:xfrm>
            <a:off x="7315200" y="1005840"/>
            <a:ext cx="2011680" cy="4313936"/>
          </a:xfrm>
          <a:prstGeom prst="roundRect">
            <a:avLst>
              <a:gd name="adj" fmla="val 9091"/>
            </a:avLst>
          </a:prstGeom>
          <a:solidFill>
            <a:schemeClr val="tx1"/>
          </a:solidFill>
          <a:ln/>
          <a:effectLst>
            <a:outerShdw sx="100000" sy="100000" kx="0" ky="0" algn="bl" rotWithShape="0" blurRad="177800" dist="50800" dir="5400000">
              <a:srgbClr val="1F1B3A">
                <a:alpha val="22000"/>
              </a:srgbClr>
            </a:outerShdw>
          </a:effectLst>
        </p:spPr>
      </p:sp>
      <p:pic>
        <p:nvPicPr>
          <p:cNvPr id="6" name="phone-screen-3" descr="App screenshot">    </p:cNvPr>
          <p:cNvPicPr>
            <a:picLocks noChangeAspect="1"/>
          </p:cNvPicPr>
          <p:nvPr/>
        </p:nvPicPr>
        <p:blipFill>
          <a:blip r:embed="rId1"/>
          <a:stretch>
            <a:fillRect/>
          </a:stretch>
        </p:blipFill>
        <p:spPr>
          <a:xfrm>
            <a:off x="7379208" y="1069848"/>
            <a:ext cx="1883664" cy="4185920"/>
          </a:xfrm>
          <a:prstGeom prst="rect">
            <a:avLst/>
          </a:prstGeom>
        </p:spPr>
      </p:pic>
      <p:sp>
        <p:nvSpPr>
          <p:cNvPr id="7" name="phone-body-4"/>
          <p:cNvSpPr/>
          <p:nvPr/>
        </p:nvSpPr>
        <p:spPr>
          <a:xfrm>
            <a:off x="9646920" y="1463040"/>
            <a:ext cx="2011680" cy="4313936"/>
          </a:xfrm>
          <a:prstGeom prst="roundRect">
            <a:avLst>
              <a:gd name="adj" fmla="val 9091"/>
            </a:avLst>
          </a:prstGeom>
          <a:solidFill>
            <a:schemeClr val="tx1"/>
          </a:solidFill>
          <a:ln/>
          <a:effectLst>
            <a:outerShdw sx="100000" sy="100000" kx="0" ky="0" algn="bl" rotWithShape="0" blurRad="177800" dist="50800" dir="5400000">
              <a:srgbClr val="1F1B3A">
                <a:alpha val="22000"/>
              </a:srgbClr>
            </a:outerShdw>
          </a:effectLst>
        </p:spPr>
      </p:sp>
      <p:pic>
        <p:nvPicPr>
          <p:cNvPr id="8" name="phone-screen-5" descr="App screenshot">    </p:cNvPr>
          <p:cNvPicPr>
            <a:picLocks noChangeAspect="1"/>
          </p:cNvPicPr>
          <p:nvPr/>
        </p:nvPicPr>
        <p:blipFill>
          <a:blip r:embed="rId2"/>
          <a:stretch>
            <a:fillRect/>
          </a:stretch>
        </p:blipFill>
        <p:spPr>
          <a:xfrm>
            <a:off x="9710928" y="1527048"/>
            <a:ext cx="1883664" cy="418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Why students need it</a:t>
            </a:r>
            <a:endParaRPr lang="en-US" sz="3400" dirty="0"/>
          </a:p>
        </p:txBody>
      </p:sp>
      <p:sp>
        <p:nvSpPr>
          <p:cNvPr id="3" name="card-6"/>
          <p:cNvSpPr/>
          <p:nvPr/>
        </p:nvSpPr>
        <p:spPr>
          <a:xfrm>
            <a:off x="548640" y="1463040"/>
            <a:ext cx="3474720" cy="2743200"/>
          </a:xfrm>
          <a:prstGeom prst="roundRect">
            <a:avLst>
              <a:gd name="adj" fmla="val 4667"/>
            </a:avLst>
          </a:prstGeom>
          <a:solidFill>
            <a:schemeClr val="bg2"/>
          </a:solidFill>
          <a:ln/>
        </p:spPr>
      </p:sp>
      <p:sp>
        <p:nvSpPr>
          <p:cNvPr id="4" name="icon-circle-7"/>
          <p:cNvSpPr/>
          <p:nvPr/>
        </p:nvSpPr>
        <p:spPr>
          <a:xfrm>
            <a:off x="914400" y="1783080"/>
            <a:ext cx="731520" cy="731520"/>
          </a:xfrm>
          <a:prstGeom prst="ellipse">
            <a:avLst/>
          </a:prstGeom>
          <a:solidFill>
            <a:schemeClr val="accent1"/>
          </a:solidFill>
          <a:ln/>
        </p:spPr>
      </p:sp>
      <p:pic>
        <p:nvPicPr>
          <p:cNvPr id="5" name="icon-8" descr="preencoded.png">    </p:cNvPr>
          <p:cNvPicPr>
            <a:picLocks noChangeAspect="1"/>
          </p:cNvPicPr>
          <p:nvPr/>
        </p:nvPicPr>
        <p:blipFill>
          <a:blip r:embed="rId1"/>
          <a:stretch>
            <a:fillRect/>
          </a:stretch>
        </p:blipFill>
        <p:spPr>
          <a:xfrm>
            <a:off x="1089965" y="1958645"/>
            <a:ext cx="380390" cy="380390"/>
          </a:xfrm>
          <a:prstGeom prst="rect">
            <a:avLst/>
          </a:prstGeom>
        </p:spPr>
      </p:pic>
      <p:sp>
        <p:nvSpPr>
          <p:cNvPr id="6" name="text-9"/>
          <p:cNvSpPr txBox="1"/>
          <p:nvPr/>
        </p:nvSpPr>
        <p:spPr>
          <a:xfrm>
            <a:off x="914400" y="2697480"/>
            <a:ext cx="2834640" cy="457200"/>
          </a:xfrm>
          <a:prstGeom prst="rect">
            <a:avLst/>
          </a:prstGeom>
          <a:noFill/>
          <a:ln/>
        </p:spPr>
        <p:txBody>
          <a:bodyPr wrap="square" lIns="0" tIns="0" rIns="0" bIns="0" rtlCol="0" anchor="t"/>
          <a:lstStyle/>
          <a:p>
            <a:pPr indent="0" marL="0">
              <a:buNone/>
            </a:pPr>
            <a:r>
              <a:rPr lang="en-US" sz="2000" b="1" dirty="0">
                <a:solidFill>
                  <a:schemeClr val="tx2"/>
                </a:solidFill>
              </a:rPr>
              <a:t>Feelings are hard to name</a:t>
            </a:r>
            <a:endParaRPr lang="en-US" sz="2000" dirty="0"/>
          </a:p>
        </p:txBody>
      </p:sp>
      <p:sp>
        <p:nvSpPr>
          <p:cNvPr id="7" name="text-10"/>
          <p:cNvSpPr txBox="1"/>
          <p:nvPr/>
        </p:nvSpPr>
        <p:spPr>
          <a:xfrm>
            <a:off x="914400" y="3200400"/>
            <a:ext cx="2788920" cy="914400"/>
          </a:xfrm>
          <a:prstGeom prst="rect">
            <a:avLst/>
          </a:prstGeom>
          <a:noFill/>
          <a:ln/>
        </p:spPr>
        <p:txBody>
          <a:bodyPr wrap="square" lIns="0" tIns="0" rIns="0" bIns="0" rtlCol="0" anchor="t"/>
          <a:lstStyle/>
          <a:p>
            <a:pPr indent="0" marL="0">
              <a:buNone/>
            </a:pPr>
            <a:r>
              <a:rPr lang="en-US" sz="1500" dirty="0">
                <a:solidFill>
                  <a:schemeClr val="tx1"/>
                </a:solidFill>
              </a:rPr>
              <a:t>Many students know something is off but cannot put it into words.</a:t>
            </a:r>
            <a:endParaRPr lang="en-US" sz="1500" dirty="0"/>
          </a:p>
        </p:txBody>
      </p:sp>
      <p:sp>
        <p:nvSpPr>
          <p:cNvPr id="8" name="card-11"/>
          <p:cNvSpPr/>
          <p:nvPr/>
        </p:nvSpPr>
        <p:spPr>
          <a:xfrm>
            <a:off x="4297680" y="1463040"/>
            <a:ext cx="3474720" cy="2743200"/>
          </a:xfrm>
          <a:prstGeom prst="roundRect">
            <a:avLst>
              <a:gd name="adj" fmla="val 4667"/>
            </a:avLst>
          </a:prstGeom>
          <a:solidFill>
            <a:schemeClr val="bg2"/>
          </a:solidFill>
          <a:ln/>
        </p:spPr>
      </p:sp>
      <p:sp>
        <p:nvSpPr>
          <p:cNvPr id="9" name="icon-circle-12"/>
          <p:cNvSpPr/>
          <p:nvPr/>
        </p:nvSpPr>
        <p:spPr>
          <a:xfrm>
            <a:off x="4663440" y="1783080"/>
            <a:ext cx="731520" cy="731520"/>
          </a:xfrm>
          <a:prstGeom prst="ellipse">
            <a:avLst/>
          </a:prstGeom>
          <a:solidFill>
            <a:schemeClr val="accent1"/>
          </a:solidFill>
          <a:ln/>
        </p:spPr>
      </p:sp>
      <p:pic>
        <p:nvPicPr>
          <p:cNvPr id="10" name="icon-13" descr="preencoded.png">    </p:cNvPr>
          <p:cNvPicPr>
            <a:picLocks noChangeAspect="1"/>
          </p:cNvPicPr>
          <p:nvPr/>
        </p:nvPicPr>
        <p:blipFill>
          <a:blip r:embed="rId2"/>
          <a:stretch>
            <a:fillRect/>
          </a:stretch>
        </p:blipFill>
        <p:spPr>
          <a:xfrm>
            <a:off x="4839005" y="1958645"/>
            <a:ext cx="380390" cy="380390"/>
          </a:xfrm>
          <a:prstGeom prst="rect">
            <a:avLst/>
          </a:prstGeom>
        </p:spPr>
      </p:pic>
      <p:sp>
        <p:nvSpPr>
          <p:cNvPr id="11" name="text-14"/>
          <p:cNvSpPr txBox="1"/>
          <p:nvPr/>
        </p:nvSpPr>
        <p:spPr>
          <a:xfrm>
            <a:off x="4663440" y="2697480"/>
            <a:ext cx="2834640" cy="457200"/>
          </a:xfrm>
          <a:prstGeom prst="rect">
            <a:avLst/>
          </a:prstGeom>
          <a:noFill/>
          <a:ln/>
        </p:spPr>
        <p:txBody>
          <a:bodyPr wrap="square" lIns="0" tIns="0" rIns="0" bIns="0" rtlCol="0" anchor="t"/>
          <a:lstStyle/>
          <a:p>
            <a:pPr indent="0" marL="0">
              <a:buNone/>
            </a:pPr>
            <a:r>
              <a:rPr lang="en-US" sz="2000" b="1" dirty="0">
                <a:solidFill>
                  <a:schemeClr val="tx2"/>
                </a:solidFill>
              </a:rPr>
              <a:t>Asking for help feels big</a:t>
            </a:r>
            <a:endParaRPr lang="en-US" sz="2000" dirty="0"/>
          </a:p>
        </p:txBody>
      </p:sp>
      <p:sp>
        <p:nvSpPr>
          <p:cNvPr id="12" name="text-15"/>
          <p:cNvSpPr txBox="1"/>
          <p:nvPr/>
        </p:nvSpPr>
        <p:spPr>
          <a:xfrm>
            <a:off x="4663440" y="3200400"/>
            <a:ext cx="2788920" cy="914400"/>
          </a:xfrm>
          <a:prstGeom prst="rect">
            <a:avLst/>
          </a:prstGeom>
          <a:noFill/>
          <a:ln/>
        </p:spPr>
        <p:txBody>
          <a:bodyPr wrap="square" lIns="0" tIns="0" rIns="0" bIns="0" rtlCol="0" anchor="t"/>
          <a:lstStyle/>
          <a:p>
            <a:pPr indent="0" marL="0">
              <a:buNone/>
            </a:pPr>
            <a:r>
              <a:rPr lang="en-US" sz="1500" dirty="0">
                <a:solidFill>
                  <a:schemeClr val="tx1"/>
                </a:solidFill>
              </a:rPr>
              <a:t>Booking a counsellor can feel like a step too far, so students wait.</a:t>
            </a:r>
            <a:endParaRPr lang="en-US" sz="1500" dirty="0"/>
          </a:p>
        </p:txBody>
      </p:sp>
      <p:sp>
        <p:nvSpPr>
          <p:cNvPr id="13" name="card-16"/>
          <p:cNvSpPr/>
          <p:nvPr/>
        </p:nvSpPr>
        <p:spPr>
          <a:xfrm>
            <a:off x="8046720" y="1463040"/>
            <a:ext cx="3474720" cy="2743200"/>
          </a:xfrm>
          <a:prstGeom prst="roundRect">
            <a:avLst>
              <a:gd name="adj" fmla="val 4667"/>
            </a:avLst>
          </a:prstGeom>
          <a:solidFill>
            <a:schemeClr val="bg2"/>
          </a:solidFill>
          <a:ln/>
        </p:spPr>
      </p:sp>
      <p:sp>
        <p:nvSpPr>
          <p:cNvPr id="14" name="icon-circle-17"/>
          <p:cNvSpPr/>
          <p:nvPr/>
        </p:nvSpPr>
        <p:spPr>
          <a:xfrm>
            <a:off x="8412480" y="1783080"/>
            <a:ext cx="731520" cy="731520"/>
          </a:xfrm>
          <a:prstGeom prst="ellipse">
            <a:avLst/>
          </a:prstGeom>
          <a:solidFill>
            <a:schemeClr val="accent1"/>
          </a:solidFill>
          <a:ln/>
        </p:spPr>
      </p:sp>
      <p:pic>
        <p:nvPicPr>
          <p:cNvPr id="15" name="icon-18" descr="preencoded.png">    </p:cNvPr>
          <p:cNvPicPr>
            <a:picLocks noChangeAspect="1"/>
          </p:cNvPicPr>
          <p:nvPr/>
        </p:nvPicPr>
        <p:blipFill>
          <a:blip r:embed="rId3"/>
          <a:stretch>
            <a:fillRect/>
          </a:stretch>
        </p:blipFill>
        <p:spPr>
          <a:xfrm>
            <a:off x="8588045" y="1958645"/>
            <a:ext cx="380390" cy="380390"/>
          </a:xfrm>
          <a:prstGeom prst="rect">
            <a:avLst/>
          </a:prstGeom>
        </p:spPr>
      </p:pic>
      <p:sp>
        <p:nvSpPr>
          <p:cNvPr id="16" name="text-19"/>
          <p:cNvSpPr txBox="1"/>
          <p:nvPr/>
        </p:nvSpPr>
        <p:spPr>
          <a:xfrm>
            <a:off x="8412480" y="2697480"/>
            <a:ext cx="2834640" cy="457200"/>
          </a:xfrm>
          <a:prstGeom prst="rect">
            <a:avLst/>
          </a:prstGeom>
          <a:noFill/>
          <a:ln/>
        </p:spPr>
        <p:txBody>
          <a:bodyPr wrap="square" lIns="0" tIns="0" rIns="0" bIns="0" rtlCol="0" anchor="t"/>
          <a:lstStyle/>
          <a:p>
            <a:pPr indent="0" marL="0">
              <a:buNone/>
            </a:pPr>
            <a:r>
              <a:rPr lang="en-US" sz="2000" b="1" dirty="0">
                <a:solidFill>
                  <a:schemeClr val="tx2"/>
                </a:solidFill>
              </a:rPr>
              <a:t>Help has office hours</a:t>
            </a:r>
            <a:endParaRPr lang="en-US" sz="2000" dirty="0"/>
          </a:p>
        </p:txBody>
      </p:sp>
      <p:sp>
        <p:nvSpPr>
          <p:cNvPr id="17" name="text-20"/>
          <p:cNvSpPr txBox="1"/>
          <p:nvPr/>
        </p:nvSpPr>
        <p:spPr>
          <a:xfrm>
            <a:off x="8412480" y="3200400"/>
            <a:ext cx="2788920" cy="914400"/>
          </a:xfrm>
          <a:prstGeom prst="rect">
            <a:avLst/>
          </a:prstGeom>
          <a:noFill/>
          <a:ln/>
        </p:spPr>
        <p:txBody>
          <a:bodyPr wrap="square" lIns="0" tIns="0" rIns="0" bIns="0" rtlCol="0" anchor="t"/>
          <a:lstStyle/>
          <a:p>
            <a:pPr indent="0" marL="0">
              <a:buNone/>
            </a:pPr>
            <a:r>
              <a:rPr lang="en-US" sz="1500" dirty="0">
                <a:solidFill>
                  <a:schemeClr val="tx1"/>
                </a:solidFill>
              </a:rPr>
              <a:t>Hard moments happen late at night and during exams, not only in office hours.</a:t>
            </a:r>
            <a:endParaRPr lang="en-US" sz="1500" dirty="0"/>
          </a:p>
        </p:txBody>
      </p:sp>
      <p:sp>
        <p:nvSpPr>
          <p:cNvPr id="18" name="text-21"/>
          <p:cNvSpPr txBox="1"/>
          <p:nvPr/>
        </p:nvSpPr>
        <p:spPr>
          <a:xfrm>
            <a:off x="548640" y="4663440"/>
            <a:ext cx="11064240" cy="731520"/>
          </a:xfrm>
          <a:prstGeom prst="rect">
            <a:avLst/>
          </a:prstGeom>
          <a:noFill/>
          <a:ln/>
        </p:spPr>
        <p:txBody>
          <a:bodyPr wrap="square" lIns="0" tIns="0" rIns="0" bIns="0" rtlCol="0" anchor="ctr"/>
          <a:lstStyle/>
          <a:p>
            <a:pPr indent="0" marL="0">
              <a:buNone/>
            </a:pPr>
            <a:r>
              <a:rPr lang="en-US" sz="2200" dirty="0">
                <a:solidFill>
                  <a:schemeClr val="tx2"/>
                </a:solidFill>
                <a:latin typeface="Cambria" pitchFamily="34" charset="0"/>
                <a:ea typeface="Cambria" pitchFamily="34" charset="-122"/>
                <a:cs typeface="Cambria" pitchFamily="34" charset="-120"/>
              </a:rPr>
              <a:t>Emotify gives students a gentle space to understand how they feel, </a:t>
            </a:r>
            <a:pPr indent="0" marL="0">
              <a:buNone/>
            </a:pPr>
            <a:r>
              <a:rPr lang="en-US" sz="2200" b="1" dirty="0">
                <a:solidFill>
                  <a:schemeClr val="accent1"/>
                </a:solidFill>
                <a:latin typeface="Cambria" pitchFamily="34" charset="0"/>
                <a:ea typeface="Cambria" pitchFamily="34" charset="-122"/>
                <a:cs typeface="Cambria" pitchFamily="34" charset="-120"/>
              </a:rPr>
              <a:t>and a direct bridge to a counsellor.</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student journey</a:t>
            </a:r>
            <a:endParaRPr lang="en-US" sz="3400" dirty="0"/>
          </a:p>
        </p:txBody>
      </p:sp>
      <p:sp>
        <p:nvSpPr>
          <p:cNvPr id="3" name="timeline-22"/>
          <p:cNvSpPr/>
          <p:nvPr/>
        </p:nvSpPr>
        <p:spPr>
          <a:xfrm>
            <a:off x="1600200" y="2514600"/>
            <a:ext cx="8997696" cy="0"/>
          </a:xfrm>
          <a:prstGeom prst="line">
            <a:avLst/>
          </a:prstGeom>
          <a:noFill/>
          <a:ln w="25400">
            <a:solidFill>
              <a:srgbClr val="D9D6F5"/>
            </a:solidFill>
            <a:prstDash val="solid"/>
          </a:ln>
        </p:spPr>
      </p:sp>
      <p:sp>
        <p:nvSpPr>
          <p:cNvPr id="4" name="icon-circle-23"/>
          <p:cNvSpPr/>
          <p:nvPr/>
        </p:nvSpPr>
        <p:spPr>
          <a:xfrm>
            <a:off x="1143000" y="2057400"/>
            <a:ext cx="914400" cy="914400"/>
          </a:xfrm>
          <a:prstGeom prst="ellipse">
            <a:avLst/>
          </a:prstGeom>
          <a:solidFill>
            <a:schemeClr val="accent1"/>
          </a:solidFill>
          <a:ln/>
        </p:spPr>
      </p:sp>
      <p:pic>
        <p:nvPicPr>
          <p:cNvPr id="5" name="icon-24" descr="preencoded.png">    </p:cNvPr>
          <p:cNvPicPr>
            <a:picLocks noChangeAspect="1"/>
          </p:cNvPicPr>
          <p:nvPr/>
        </p:nvPicPr>
        <p:blipFill>
          <a:blip r:embed="rId1"/>
          <a:stretch>
            <a:fillRect/>
          </a:stretch>
        </p:blipFill>
        <p:spPr>
          <a:xfrm>
            <a:off x="1362456" y="2276856"/>
            <a:ext cx="475488" cy="475488"/>
          </a:xfrm>
          <a:prstGeom prst="rect">
            <a:avLst/>
          </a:prstGeom>
        </p:spPr>
      </p:pic>
      <p:sp>
        <p:nvSpPr>
          <p:cNvPr id="6" name="text-25"/>
          <p:cNvSpPr txBox="1"/>
          <p:nvPr/>
        </p:nvSpPr>
        <p:spPr>
          <a:xfrm>
            <a:off x="576072"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Sign up</a:t>
            </a:r>
            <a:endParaRPr lang="en-US" sz="1800" dirty="0"/>
          </a:p>
        </p:txBody>
      </p:sp>
      <p:sp>
        <p:nvSpPr>
          <p:cNvPr id="7" name="text-26"/>
          <p:cNvSpPr txBox="1"/>
          <p:nvPr/>
        </p:nvSpPr>
        <p:spPr>
          <a:xfrm>
            <a:off x="594360"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With a mobile number</a:t>
            </a:r>
            <a:endParaRPr lang="en-US" sz="1400" dirty="0"/>
          </a:p>
        </p:txBody>
      </p:sp>
      <p:sp>
        <p:nvSpPr>
          <p:cNvPr id="8" name="icon-circle-27"/>
          <p:cNvSpPr/>
          <p:nvPr/>
        </p:nvSpPr>
        <p:spPr>
          <a:xfrm>
            <a:off x="3392424" y="2057400"/>
            <a:ext cx="914400" cy="914400"/>
          </a:xfrm>
          <a:prstGeom prst="ellipse">
            <a:avLst/>
          </a:prstGeom>
          <a:solidFill>
            <a:schemeClr val="accent1"/>
          </a:solidFill>
          <a:ln/>
        </p:spPr>
      </p:sp>
      <p:pic>
        <p:nvPicPr>
          <p:cNvPr id="9" name="icon-28" descr="preencoded.png">    </p:cNvPr>
          <p:cNvPicPr>
            <a:picLocks noChangeAspect="1"/>
          </p:cNvPicPr>
          <p:nvPr/>
        </p:nvPicPr>
        <p:blipFill>
          <a:blip r:embed="rId2"/>
          <a:stretch>
            <a:fillRect/>
          </a:stretch>
        </p:blipFill>
        <p:spPr>
          <a:xfrm>
            <a:off x="3611880" y="2276856"/>
            <a:ext cx="475488" cy="475488"/>
          </a:xfrm>
          <a:prstGeom prst="rect">
            <a:avLst/>
          </a:prstGeom>
        </p:spPr>
      </p:pic>
      <p:sp>
        <p:nvSpPr>
          <p:cNvPr id="10" name="text-29"/>
          <p:cNvSpPr txBox="1"/>
          <p:nvPr/>
        </p:nvSpPr>
        <p:spPr>
          <a:xfrm>
            <a:off x="2825496"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Meet Emoty</a:t>
            </a:r>
            <a:endParaRPr lang="en-US" sz="1800" dirty="0"/>
          </a:p>
        </p:txBody>
      </p:sp>
      <p:sp>
        <p:nvSpPr>
          <p:cNvPr id="11" name="text-30"/>
          <p:cNvSpPr txBox="1"/>
          <p:nvPr/>
        </p:nvSpPr>
        <p:spPr>
          <a:xfrm>
            <a:off x="2843784"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Choose a companion</a:t>
            </a:r>
            <a:endParaRPr lang="en-US" sz="1400" dirty="0"/>
          </a:p>
        </p:txBody>
      </p:sp>
      <p:sp>
        <p:nvSpPr>
          <p:cNvPr id="12" name="icon-circle-31"/>
          <p:cNvSpPr/>
          <p:nvPr/>
        </p:nvSpPr>
        <p:spPr>
          <a:xfrm>
            <a:off x="5641848" y="2057400"/>
            <a:ext cx="914400" cy="914400"/>
          </a:xfrm>
          <a:prstGeom prst="ellipse">
            <a:avLst/>
          </a:prstGeom>
          <a:solidFill>
            <a:schemeClr val="accent2"/>
          </a:solidFill>
          <a:ln/>
        </p:spPr>
      </p:sp>
      <p:pic>
        <p:nvPicPr>
          <p:cNvPr id="13" name="icon-32" descr="preencoded.png">    </p:cNvPr>
          <p:cNvPicPr>
            <a:picLocks noChangeAspect="1"/>
          </p:cNvPicPr>
          <p:nvPr/>
        </p:nvPicPr>
        <p:blipFill>
          <a:blip r:embed="rId3"/>
          <a:stretch>
            <a:fillRect/>
          </a:stretch>
        </p:blipFill>
        <p:spPr>
          <a:xfrm>
            <a:off x="5861304" y="2276856"/>
            <a:ext cx="475488" cy="475488"/>
          </a:xfrm>
          <a:prstGeom prst="rect">
            <a:avLst/>
          </a:prstGeom>
        </p:spPr>
      </p:pic>
      <p:sp>
        <p:nvSpPr>
          <p:cNvPr id="14" name="text-33"/>
          <p:cNvSpPr txBox="1"/>
          <p:nvPr/>
        </p:nvSpPr>
        <p:spPr>
          <a:xfrm>
            <a:off x="5074920"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Quick wellbeing check</a:t>
            </a:r>
            <a:endParaRPr lang="en-US" sz="1800" dirty="0"/>
          </a:p>
        </p:txBody>
      </p:sp>
      <p:sp>
        <p:nvSpPr>
          <p:cNvPr id="15" name="text-34"/>
          <p:cNvSpPr txBox="1"/>
          <p:nvPr/>
        </p:nvSpPr>
        <p:spPr>
          <a:xfrm>
            <a:off x="5093208"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Three short questionnaires</a:t>
            </a:r>
            <a:endParaRPr lang="en-US" sz="1400" dirty="0"/>
          </a:p>
        </p:txBody>
      </p:sp>
      <p:sp>
        <p:nvSpPr>
          <p:cNvPr id="16" name="icon-circle-35"/>
          <p:cNvSpPr/>
          <p:nvPr/>
        </p:nvSpPr>
        <p:spPr>
          <a:xfrm>
            <a:off x="7891272" y="2057400"/>
            <a:ext cx="914400" cy="914400"/>
          </a:xfrm>
          <a:prstGeom prst="ellipse">
            <a:avLst/>
          </a:prstGeom>
          <a:solidFill>
            <a:schemeClr val="accent1"/>
          </a:solidFill>
          <a:ln/>
        </p:spPr>
      </p:sp>
      <p:pic>
        <p:nvPicPr>
          <p:cNvPr id="17" name="icon-36" descr="preencoded.png">    </p:cNvPr>
          <p:cNvPicPr>
            <a:picLocks noChangeAspect="1"/>
          </p:cNvPicPr>
          <p:nvPr/>
        </p:nvPicPr>
        <p:blipFill>
          <a:blip r:embed="rId4"/>
          <a:stretch>
            <a:fillRect/>
          </a:stretch>
        </p:blipFill>
        <p:spPr>
          <a:xfrm>
            <a:off x="8110728" y="2276856"/>
            <a:ext cx="475488" cy="475488"/>
          </a:xfrm>
          <a:prstGeom prst="rect">
            <a:avLst/>
          </a:prstGeom>
        </p:spPr>
      </p:pic>
      <p:sp>
        <p:nvSpPr>
          <p:cNvPr id="18" name="text-37"/>
          <p:cNvSpPr txBox="1"/>
          <p:nvPr/>
        </p:nvSpPr>
        <p:spPr>
          <a:xfrm>
            <a:off x="7324344"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Everyday support</a:t>
            </a:r>
            <a:endParaRPr lang="en-US" sz="1800" dirty="0"/>
          </a:p>
        </p:txBody>
      </p:sp>
      <p:sp>
        <p:nvSpPr>
          <p:cNvPr id="19" name="text-38"/>
          <p:cNvSpPr txBox="1"/>
          <p:nvPr/>
        </p:nvSpPr>
        <p:spPr>
          <a:xfrm>
            <a:off x="7342632"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Check-ins and calming tools</a:t>
            </a:r>
            <a:endParaRPr lang="en-US" sz="1400" dirty="0"/>
          </a:p>
        </p:txBody>
      </p:sp>
      <p:sp>
        <p:nvSpPr>
          <p:cNvPr id="20" name="icon-circle-39"/>
          <p:cNvSpPr/>
          <p:nvPr/>
        </p:nvSpPr>
        <p:spPr>
          <a:xfrm>
            <a:off x="10140696" y="2057400"/>
            <a:ext cx="914400" cy="914400"/>
          </a:xfrm>
          <a:prstGeom prst="ellipse">
            <a:avLst/>
          </a:prstGeom>
          <a:solidFill>
            <a:schemeClr val="accent1"/>
          </a:solidFill>
          <a:ln/>
        </p:spPr>
      </p:sp>
      <p:pic>
        <p:nvPicPr>
          <p:cNvPr id="21" name="icon-40" descr="preencoded.png">    </p:cNvPr>
          <p:cNvPicPr>
            <a:picLocks noChangeAspect="1"/>
          </p:cNvPicPr>
          <p:nvPr/>
        </p:nvPicPr>
        <p:blipFill>
          <a:blip r:embed="rId5"/>
          <a:stretch>
            <a:fillRect/>
          </a:stretch>
        </p:blipFill>
        <p:spPr>
          <a:xfrm>
            <a:off x="10360152" y="2276856"/>
            <a:ext cx="475488" cy="475488"/>
          </a:xfrm>
          <a:prstGeom prst="rect">
            <a:avLst/>
          </a:prstGeom>
        </p:spPr>
      </p:pic>
      <p:sp>
        <p:nvSpPr>
          <p:cNvPr id="22" name="text-41"/>
          <p:cNvSpPr txBox="1"/>
          <p:nvPr/>
        </p:nvSpPr>
        <p:spPr>
          <a:xfrm>
            <a:off x="9573768"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Reach a counsellor</a:t>
            </a:r>
            <a:endParaRPr lang="en-US" sz="1800" dirty="0"/>
          </a:p>
        </p:txBody>
      </p:sp>
      <p:sp>
        <p:nvSpPr>
          <p:cNvPr id="23" name="text-42"/>
          <p:cNvSpPr txBox="1"/>
          <p:nvPr/>
        </p:nvSpPr>
        <p:spPr>
          <a:xfrm>
            <a:off x="9592056"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Request a session any time</a:t>
            </a:r>
            <a:endParaRPr lang="en-US" sz="1400" dirty="0"/>
          </a:p>
        </p:txBody>
      </p:sp>
      <p:sp>
        <p:nvSpPr>
          <p:cNvPr id="24" name="text-43"/>
          <p:cNvSpPr txBox="1"/>
          <p:nvPr/>
        </p:nvSpPr>
        <p:spPr>
          <a:xfrm>
            <a:off x="548640" y="5394960"/>
            <a:ext cx="11064240" cy="457200"/>
          </a:xfrm>
          <a:prstGeom prst="rect">
            <a:avLst/>
          </a:prstGeom>
          <a:noFill/>
          <a:ln/>
        </p:spPr>
        <p:txBody>
          <a:bodyPr wrap="square" lIns="0" tIns="0" rIns="0" bIns="0" rtlCol="0" anchor="t"/>
          <a:lstStyle/>
          <a:p>
            <a:pPr indent="0" marL="0">
              <a:buNone/>
            </a:pPr>
            <a:r>
              <a:rPr lang="en-US" sz="1600" i="1" dirty="0">
                <a:solidFill>
                  <a:schemeClr val="accent6"/>
                </a:solidFill>
              </a:rPr>
              <a:t>The following slides follow a new student, step by step, through the real app. All screens show test data.</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Getting started takes a minute</a:t>
            </a:r>
            <a:endParaRPr lang="en-US" sz="3400" dirty="0"/>
          </a:p>
        </p:txBody>
      </p:sp>
      <p:sp>
        <p:nvSpPr>
          <p:cNvPr id="3" name="phone-body-44"/>
          <p:cNvSpPr/>
          <p:nvPr/>
        </p:nvSpPr>
        <p:spPr>
          <a:xfrm>
            <a:off x="822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45" descr="App screenshot">    </p:cNvPr>
          <p:cNvPicPr>
            <a:picLocks noChangeAspect="1"/>
          </p:cNvPicPr>
          <p:nvPr/>
        </p:nvPicPr>
        <p:blipFill>
          <a:blip r:embed="rId1"/>
          <a:stretch>
            <a:fillRect/>
          </a:stretch>
        </p:blipFill>
        <p:spPr>
          <a:xfrm>
            <a:off x="886968" y="1389888"/>
            <a:ext cx="1929384" cy="4287520"/>
          </a:xfrm>
          <a:prstGeom prst="rect">
            <a:avLst/>
          </a:prstGeom>
        </p:spPr>
      </p:pic>
      <p:sp>
        <p:nvSpPr>
          <p:cNvPr id="5" name="text-46"/>
          <p:cNvSpPr txBox="1"/>
          <p:nvPr/>
        </p:nvSpPr>
        <p:spPr>
          <a:xfrm>
            <a:off x="640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Sign in</a:t>
            </a:r>
            <a:endParaRPr lang="en-US" sz="1300" dirty="0"/>
          </a:p>
        </p:txBody>
      </p:sp>
      <p:sp>
        <p:nvSpPr>
          <p:cNvPr id="6" name="phone-body-47"/>
          <p:cNvSpPr/>
          <p:nvPr/>
        </p:nvSpPr>
        <p:spPr>
          <a:xfrm>
            <a:off x="33375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48" descr="App screenshot">    </p:cNvPr>
          <p:cNvPicPr>
            <a:picLocks noChangeAspect="1"/>
          </p:cNvPicPr>
          <p:nvPr/>
        </p:nvPicPr>
        <p:blipFill>
          <a:blip r:embed="rId2"/>
          <a:stretch>
            <a:fillRect/>
          </a:stretch>
        </p:blipFill>
        <p:spPr>
          <a:xfrm>
            <a:off x="3401568" y="1389888"/>
            <a:ext cx="1929384" cy="4287520"/>
          </a:xfrm>
          <a:prstGeom prst="rect">
            <a:avLst/>
          </a:prstGeom>
        </p:spPr>
      </p:pic>
      <p:sp>
        <p:nvSpPr>
          <p:cNvPr id="8" name="text-49"/>
          <p:cNvSpPr txBox="1"/>
          <p:nvPr/>
        </p:nvSpPr>
        <p:spPr>
          <a:xfrm>
            <a:off x="31546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Create an account</a:t>
            </a:r>
            <a:endParaRPr lang="en-US" sz="1300" dirty="0"/>
          </a:p>
        </p:txBody>
      </p:sp>
      <p:sp>
        <p:nvSpPr>
          <p:cNvPr id="9" name="icon-circle-50"/>
          <p:cNvSpPr/>
          <p:nvPr/>
        </p:nvSpPr>
        <p:spPr>
          <a:xfrm>
            <a:off x="6035040" y="1463040"/>
            <a:ext cx="566928" cy="566928"/>
          </a:xfrm>
          <a:prstGeom prst="ellipse">
            <a:avLst/>
          </a:prstGeom>
          <a:solidFill>
            <a:schemeClr val="bg2"/>
          </a:solidFill>
          <a:ln/>
        </p:spPr>
      </p:sp>
      <p:pic>
        <p:nvPicPr>
          <p:cNvPr id="10" name="icon-51" descr="preencoded.png">    </p:cNvPr>
          <p:cNvPicPr>
            <a:picLocks noChangeAspect="1"/>
          </p:cNvPicPr>
          <p:nvPr/>
        </p:nvPicPr>
        <p:blipFill>
          <a:blip r:embed="rId3"/>
          <a:stretch>
            <a:fillRect/>
          </a:stretch>
        </p:blipFill>
        <p:spPr>
          <a:xfrm>
            <a:off x="6171103" y="1599103"/>
            <a:ext cx="294803" cy="294803"/>
          </a:xfrm>
          <a:prstGeom prst="rect">
            <a:avLst/>
          </a:prstGeom>
        </p:spPr>
      </p:pic>
      <p:sp>
        <p:nvSpPr>
          <p:cNvPr id="11" name="text-52"/>
          <p:cNvSpPr txBox="1"/>
          <p:nvPr/>
        </p:nvSpPr>
        <p:spPr>
          <a:xfrm>
            <a:off x="6830568" y="144475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Mobile number login</a:t>
            </a:r>
            <a:endParaRPr lang="en-US" sz="1600" dirty="0"/>
          </a:p>
          <a:p>
            <a:pPr indent="0" marL="0">
              <a:buNone/>
            </a:pPr>
            <a:r>
              <a:rPr lang="en-US" sz="1400" dirty="0">
                <a:solidFill>
                  <a:schemeClr val="tx1"/>
                </a:solidFill>
              </a:rPr>
              <a:t>No email needed; the mobile number is the student’s login.</a:t>
            </a:r>
            <a:endParaRPr lang="en-US" sz="1600" dirty="0"/>
          </a:p>
        </p:txBody>
      </p:sp>
      <p:sp>
        <p:nvSpPr>
          <p:cNvPr id="12" name="icon-circle-53"/>
          <p:cNvSpPr/>
          <p:nvPr/>
        </p:nvSpPr>
        <p:spPr>
          <a:xfrm>
            <a:off x="6035040" y="2560320"/>
            <a:ext cx="566928" cy="566928"/>
          </a:xfrm>
          <a:prstGeom prst="ellipse">
            <a:avLst/>
          </a:prstGeom>
          <a:solidFill>
            <a:schemeClr val="bg2"/>
          </a:solidFill>
          <a:ln/>
        </p:spPr>
      </p:sp>
      <p:pic>
        <p:nvPicPr>
          <p:cNvPr id="13" name="icon-54" descr="preencoded.png">    </p:cNvPr>
          <p:cNvPicPr>
            <a:picLocks noChangeAspect="1"/>
          </p:cNvPicPr>
          <p:nvPr/>
        </p:nvPicPr>
        <p:blipFill>
          <a:blip r:embed="rId4"/>
          <a:stretch>
            <a:fillRect/>
          </a:stretch>
        </p:blipFill>
        <p:spPr>
          <a:xfrm>
            <a:off x="6171103" y="2696383"/>
            <a:ext cx="294803" cy="294803"/>
          </a:xfrm>
          <a:prstGeom prst="rect">
            <a:avLst/>
          </a:prstGeom>
        </p:spPr>
      </p:pic>
      <p:sp>
        <p:nvSpPr>
          <p:cNvPr id="14" name="text-55"/>
          <p:cNvSpPr txBox="1"/>
          <p:nvPr/>
        </p:nvSpPr>
        <p:spPr>
          <a:xfrm>
            <a:off x="6830568" y="254203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Fingerprint or face unlock</a:t>
            </a:r>
            <a:endParaRPr lang="en-US" sz="1600" dirty="0"/>
          </a:p>
          <a:p>
            <a:pPr indent="0" marL="0">
              <a:buNone/>
            </a:pPr>
            <a:r>
              <a:rPr lang="en-US" sz="1400" dirty="0">
                <a:solidFill>
                  <a:schemeClr val="tx1"/>
                </a:solidFill>
              </a:rPr>
              <a:t>Quick, secure sign-in on the student’s own phone.</a:t>
            </a:r>
            <a:endParaRPr lang="en-US" sz="1600" dirty="0"/>
          </a:p>
        </p:txBody>
      </p:sp>
      <p:sp>
        <p:nvSpPr>
          <p:cNvPr id="15" name="icon-circle-56"/>
          <p:cNvSpPr/>
          <p:nvPr/>
        </p:nvSpPr>
        <p:spPr>
          <a:xfrm>
            <a:off x="6035040" y="3657600"/>
            <a:ext cx="566928" cy="566928"/>
          </a:xfrm>
          <a:prstGeom prst="ellipse">
            <a:avLst/>
          </a:prstGeom>
          <a:solidFill>
            <a:schemeClr val="bg2"/>
          </a:solidFill>
          <a:ln/>
        </p:spPr>
      </p:sp>
      <p:pic>
        <p:nvPicPr>
          <p:cNvPr id="16" name="icon-57" descr="preencoded.png">    </p:cNvPr>
          <p:cNvPicPr>
            <a:picLocks noChangeAspect="1"/>
          </p:cNvPicPr>
          <p:nvPr/>
        </p:nvPicPr>
        <p:blipFill>
          <a:blip r:embed="rId5"/>
          <a:stretch>
            <a:fillRect/>
          </a:stretch>
        </p:blipFill>
        <p:spPr>
          <a:xfrm>
            <a:off x="6171103" y="3793663"/>
            <a:ext cx="294803" cy="294803"/>
          </a:xfrm>
          <a:prstGeom prst="rect">
            <a:avLst/>
          </a:prstGeom>
        </p:spPr>
      </p:pic>
      <p:sp>
        <p:nvSpPr>
          <p:cNvPr id="17" name="text-58"/>
          <p:cNvSpPr txBox="1"/>
          <p:nvPr/>
        </p:nvSpPr>
        <p:spPr>
          <a:xfrm>
            <a:off x="6830568" y="363931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Choice of language</a:t>
            </a:r>
            <a:endParaRPr lang="en-US" sz="1600" dirty="0"/>
          </a:p>
          <a:p>
            <a:pPr indent="0" marL="0">
              <a:buNone/>
            </a:pPr>
            <a:r>
              <a:rPr lang="en-US" sz="1400" dirty="0">
                <a:solidFill>
                  <a:schemeClr val="tx1"/>
                </a:solidFill>
              </a:rPr>
              <a:t>Students can switch the app language from the first screen.</a:t>
            </a:r>
            <a:endParaRPr lang="en-US" sz="1600" dirty="0"/>
          </a:p>
        </p:txBody>
      </p:sp>
      <p:sp>
        <p:nvSpPr>
          <p:cNvPr id="18" name="icon-circle-59"/>
          <p:cNvSpPr/>
          <p:nvPr/>
        </p:nvSpPr>
        <p:spPr>
          <a:xfrm>
            <a:off x="6035040" y="4754880"/>
            <a:ext cx="566928" cy="566928"/>
          </a:xfrm>
          <a:prstGeom prst="ellipse">
            <a:avLst/>
          </a:prstGeom>
          <a:solidFill>
            <a:schemeClr val="bg2"/>
          </a:solidFill>
          <a:ln/>
        </p:spPr>
      </p:sp>
      <p:pic>
        <p:nvPicPr>
          <p:cNvPr id="19" name="icon-60" descr="preencoded.png">    </p:cNvPr>
          <p:cNvPicPr>
            <a:picLocks noChangeAspect="1"/>
          </p:cNvPicPr>
          <p:nvPr/>
        </p:nvPicPr>
        <p:blipFill>
          <a:blip r:embed="rId6"/>
          <a:stretch>
            <a:fillRect/>
          </a:stretch>
        </p:blipFill>
        <p:spPr>
          <a:xfrm>
            <a:off x="6171103" y="4890943"/>
            <a:ext cx="294803" cy="294803"/>
          </a:xfrm>
          <a:prstGeom prst="rect">
            <a:avLst/>
          </a:prstGeom>
        </p:spPr>
      </p:pic>
      <p:sp>
        <p:nvSpPr>
          <p:cNvPr id="20" name="text-61"/>
          <p:cNvSpPr txBox="1"/>
          <p:nvPr/>
        </p:nvSpPr>
        <p:spPr>
          <a:xfrm>
            <a:off x="6830568" y="473659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Private by design</a:t>
            </a:r>
            <a:endParaRPr lang="en-US" sz="1600" dirty="0"/>
          </a:p>
          <a:p>
            <a:pPr indent="0" marL="0">
              <a:buNone/>
            </a:pPr>
            <a:r>
              <a:rPr lang="en-US" sz="1400" dirty="0">
                <a:solidFill>
                  <a:schemeClr val="tx1"/>
                </a:solidFill>
              </a:rPr>
              <a:t>Only the student signs in to their own app.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Meet Emoty, with honest expectations</a:t>
            </a:r>
            <a:endParaRPr lang="en-US" sz="3400" dirty="0"/>
          </a:p>
        </p:txBody>
      </p:sp>
      <p:sp>
        <p:nvSpPr>
          <p:cNvPr id="3" name="phone-body-62"/>
          <p:cNvSpPr/>
          <p:nvPr/>
        </p:nvSpPr>
        <p:spPr>
          <a:xfrm>
            <a:off x="68580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63" descr="App screenshot">    </p:cNvPr>
          <p:cNvPicPr>
            <a:picLocks noChangeAspect="1"/>
          </p:cNvPicPr>
          <p:nvPr/>
        </p:nvPicPr>
        <p:blipFill>
          <a:blip r:embed="rId1"/>
          <a:stretch>
            <a:fillRect/>
          </a:stretch>
        </p:blipFill>
        <p:spPr>
          <a:xfrm>
            <a:off x="749808" y="1389888"/>
            <a:ext cx="1929384" cy="4287520"/>
          </a:xfrm>
          <a:prstGeom prst="rect">
            <a:avLst/>
          </a:prstGeom>
        </p:spPr>
      </p:pic>
      <p:sp>
        <p:nvSpPr>
          <p:cNvPr id="5" name="text-64"/>
          <p:cNvSpPr txBox="1"/>
          <p:nvPr/>
        </p:nvSpPr>
        <p:spPr>
          <a:xfrm>
            <a:off x="50292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Choose a companion</a:t>
            </a:r>
            <a:endParaRPr lang="en-US" sz="1300" dirty="0"/>
          </a:p>
        </p:txBody>
      </p:sp>
      <p:sp>
        <p:nvSpPr>
          <p:cNvPr id="6" name="phone-body-65"/>
          <p:cNvSpPr/>
          <p:nvPr/>
        </p:nvSpPr>
        <p:spPr>
          <a:xfrm>
            <a:off x="3108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66" descr="App screenshot">    </p:cNvPr>
          <p:cNvPicPr>
            <a:picLocks noChangeAspect="1"/>
          </p:cNvPicPr>
          <p:nvPr/>
        </p:nvPicPr>
        <p:blipFill>
          <a:blip r:embed="rId2"/>
          <a:stretch>
            <a:fillRect/>
          </a:stretch>
        </p:blipFill>
        <p:spPr>
          <a:xfrm>
            <a:off x="3172968" y="1389888"/>
            <a:ext cx="1929384" cy="4287520"/>
          </a:xfrm>
          <a:prstGeom prst="rect">
            <a:avLst/>
          </a:prstGeom>
        </p:spPr>
      </p:pic>
      <p:sp>
        <p:nvSpPr>
          <p:cNvPr id="8" name="text-67"/>
          <p:cNvSpPr txBox="1"/>
          <p:nvPr/>
        </p:nvSpPr>
        <p:spPr>
          <a:xfrm>
            <a:off x="2926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Before we begin</a:t>
            </a:r>
            <a:endParaRPr lang="en-US" sz="1300" dirty="0"/>
          </a:p>
        </p:txBody>
      </p:sp>
      <p:sp>
        <p:nvSpPr>
          <p:cNvPr id="9" name="phone-body-68"/>
          <p:cNvSpPr/>
          <p:nvPr/>
        </p:nvSpPr>
        <p:spPr>
          <a:xfrm>
            <a:off x="553212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10" name="phone-screen-69" descr="App screenshot">    </p:cNvPr>
          <p:cNvPicPr>
            <a:picLocks noChangeAspect="1"/>
          </p:cNvPicPr>
          <p:nvPr/>
        </p:nvPicPr>
        <p:blipFill>
          <a:blip r:embed="rId3"/>
          <a:stretch>
            <a:fillRect/>
          </a:stretch>
        </p:blipFill>
        <p:spPr>
          <a:xfrm>
            <a:off x="5596128" y="1389888"/>
            <a:ext cx="1929384" cy="4287520"/>
          </a:xfrm>
          <a:prstGeom prst="rect">
            <a:avLst/>
          </a:prstGeom>
        </p:spPr>
      </p:pic>
      <p:sp>
        <p:nvSpPr>
          <p:cNvPr id="11" name="text-70"/>
          <p:cNvSpPr txBox="1"/>
          <p:nvPr/>
        </p:nvSpPr>
        <p:spPr>
          <a:xfrm>
            <a:off x="534924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Consent</a:t>
            </a:r>
            <a:endParaRPr lang="en-US" sz="1300" dirty="0"/>
          </a:p>
        </p:txBody>
      </p:sp>
      <p:sp>
        <p:nvSpPr>
          <p:cNvPr id="12" name="icon-circle-71"/>
          <p:cNvSpPr/>
          <p:nvPr/>
        </p:nvSpPr>
        <p:spPr>
          <a:xfrm>
            <a:off x="7863840" y="1554480"/>
            <a:ext cx="566928" cy="566928"/>
          </a:xfrm>
          <a:prstGeom prst="ellipse">
            <a:avLst/>
          </a:prstGeom>
          <a:solidFill>
            <a:schemeClr val="bg2"/>
          </a:solidFill>
          <a:ln/>
        </p:spPr>
      </p:sp>
      <p:pic>
        <p:nvPicPr>
          <p:cNvPr id="13" name="icon-72" descr="preencoded.png">    </p:cNvPr>
          <p:cNvPicPr>
            <a:picLocks noChangeAspect="1"/>
          </p:cNvPicPr>
          <p:nvPr/>
        </p:nvPicPr>
        <p:blipFill>
          <a:blip r:embed="rId4"/>
          <a:stretch>
            <a:fillRect/>
          </a:stretch>
        </p:blipFill>
        <p:spPr>
          <a:xfrm>
            <a:off x="7999903" y="1690543"/>
            <a:ext cx="294803" cy="294803"/>
          </a:xfrm>
          <a:prstGeom prst="rect">
            <a:avLst/>
          </a:prstGeom>
        </p:spPr>
      </p:pic>
      <p:sp>
        <p:nvSpPr>
          <p:cNvPr id="14" name="text-73"/>
          <p:cNvSpPr txBox="1"/>
          <p:nvPr/>
        </p:nvSpPr>
        <p:spPr>
          <a:xfrm>
            <a:off x="8659368" y="153619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A friendly companion</a:t>
            </a:r>
            <a:endParaRPr lang="en-US" sz="1600" dirty="0"/>
          </a:p>
          <a:p>
            <a:pPr indent="0" marL="0">
              <a:buNone/>
            </a:pPr>
            <a:r>
              <a:rPr lang="en-US" sz="1400" dirty="0">
                <a:solidFill>
                  <a:schemeClr val="tx1"/>
                </a:solidFill>
              </a:rPr>
              <a:t>Students pick Emoty’s look and can rename it later.</a:t>
            </a:r>
            <a:endParaRPr lang="en-US" sz="1600" dirty="0"/>
          </a:p>
        </p:txBody>
      </p:sp>
      <p:sp>
        <p:nvSpPr>
          <p:cNvPr id="15" name="icon-circle-74"/>
          <p:cNvSpPr/>
          <p:nvPr/>
        </p:nvSpPr>
        <p:spPr>
          <a:xfrm>
            <a:off x="7863840" y="2880360"/>
            <a:ext cx="566928" cy="566928"/>
          </a:xfrm>
          <a:prstGeom prst="ellipse">
            <a:avLst/>
          </a:prstGeom>
          <a:solidFill>
            <a:schemeClr val="bg2"/>
          </a:solidFill>
          <a:ln/>
        </p:spPr>
      </p:sp>
      <p:pic>
        <p:nvPicPr>
          <p:cNvPr id="16" name="icon-75" descr="preencoded.png">    </p:cNvPr>
          <p:cNvPicPr>
            <a:picLocks noChangeAspect="1"/>
          </p:cNvPicPr>
          <p:nvPr/>
        </p:nvPicPr>
        <p:blipFill>
          <a:blip r:embed="rId5"/>
          <a:stretch>
            <a:fillRect/>
          </a:stretch>
        </p:blipFill>
        <p:spPr>
          <a:xfrm>
            <a:off x="7999903" y="3016423"/>
            <a:ext cx="294803" cy="294803"/>
          </a:xfrm>
          <a:prstGeom prst="rect">
            <a:avLst/>
          </a:prstGeom>
        </p:spPr>
      </p:pic>
      <p:sp>
        <p:nvSpPr>
          <p:cNvPr id="17" name="text-76"/>
          <p:cNvSpPr txBox="1"/>
          <p:nvPr/>
        </p:nvSpPr>
        <p:spPr>
          <a:xfrm>
            <a:off x="8659368" y="286207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Clear about what it is</a:t>
            </a:r>
            <a:endParaRPr lang="en-US" sz="1600" dirty="0"/>
          </a:p>
          <a:p>
            <a:pPr indent="0" marL="0">
              <a:buNone/>
            </a:pPr>
            <a:r>
              <a:rPr lang="en-US" sz="1400" dirty="0">
                <a:solidFill>
                  <a:schemeClr val="tx1"/>
                </a:solidFill>
              </a:rPr>
              <a:t>Not a diagnosis tool, and not a replacement for professional care.</a:t>
            </a:r>
            <a:endParaRPr lang="en-US" sz="1600" dirty="0"/>
          </a:p>
        </p:txBody>
      </p:sp>
      <p:sp>
        <p:nvSpPr>
          <p:cNvPr id="18" name="icon-circle-77"/>
          <p:cNvSpPr/>
          <p:nvPr/>
        </p:nvSpPr>
        <p:spPr>
          <a:xfrm>
            <a:off x="7863840" y="4206240"/>
            <a:ext cx="566928" cy="566928"/>
          </a:xfrm>
          <a:prstGeom prst="ellipse">
            <a:avLst/>
          </a:prstGeom>
          <a:solidFill>
            <a:schemeClr val="bg2"/>
          </a:solidFill>
          <a:ln/>
        </p:spPr>
      </p:sp>
      <p:pic>
        <p:nvPicPr>
          <p:cNvPr id="19" name="icon-78" descr="preencoded.png">    </p:cNvPr>
          <p:cNvPicPr>
            <a:picLocks noChangeAspect="1"/>
          </p:cNvPicPr>
          <p:nvPr/>
        </p:nvPicPr>
        <p:blipFill>
          <a:blip r:embed="rId6"/>
          <a:stretch>
            <a:fillRect/>
          </a:stretch>
        </p:blipFill>
        <p:spPr>
          <a:xfrm>
            <a:off x="7999903" y="4342303"/>
            <a:ext cx="294803" cy="294803"/>
          </a:xfrm>
          <a:prstGeom prst="rect">
            <a:avLst/>
          </a:prstGeom>
        </p:spPr>
      </p:pic>
      <p:sp>
        <p:nvSpPr>
          <p:cNvPr id="20" name="text-79"/>
          <p:cNvSpPr txBox="1"/>
          <p:nvPr/>
        </p:nvSpPr>
        <p:spPr>
          <a:xfrm>
            <a:off x="8659368" y="418795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Informed consent</a:t>
            </a:r>
            <a:endParaRPr lang="en-US" sz="1600" dirty="0"/>
          </a:p>
          <a:p>
            <a:pPr indent="0" marL="0">
              <a:buNone/>
            </a:pPr>
            <a:r>
              <a:rPr lang="en-US" sz="1400" dirty="0">
                <a:solidFill>
                  <a:schemeClr val="tx1"/>
                </a:solidFill>
              </a:rPr>
              <a:t>Students read and agree to how their information is used.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Safety is built in from day one</a:t>
            </a:r>
            <a:endParaRPr lang="en-US" sz="3400" dirty="0"/>
          </a:p>
        </p:txBody>
      </p:sp>
      <p:sp>
        <p:nvSpPr>
          <p:cNvPr id="3" name="card-80"/>
          <p:cNvSpPr/>
          <p:nvPr/>
        </p:nvSpPr>
        <p:spPr>
          <a:xfrm>
            <a:off x="548640" y="1417320"/>
            <a:ext cx="5852160" cy="4434840"/>
          </a:xfrm>
          <a:prstGeom prst="roundRect">
            <a:avLst>
              <a:gd name="adj" fmla="val 2887"/>
            </a:avLst>
          </a:prstGeom>
          <a:solidFill>
            <a:schemeClr val="bg2"/>
          </a:solidFill>
          <a:ln/>
        </p:spPr>
      </p:sp>
      <p:sp>
        <p:nvSpPr>
          <p:cNvPr id="4" name="icon-circle-81"/>
          <p:cNvSpPr/>
          <p:nvPr/>
        </p:nvSpPr>
        <p:spPr>
          <a:xfrm>
            <a:off x="868680" y="1737360"/>
            <a:ext cx="731520" cy="731520"/>
          </a:xfrm>
          <a:prstGeom prst="ellipse">
            <a:avLst/>
          </a:prstGeom>
          <a:solidFill>
            <a:schemeClr val="accent4"/>
          </a:solidFill>
          <a:ln/>
        </p:spPr>
      </p:sp>
      <p:pic>
        <p:nvPicPr>
          <p:cNvPr id="5" name="icon-82" descr="preencoded.png">    </p:cNvPr>
          <p:cNvPicPr>
            <a:picLocks noChangeAspect="1"/>
          </p:cNvPicPr>
          <p:nvPr/>
        </p:nvPicPr>
        <p:blipFill>
          <a:blip r:embed="rId1"/>
          <a:stretch>
            <a:fillRect/>
          </a:stretch>
        </p:blipFill>
        <p:spPr>
          <a:xfrm>
            <a:off x="1044245" y="1912925"/>
            <a:ext cx="380390" cy="380390"/>
          </a:xfrm>
          <a:prstGeom prst="rect">
            <a:avLst/>
          </a:prstGeom>
        </p:spPr>
      </p:pic>
      <p:sp>
        <p:nvSpPr>
          <p:cNvPr id="6" name="text-83"/>
          <p:cNvSpPr txBox="1"/>
          <p:nvPr/>
        </p:nvSpPr>
        <p:spPr>
          <a:xfrm>
            <a:off x="868680" y="2651760"/>
            <a:ext cx="5303520" cy="457200"/>
          </a:xfrm>
          <a:prstGeom prst="rect">
            <a:avLst/>
          </a:prstGeom>
          <a:noFill/>
          <a:ln/>
        </p:spPr>
        <p:txBody>
          <a:bodyPr wrap="square" lIns="0" tIns="0" rIns="0" bIns="0" rtlCol="0" anchor="t"/>
          <a:lstStyle/>
          <a:p>
            <a:pPr indent="0" marL="0">
              <a:buNone/>
            </a:pPr>
            <a:r>
              <a:rPr lang="en-US" sz="2100" b="1" dirty="0">
                <a:solidFill>
                  <a:schemeClr val="tx2"/>
                </a:solidFill>
              </a:rPr>
              <a:t>An emergency contact is required</a:t>
            </a:r>
            <a:endParaRPr lang="en-US" sz="2100" dirty="0"/>
          </a:p>
        </p:txBody>
      </p:sp>
      <p:sp>
        <p:nvSpPr>
          <p:cNvPr id="7" name="text-84"/>
          <p:cNvSpPr txBox="1"/>
          <p:nvPr/>
        </p:nvSpPr>
        <p:spPr>
          <a:xfrm>
            <a:off x="868680" y="3154680"/>
            <a:ext cx="5212080" cy="914400"/>
          </a:xfrm>
          <a:prstGeom prst="rect">
            <a:avLst/>
          </a:prstGeom>
          <a:noFill/>
          <a:ln/>
        </p:spPr>
        <p:txBody>
          <a:bodyPr wrap="square" lIns="0" tIns="0" rIns="0" bIns="0" rtlCol="0" anchor="t"/>
          <a:lstStyle/>
          <a:p>
            <a:pPr indent="0" marL="0">
              <a:buNone/>
            </a:pPr>
            <a:r>
              <a:rPr lang="en-US" sz="1600" dirty="0">
                <a:solidFill>
                  <a:schemeClr val="tx1"/>
                </a:solidFill>
              </a:rPr>
              <a:t>Every student names someone the team can reach if there is ever a serious concern about their safety.</a:t>
            </a:r>
            <a:endParaRPr lang="en-US" sz="1600" dirty="0"/>
          </a:p>
        </p:txBody>
      </p:sp>
      <p:sp>
        <p:nvSpPr>
          <p:cNvPr id="8" name="icon-circle-85"/>
          <p:cNvSpPr/>
          <p:nvPr/>
        </p:nvSpPr>
        <p:spPr>
          <a:xfrm>
            <a:off x="868680" y="4160520"/>
            <a:ext cx="731520" cy="731520"/>
          </a:xfrm>
          <a:prstGeom prst="ellipse">
            <a:avLst/>
          </a:prstGeom>
          <a:solidFill>
            <a:schemeClr val="accent1"/>
          </a:solidFill>
          <a:ln/>
        </p:spPr>
      </p:sp>
      <p:pic>
        <p:nvPicPr>
          <p:cNvPr id="9" name="icon-86" descr="preencoded.png">    </p:cNvPr>
          <p:cNvPicPr>
            <a:picLocks noChangeAspect="1"/>
          </p:cNvPicPr>
          <p:nvPr/>
        </p:nvPicPr>
        <p:blipFill>
          <a:blip r:embed="rId2"/>
          <a:stretch>
            <a:fillRect/>
          </a:stretch>
        </p:blipFill>
        <p:spPr>
          <a:xfrm>
            <a:off x="1044245" y="4336085"/>
            <a:ext cx="380390" cy="380390"/>
          </a:xfrm>
          <a:prstGeom prst="rect">
            <a:avLst/>
          </a:prstGeom>
        </p:spPr>
      </p:pic>
      <p:sp>
        <p:nvSpPr>
          <p:cNvPr id="10" name="text-87"/>
          <p:cNvSpPr txBox="1"/>
          <p:nvPr/>
        </p:nvSpPr>
        <p:spPr>
          <a:xfrm>
            <a:off x="1783080" y="4160520"/>
            <a:ext cx="4389120" cy="365760"/>
          </a:xfrm>
          <a:prstGeom prst="rect">
            <a:avLst/>
          </a:prstGeom>
          <a:noFill/>
          <a:ln/>
        </p:spPr>
        <p:txBody>
          <a:bodyPr wrap="square" lIns="0" tIns="0" rIns="0" bIns="0" rtlCol="0" anchor="t"/>
          <a:lstStyle/>
          <a:p>
            <a:pPr indent="0" marL="0">
              <a:buNone/>
            </a:pPr>
            <a:r>
              <a:rPr lang="en-US" sz="1800" b="1" dirty="0">
                <a:solidFill>
                  <a:schemeClr val="tx2"/>
                </a:solidFill>
              </a:rPr>
              <a:t>A few details about the student</a:t>
            </a:r>
            <a:endParaRPr lang="en-US" sz="1800" dirty="0"/>
          </a:p>
        </p:txBody>
      </p:sp>
      <p:sp>
        <p:nvSpPr>
          <p:cNvPr id="11" name="text-88"/>
          <p:cNvSpPr txBox="1"/>
          <p:nvPr/>
        </p:nvSpPr>
        <p:spPr>
          <a:xfrm>
            <a:off x="1783080" y="4572000"/>
            <a:ext cx="4389120" cy="822960"/>
          </a:xfrm>
          <a:prstGeom prst="rect">
            <a:avLst/>
          </a:prstGeom>
          <a:noFill/>
          <a:ln/>
        </p:spPr>
        <p:txBody>
          <a:bodyPr wrap="square" lIns="0" tIns="0" rIns="0" bIns="0" rtlCol="0" anchor="t"/>
          <a:lstStyle/>
          <a:p>
            <a:pPr indent="0" marL="0">
              <a:buNone/>
            </a:pPr>
            <a:r>
              <a:rPr lang="en-US" sz="1500" dirty="0">
                <a:solidFill>
                  <a:schemeClr val="tx1"/>
                </a:solidFill>
              </a:rPr>
              <a:t>Preferred name, age, campus and department help tailor support.</a:t>
            </a:r>
            <a:endParaRPr lang="en-US" sz="1500" dirty="0"/>
          </a:p>
        </p:txBody>
      </p:sp>
      <p:sp>
        <p:nvSpPr>
          <p:cNvPr id="12" name="phone-body-89"/>
          <p:cNvSpPr/>
          <p:nvPr/>
        </p:nvSpPr>
        <p:spPr>
          <a:xfrm>
            <a:off x="694944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13" name="phone-screen-90" descr="App screenshot">    </p:cNvPr>
          <p:cNvPicPr>
            <a:picLocks noChangeAspect="1"/>
          </p:cNvPicPr>
          <p:nvPr/>
        </p:nvPicPr>
        <p:blipFill>
          <a:blip r:embed="rId3"/>
          <a:stretch>
            <a:fillRect/>
          </a:stretch>
        </p:blipFill>
        <p:spPr>
          <a:xfrm>
            <a:off x="7013448" y="1389888"/>
            <a:ext cx="1929384" cy="4287520"/>
          </a:xfrm>
          <a:prstGeom prst="rect">
            <a:avLst/>
          </a:prstGeom>
        </p:spPr>
      </p:pic>
      <p:sp>
        <p:nvSpPr>
          <p:cNvPr id="14" name="text-91"/>
          <p:cNvSpPr txBox="1"/>
          <p:nvPr/>
        </p:nvSpPr>
        <p:spPr>
          <a:xfrm>
            <a:off x="676656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Emergency contact</a:t>
            </a:r>
            <a:endParaRPr lang="en-US" sz="1300" dirty="0"/>
          </a:p>
        </p:txBody>
      </p:sp>
      <p:sp>
        <p:nvSpPr>
          <p:cNvPr id="15" name="phone-body-92"/>
          <p:cNvSpPr/>
          <p:nvPr/>
        </p:nvSpPr>
        <p:spPr>
          <a:xfrm>
            <a:off x="941832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16" name="phone-screen-93" descr="App screenshot">    </p:cNvPr>
          <p:cNvPicPr>
            <a:picLocks noChangeAspect="1"/>
          </p:cNvPicPr>
          <p:nvPr/>
        </p:nvPicPr>
        <p:blipFill>
          <a:blip r:embed="rId4"/>
          <a:stretch>
            <a:fillRect/>
          </a:stretch>
        </p:blipFill>
        <p:spPr>
          <a:xfrm>
            <a:off x="9482328" y="1389888"/>
            <a:ext cx="1929384" cy="4287520"/>
          </a:xfrm>
          <a:prstGeom prst="rect">
            <a:avLst/>
          </a:prstGeom>
        </p:spPr>
      </p:pic>
      <p:sp>
        <p:nvSpPr>
          <p:cNvPr id="17" name="text-94"/>
          <p:cNvSpPr txBox="1"/>
          <p:nvPr/>
        </p:nvSpPr>
        <p:spPr>
          <a:xfrm>
            <a:off x="923544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About you</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 short, friendly wellbeing check</a:t>
            </a:r>
            <a:endParaRPr lang="en-US" sz="3400" dirty="0"/>
          </a:p>
        </p:txBody>
      </p:sp>
      <p:sp>
        <p:nvSpPr>
          <p:cNvPr id="3" name="phone-body-95"/>
          <p:cNvSpPr/>
          <p:nvPr/>
        </p:nvSpPr>
        <p:spPr>
          <a:xfrm>
            <a:off x="68580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96" descr="App screenshot">    </p:cNvPr>
          <p:cNvPicPr>
            <a:picLocks noChangeAspect="1"/>
          </p:cNvPicPr>
          <p:nvPr/>
        </p:nvPicPr>
        <p:blipFill>
          <a:blip r:embed="rId1"/>
          <a:stretch>
            <a:fillRect/>
          </a:stretch>
        </p:blipFill>
        <p:spPr>
          <a:xfrm>
            <a:off x="749808" y="1389888"/>
            <a:ext cx="1929384" cy="4287520"/>
          </a:xfrm>
          <a:prstGeom prst="rect">
            <a:avLst/>
          </a:prstGeom>
        </p:spPr>
      </p:pic>
      <p:sp>
        <p:nvSpPr>
          <p:cNvPr id="5" name="text-97"/>
          <p:cNvSpPr txBox="1"/>
          <p:nvPr/>
        </p:nvSpPr>
        <p:spPr>
          <a:xfrm>
            <a:off x="50292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Three short checks</a:t>
            </a:r>
            <a:endParaRPr lang="en-US" sz="1300" dirty="0"/>
          </a:p>
        </p:txBody>
      </p:sp>
      <p:sp>
        <p:nvSpPr>
          <p:cNvPr id="6" name="phone-body-98"/>
          <p:cNvSpPr/>
          <p:nvPr/>
        </p:nvSpPr>
        <p:spPr>
          <a:xfrm>
            <a:off x="3108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99" descr="App screenshot">    </p:cNvPr>
          <p:cNvPicPr>
            <a:picLocks noChangeAspect="1"/>
          </p:cNvPicPr>
          <p:nvPr/>
        </p:nvPicPr>
        <p:blipFill>
          <a:blip r:embed="rId2"/>
          <a:stretch>
            <a:fillRect/>
          </a:stretch>
        </p:blipFill>
        <p:spPr>
          <a:xfrm>
            <a:off x="3172968" y="1389888"/>
            <a:ext cx="1929384" cy="4287520"/>
          </a:xfrm>
          <a:prstGeom prst="rect">
            <a:avLst/>
          </a:prstGeom>
        </p:spPr>
      </p:pic>
      <p:sp>
        <p:nvSpPr>
          <p:cNvPr id="8" name="text-100"/>
          <p:cNvSpPr txBox="1"/>
          <p:nvPr/>
        </p:nvSpPr>
        <p:spPr>
          <a:xfrm>
            <a:off x="2926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One question at a time</a:t>
            </a:r>
            <a:endParaRPr lang="en-US" sz="1300" dirty="0"/>
          </a:p>
        </p:txBody>
      </p:sp>
      <p:sp>
        <p:nvSpPr>
          <p:cNvPr id="9" name="phone-body-101"/>
          <p:cNvSpPr/>
          <p:nvPr/>
        </p:nvSpPr>
        <p:spPr>
          <a:xfrm>
            <a:off x="553212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10" name="phone-screen-102" descr="App screenshot">    </p:cNvPr>
          <p:cNvPicPr>
            <a:picLocks noChangeAspect="1"/>
          </p:cNvPicPr>
          <p:nvPr/>
        </p:nvPicPr>
        <p:blipFill>
          <a:blip r:embed="rId3"/>
          <a:stretch>
            <a:fillRect/>
          </a:stretch>
        </p:blipFill>
        <p:spPr>
          <a:xfrm>
            <a:off x="5596128" y="1389888"/>
            <a:ext cx="1929384" cy="4287520"/>
          </a:xfrm>
          <a:prstGeom prst="rect">
            <a:avLst/>
          </a:prstGeom>
        </p:spPr>
      </p:pic>
      <p:sp>
        <p:nvSpPr>
          <p:cNvPr id="11" name="text-103"/>
          <p:cNvSpPr txBox="1"/>
          <p:nvPr/>
        </p:nvSpPr>
        <p:spPr>
          <a:xfrm>
            <a:off x="534924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Simple answers</a:t>
            </a:r>
            <a:endParaRPr lang="en-US" sz="1300" dirty="0"/>
          </a:p>
        </p:txBody>
      </p:sp>
      <p:sp>
        <p:nvSpPr>
          <p:cNvPr id="12" name="card-104"/>
          <p:cNvSpPr/>
          <p:nvPr/>
        </p:nvSpPr>
        <p:spPr>
          <a:xfrm>
            <a:off x="7863840" y="1417320"/>
            <a:ext cx="3794760" cy="1005840"/>
          </a:xfrm>
          <a:prstGeom prst="roundRect">
            <a:avLst>
              <a:gd name="adj" fmla="val 12727"/>
            </a:avLst>
          </a:prstGeom>
          <a:solidFill>
            <a:schemeClr val="bg2"/>
          </a:solidFill>
          <a:ln/>
        </p:spPr>
      </p:sp>
      <p:sp>
        <p:nvSpPr>
          <p:cNvPr id="13" name="text-105"/>
          <p:cNvSpPr txBox="1"/>
          <p:nvPr/>
        </p:nvSpPr>
        <p:spPr>
          <a:xfrm>
            <a:off x="8092440" y="1554480"/>
            <a:ext cx="3429000" cy="777240"/>
          </a:xfrm>
          <a:prstGeom prst="rect">
            <a:avLst/>
          </a:prstGeom>
          <a:noFill/>
          <a:ln/>
        </p:spPr>
        <p:txBody>
          <a:bodyPr wrap="square" lIns="0" tIns="0" rIns="0" bIns="0" rtlCol="0" anchor="t"/>
          <a:lstStyle/>
          <a:p>
            <a:pPr indent="0" marL="0">
              <a:buNone/>
            </a:pPr>
            <a:r>
              <a:rPr lang="en-US" sz="1600" b="1" dirty="0">
                <a:solidFill>
                  <a:schemeClr val="tx2"/>
                </a:solidFill>
              </a:rPr>
              <a:t>Mood &amp; Energy Check</a:t>
            </a:r>
            <a:endParaRPr lang="en-US" sz="1600" dirty="0"/>
          </a:p>
          <a:p>
            <a:pPr indent="0" marL="0">
              <a:buNone/>
            </a:pPr>
            <a:r>
              <a:rPr lang="en-US" sz="1400" dirty="0">
                <a:solidFill>
                  <a:schemeClr val="tx1"/>
                </a:solidFill>
              </a:rPr>
              <a:t>9 questions on mood, sleep and energy</a:t>
            </a:r>
            <a:endParaRPr lang="en-US" sz="1600" dirty="0"/>
          </a:p>
        </p:txBody>
      </p:sp>
      <p:sp>
        <p:nvSpPr>
          <p:cNvPr id="14" name="card-106"/>
          <p:cNvSpPr/>
          <p:nvPr/>
        </p:nvSpPr>
        <p:spPr>
          <a:xfrm>
            <a:off x="7863840" y="2606040"/>
            <a:ext cx="3794760" cy="1005840"/>
          </a:xfrm>
          <a:prstGeom prst="roundRect">
            <a:avLst>
              <a:gd name="adj" fmla="val 12727"/>
            </a:avLst>
          </a:prstGeom>
          <a:solidFill>
            <a:schemeClr val="bg2"/>
          </a:solidFill>
          <a:ln/>
        </p:spPr>
      </p:sp>
      <p:sp>
        <p:nvSpPr>
          <p:cNvPr id="15" name="text-107"/>
          <p:cNvSpPr txBox="1"/>
          <p:nvPr/>
        </p:nvSpPr>
        <p:spPr>
          <a:xfrm>
            <a:off x="8092440" y="2743200"/>
            <a:ext cx="3429000" cy="777240"/>
          </a:xfrm>
          <a:prstGeom prst="rect">
            <a:avLst/>
          </a:prstGeom>
          <a:noFill/>
          <a:ln/>
        </p:spPr>
        <p:txBody>
          <a:bodyPr wrap="square" lIns="0" tIns="0" rIns="0" bIns="0" rtlCol="0" anchor="t"/>
          <a:lstStyle/>
          <a:p>
            <a:pPr indent="0" marL="0">
              <a:buNone/>
            </a:pPr>
            <a:r>
              <a:rPr lang="en-US" sz="1600" b="1" dirty="0">
                <a:solidFill>
                  <a:schemeClr val="tx2"/>
                </a:solidFill>
              </a:rPr>
              <a:t>Calm &amp; Focus Check</a:t>
            </a:r>
            <a:endParaRPr lang="en-US" sz="1600" dirty="0"/>
          </a:p>
          <a:p>
            <a:pPr indent="0" marL="0">
              <a:buNone/>
            </a:pPr>
            <a:r>
              <a:rPr lang="en-US" sz="1400" dirty="0">
                <a:solidFill>
                  <a:schemeClr val="tx1"/>
                </a:solidFill>
              </a:rPr>
              <a:t>7 questions on worry and tension</a:t>
            </a:r>
            <a:endParaRPr lang="en-US" sz="1600" dirty="0"/>
          </a:p>
        </p:txBody>
      </p:sp>
      <p:sp>
        <p:nvSpPr>
          <p:cNvPr id="16" name="card-108"/>
          <p:cNvSpPr/>
          <p:nvPr/>
        </p:nvSpPr>
        <p:spPr>
          <a:xfrm>
            <a:off x="7863840" y="3794760"/>
            <a:ext cx="3794760" cy="1005840"/>
          </a:xfrm>
          <a:prstGeom prst="roundRect">
            <a:avLst>
              <a:gd name="adj" fmla="val 12727"/>
            </a:avLst>
          </a:prstGeom>
          <a:solidFill>
            <a:schemeClr val="bg2"/>
          </a:solidFill>
          <a:ln/>
        </p:spPr>
      </p:sp>
      <p:sp>
        <p:nvSpPr>
          <p:cNvPr id="17" name="text-109"/>
          <p:cNvSpPr txBox="1"/>
          <p:nvPr/>
        </p:nvSpPr>
        <p:spPr>
          <a:xfrm>
            <a:off x="8092440" y="3931920"/>
            <a:ext cx="3429000" cy="777240"/>
          </a:xfrm>
          <a:prstGeom prst="rect">
            <a:avLst/>
          </a:prstGeom>
          <a:noFill/>
          <a:ln/>
        </p:spPr>
        <p:txBody>
          <a:bodyPr wrap="square" lIns="0" tIns="0" rIns="0" bIns="0" rtlCol="0" anchor="t"/>
          <a:lstStyle/>
          <a:p>
            <a:pPr indent="0" marL="0">
              <a:buNone/>
            </a:pPr>
            <a:r>
              <a:rPr lang="en-US" sz="1600" b="1" dirty="0">
                <a:solidFill>
                  <a:schemeClr val="tx2"/>
                </a:solidFill>
              </a:rPr>
              <a:t>Perception &amp; Thoughts Check</a:t>
            </a:r>
            <a:endParaRPr lang="en-US" sz="1600" dirty="0"/>
          </a:p>
          <a:p>
            <a:pPr indent="0" marL="0">
              <a:buNone/>
            </a:pPr>
            <a:r>
              <a:rPr lang="en-US" sz="1400" dirty="0">
                <a:solidFill>
                  <a:schemeClr val="tx1"/>
                </a:solidFill>
              </a:rPr>
              <a:t>16 yes/no questions on unusual experiences</a:t>
            </a:r>
            <a:endParaRPr lang="en-US" sz="1600" dirty="0"/>
          </a:p>
        </p:txBody>
      </p:sp>
      <p:sp>
        <p:nvSpPr>
          <p:cNvPr id="18" name="text-110"/>
          <p:cNvSpPr txBox="1"/>
          <p:nvPr/>
        </p:nvSpPr>
        <p:spPr>
          <a:xfrm>
            <a:off x="7863840" y="5029200"/>
            <a:ext cx="3794760" cy="914400"/>
          </a:xfrm>
          <a:prstGeom prst="rect">
            <a:avLst/>
          </a:prstGeom>
          <a:noFill/>
          <a:ln/>
        </p:spPr>
        <p:txBody>
          <a:bodyPr wrap="square" lIns="0" tIns="0" rIns="0" bIns="0" rtlCol="0" anchor="t"/>
          <a:lstStyle/>
          <a:p>
            <a:pPr indent="0" marL="0">
              <a:buNone/>
            </a:pPr>
            <a:r>
              <a:rPr lang="en-US" sz="1400" i="1" dirty="0">
                <a:solidFill>
                  <a:schemeClr val="accent6"/>
                </a:solidFill>
              </a:rPr>
              <a:t>Well-established questionnaires, with friendly names. Emoty reminds students there are no wrong answers.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Finishing the check unlocks the app</a:t>
            </a:r>
            <a:endParaRPr lang="en-US" sz="3400" dirty="0"/>
          </a:p>
        </p:txBody>
      </p:sp>
      <p:sp>
        <p:nvSpPr>
          <p:cNvPr id="3" name="phone-body-111"/>
          <p:cNvSpPr/>
          <p:nvPr/>
        </p:nvSpPr>
        <p:spPr>
          <a:xfrm>
            <a:off x="91440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112" descr="App screenshot">    </p:cNvPr>
          <p:cNvPicPr>
            <a:picLocks noChangeAspect="1"/>
          </p:cNvPicPr>
          <p:nvPr/>
        </p:nvPicPr>
        <p:blipFill>
          <a:blip r:embed="rId1"/>
          <a:stretch>
            <a:fillRect/>
          </a:stretch>
        </p:blipFill>
        <p:spPr>
          <a:xfrm>
            <a:off x="978408" y="1389888"/>
            <a:ext cx="1929384" cy="4287520"/>
          </a:xfrm>
          <a:prstGeom prst="rect">
            <a:avLst/>
          </a:prstGeom>
        </p:spPr>
      </p:pic>
      <p:sp>
        <p:nvSpPr>
          <p:cNvPr id="5" name="text-113"/>
          <p:cNvSpPr txBox="1"/>
          <p:nvPr/>
        </p:nvSpPr>
        <p:spPr>
          <a:xfrm>
            <a:off x="914400" y="5989320"/>
            <a:ext cx="2057400" cy="320040"/>
          </a:xfrm>
          <a:prstGeom prst="rect">
            <a:avLst/>
          </a:prstGeom>
          <a:noFill/>
          <a:ln/>
        </p:spPr>
        <p:txBody>
          <a:bodyPr wrap="square" lIns="0" tIns="0" rIns="0" bIns="0" rtlCol="0" anchor="t"/>
          <a:lstStyle/>
          <a:p>
            <a:pPr algn="ctr" indent="0" marL="0">
              <a:buNone/>
            </a:pPr>
            <a:r>
              <a:rPr lang="en-US" sz="1400" b="1" dirty="0">
                <a:solidFill>
                  <a:schemeClr val="accent6"/>
                </a:solidFill>
              </a:rPr>
              <a:t>Before</a:t>
            </a:r>
            <a:endParaRPr lang="en-US" sz="1400" dirty="0"/>
          </a:p>
        </p:txBody>
      </p:sp>
      <p:pic>
        <p:nvPicPr>
          <p:cNvPr id="6" name="arrow-114" descr="preencoded.png">    </p:cNvPr>
          <p:cNvPicPr>
            <a:picLocks noChangeAspect="1"/>
          </p:cNvPicPr>
          <p:nvPr/>
        </p:nvPicPr>
        <p:blipFill>
          <a:blip r:embed="rId2"/>
          <a:stretch>
            <a:fillRect/>
          </a:stretch>
        </p:blipFill>
        <p:spPr>
          <a:xfrm>
            <a:off x="3337560" y="3246120"/>
            <a:ext cx="548640" cy="548640"/>
          </a:xfrm>
          <a:prstGeom prst="rect">
            <a:avLst/>
          </a:prstGeom>
        </p:spPr>
      </p:pic>
      <p:sp>
        <p:nvSpPr>
          <p:cNvPr id="7" name="phone-body-115"/>
          <p:cNvSpPr/>
          <p:nvPr/>
        </p:nvSpPr>
        <p:spPr>
          <a:xfrm>
            <a:off x="4251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8" name="phone-screen-116" descr="App screenshot">    </p:cNvPr>
          <p:cNvPicPr>
            <a:picLocks noChangeAspect="1"/>
          </p:cNvPicPr>
          <p:nvPr/>
        </p:nvPicPr>
        <p:blipFill>
          <a:blip r:embed="rId3"/>
          <a:stretch>
            <a:fillRect/>
          </a:stretch>
        </p:blipFill>
        <p:spPr>
          <a:xfrm>
            <a:off x="4315968" y="1389888"/>
            <a:ext cx="1929384" cy="4287520"/>
          </a:xfrm>
          <a:prstGeom prst="rect">
            <a:avLst/>
          </a:prstGeom>
        </p:spPr>
      </p:pic>
      <p:sp>
        <p:nvSpPr>
          <p:cNvPr id="9" name="text-117"/>
          <p:cNvSpPr txBox="1"/>
          <p:nvPr/>
        </p:nvSpPr>
        <p:spPr>
          <a:xfrm>
            <a:off x="4251960" y="5989320"/>
            <a:ext cx="2057400" cy="320040"/>
          </a:xfrm>
          <a:prstGeom prst="rect">
            <a:avLst/>
          </a:prstGeom>
          <a:noFill/>
          <a:ln/>
        </p:spPr>
        <p:txBody>
          <a:bodyPr wrap="square" lIns="0" tIns="0" rIns="0" bIns="0" rtlCol="0" anchor="t"/>
          <a:lstStyle/>
          <a:p>
            <a:pPr algn="ctr" indent="0" marL="0">
              <a:buNone/>
            </a:pPr>
            <a:r>
              <a:rPr lang="en-US" sz="1400" b="1" dirty="0">
                <a:solidFill>
                  <a:schemeClr val="accent1"/>
                </a:solidFill>
              </a:rPr>
              <a:t>After</a:t>
            </a:r>
            <a:endParaRPr lang="en-US" sz="1400" dirty="0"/>
          </a:p>
        </p:txBody>
      </p:sp>
      <p:sp>
        <p:nvSpPr>
          <p:cNvPr id="10" name="icon-circle-118"/>
          <p:cNvSpPr/>
          <p:nvPr/>
        </p:nvSpPr>
        <p:spPr>
          <a:xfrm>
            <a:off x="6903720" y="1554480"/>
            <a:ext cx="566928" cy="566928"/>
          </a:xfrm>
          <a:prstGeom prst="ellipse">
            <a:avLst/>
          </a:prstGeom>
          <a:solidFill>
            <a:schemeClr val="bg2"/>
          </a:solidFill>
          <a:ln/>
        </p:spPr>
      </p:sp>
      <p:pic>
        <p:nvPicPr>
          <p:cNvPr id="11" name="icon-119" descr="preencoded.png">    </p:cNvPr>
          <p:cNvPicPr>
            <a:picLocks noChangeAspect="1"/>
          </p:cNvPicPr>
          <p:nvPr/>
        </p:nvPicPr>
        <p:blipFill>
          <a:blip r:embed="rId4"/>
          <a:stretch>
            <a:fillRect/>
          </a:stretch>
        </p:blipFill>
        <p:spPr>
          <a:xfrm>
            <a:off x="7039783" y="1690543"/>
            <a:ext cx="294803" cy="294803"/>
          </a:xfrm>
          <a:prstGeom prst="rect">
            <a:avLst/>
          </a:prstGeom>
        </p:spPr>
      </p:pic>
      <p:sp>
        <p:nvSpPr>
          <p:cNvPr id="12" name="text-120"/>
          <p:cNvSpPr txBox="1"/>
          <p:nvPr/>
        </p:nvSpPr>
        <p:spPr>
          <a:xfrm>
            <a:off x="7699248" y="1536192"/>
            <a:ext cx="3959352" cy="1252728"/>
          </a:xfrm>
          <a:prstGeom prst="rect">
            <a:avLst/>
          </a:prstGeom>
          <a:noFill/>
          <a:ln/>
        </p:spPr>
        <p:txBody>
          <a:bodyPr wrap="square" lIns="0" tIns="0" rIns="0" bIns="0" rtlCol="0" anchor="t"/>
          <a:lstStyle/>
          <a:p>
            <a:pPr indent="0" marL="0">
              <a:buNone/>
            </a:pPr>
            <a:r>
              <a:rPr lang="en-US" sz="1700" b="1" dirty="0">
                <a:solidFill>
                  <a:schemeClr val="tx2"/>
                </a:solidFill>
              </a:rPr>
              <a:t>Tools stay locked until the check is done</a:t>
            </a:r>
            <a:endParaRPr lang="en-US" sz="1600" dirty="0"/>
          </a:p>
          <a:p>
            <a:pPr indent="0" marL="0">
              <a:buNone/>
            </a:pPr>
            <a:r>
              <a:rPr lang="en-US" sz="1400" dirty="0">
                <a:solidFill>
                  <a:schemeClr val="tx1"/>
                </a:solidFill>
              </a:rPr>
              <a:t>So every student starts with a clear picture of how they are.</a:t>
            </a:r>
            <a:endParaRPr lang="en-US" sz="1600" dirty="0"/>
          </a:p>
        </p:txBody>
      </p:sp>
      <p:sp>
        <p:nvSpPr>
          <p:cNvPr id="13" name="icon-circle-121"/>
          <p:cNvSpPr/>
          <p:nvPr/>
        </p:nvSpPr>
        <p:spPr>
          <a:xfrm>
            <a:off x="6903720" y="2880360"/>
            <a:ext cx="566928" cy="566928"/>
          </a:xfrm>
          <a:prstGeom prst="ellipse">
            <a:avLst/>
          </a:prstGeom>
          <a:solidFill>
            <a:schemeClr val="bg2"/>
          </a:solidFill>
          <a:ln/>
        </p:spPr>
      </p:sp>
      <p:pic>
        <p:nvPicPr>
          <p:cNvPr id="14" name="icon-122" descr="preencoded.png">    </p:cNvPr>
          <p:cNvPicPr>
            <a:picLocks noChangeAspect="1"/>
          </p:cNvPicPr>
          <p:nvPr/>
        </p:nvPicPr>
        <p:blipFill>
          <a:blip r:embed="rId5"/>
          <a:stretch>
            <a:fillRect/>
          </a:stretch>
        </p:blipFill>
        <p:spPr>
          <a:xfrm>
            <a:off x="7039783" y="3016423"/>
            <a:ext cx="294803" cy="294803"/>
          </a:xfrm>
          <a:prstGeom prst="rect">
            <a:avLst/>
          </a:prstGeom>
        </p:spPr>
      </p:pic>
      <p:sp>
        <p:nvSpPr>
          <p:cNvPr id="15" name="text-123"/>
          <p:cNvSpPr txBox="1"/>
          <p:nvPr/>
        </p:nvSpPr>
        <p:spPr>
          <a:xfrm>
            <a:off x="7699248" y="2862072"/>
            <a:ext cx="3959352" cy="1252728"/>
          </a:xfrm>
          <a:prstGeom prst="rect">
            <a:avLst/>
          </a:prstGeom>
          <a:noFill/>
          <a:ln/>
        </p:spPr>
        <p:txBody>
          <a:bodyPr wrap="square" lIns="0" tIns="0" rIns="0" bIns="0" rtlCol="0" anchor="t"/>
          <a:lstStyle/>
          <a:p>
            <a:pPr indent="0" marL="0">
              <a:buNone/>
            </a:pPr>
            <a:r>
              <a:rPr lang="en-US" sz="1700" b="1" dirty="0">
                <a:solidFill>
                  <a:schemeClr val="tx2"/>
                </a:solidFill>
              </a:rPr>
              <a:t>Students can pick up where they left off</a:t>
            </a:r>
            <a:endParaRPr lang="en-US" sz="1600" dirty="0"/>
          </a:p>
          <a:p>
            <a:pPr indent="0" marL="0">
              <a:buNone/>
            </a:pPr>
            <a:r>
              <a:rPr lang="en-US" sz="1400" dirty="0">
                <a:solidFill>
                  <a:schemeClr val="tx1"/>
                </a:solidFill>
              </a:rPr>
              <a:t>Progress is saved, with a Resume button on Home.</a:t>
            </a:r>
            <a:endParaRPr lang="en-US" sz="1600" dirty="0"/>
          </a:p>
        </p:txBody>
      </p:sp>
      <p:sp>
        <p:nvSpPr>
          <p:cNvPr id="16" name="icon-circle-124"/>
          <p:cNvSpPr/>
          <p:nvPr/>
        </p:nvSpPr>
        <p:spPr>
          <a:xfrm>
            <a:off x="6903720" y="4206240"/>
            <a:ext cx="566928" cy="566928"/>
          </a:xfrm>
          <a:prstGeom prst="ellipse">
            <a:avLst/>
          </a:prstGeom>
          <a:solidFill>
            <a:schemeClr val="bg2"/>
          </a:solidFill>
          <a:ln/>
        </p:spPr>
      </p:sp>
      <p:pic>
        <p:nvPicPr>
          <p:cNvPr id="17" name="icon-125" descr="preencoded.png">    </p:cNvPr>
          <p:cNvPicPr>
            <a:picLocks noChangeAspect="1"/>
          </p:cNvPicPr>
          <p:nvPr/>
        </p:nvPicPr>
        <p:blipFill>
          <a:blip r:embed="rId6"/>
          <a:stretch>
            <a:fillRect/>
          </a:stretch>
        </p:blipFill>
        <p:spPr>
          <a:xfrm>
            <a:off x="7039783" y="4342303"/>
            <a:ext cx="294803" cy="294803"/>
          </a:xfrm>
          <a:prstGeom prst="rect">
            <a:avLst/>
          </a:prstGeom>
        </p:spPr>
      </p:pic>
      <p:sp>
        <p:nvSpPr>
          <p:cNvPr id="18" name="text-126"/>
          <p:cNvSpPr txBox="1"/>
          <p:nvPr/>
        </p:nvSpPr>
        <p:spPr>
          <a:xfrm>
            <a:off x="7699248" y="4187952"/>
            <a:ext cx="3959352" cy="1252728"/>
          </a:xfrm>
          <a:prstGeom prst="rect">
            <a:avLst/>
          </a:prstGeom>
          <a:noFill/>
          <a:ln/>
        </p:spPr>
        <p:txBody>
          <a:bodyPr wrap="square" lIns="0" tIns="0" rIns="0" bIns="0" rtlCol="0" anchor="t"/>
          <a:lstStyle/>
          <a:p>
            <a:pPr indent="0" marL="0">
              <a:buNone/>
            </a:pPr>
            <a:r>
              <a:rPr lang="en-US" sz="1700" b="1" dirty="0">
                <a:solidFill>
                  <a:schemeClr val="tx2"/>
                </a:solidFill>
              </a:rPr>
              <a:t>Then the full app opens</a:t>
            </a:r>
            <a:endParaRPr lang="en-US" sz="1600" dirty="0"/>
          </a:p>
          <a:p>
            <a:pPr indent="0" marL="0">
              <a:buNone/>
            </a:pPr>
            <a:r>
              <a:rPr lang="en-US" sz="1400" dirty="0">
                <a:solidFill>
                  <a:schemeClr val="tx1"/>
                </a:solidFill>
              </a:rPr>
              <a:t>Tools, Insights and a daily check-in all become available.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Home: a daily check-in in one tap</a:t>
            </a:r>
            <a:endParaRPr lang="en-US" sz="3400" dirty="0"/>
          </a:p>
        </p:txBody>
      </p:sp>
      <p:sp>
        <p:nvSpPr>
          <p:cNvPr id="3" name="phone-body-127"/>
          <p:cNvSpPr/>
          <p:nvPr/>
        </p:nvSpPr>
        <p:spPr>
          <a:xfrm>
            <a:off x="68580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128" descr="App screenshot">    </p:cNvPr>
          <p:cNvPicPr>
            <a:picLocks noChangeAspect="1"/>
          </p:cNvPicPr>
          <p:nvPr/>
        </p:nvPicPr>
        <p:blipFill>
          <a:blip r:embed="rId1"/>
          <a:stretch>
            <a:fillRect/>
          </a:stretch>
        </p:blipFill>
        <p:spPr>
          <a:xfrm>
            <a:off x="749808" y="1389888"/>
            <a:ext cx="1929384" cy="4287520"/>
          </a:xfrm>
          <a:prstGeom prst="rect">
            <a:avLst/>
          </a:prstGeom>
        </p:spPr>
      </p:pic>
      <p:sp>
        <p:nvSpPr>
          <p:cNvPr id="5" name="text-129"/>
          <p:cNvSpPr txBox="1"/>
          <p:nvPr/>
        </p:nvSpPr>
        <p:spPr>
          <a:xfrm>
            <a:off x="50292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How are you feeling?</a:t>
            </a:r>
            <a:endParaRPr lang="en-US" sz="1300" dirty="0"/>
          </a:p>
        </p:txBody>
      </p:sp>
      <p:sp>
        <p:nvSpPr>
          <p:cNvPr id="6" name="phone-body-130"/>
          <p:cNvSpPr/>
          <p:nvPr/>
        </p:nvSpPr>
        <p:spPr>
          <a:xfrm>
            <a:off x="3108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131" descr="App screenshot">    </p:cNvPr>
          <p:cNvPicPr>
            <a:picLocks noChangeAspect="1"/>
          </p:cNvPicPr>
          <p:nvPr/>
        </p:nvPicPr>
        <p:blipFill>
          <a:blip r:embed="rId2"/>
          <a:stretch>
            <a:fillRect/>
          </a:stretch>
        </p:blipFill>
        <p:spPr>
          <a:xfrm>
            <a:off x="3172968" y="1389888"/>
            <a:ext cx="1929384" cy="4287520"/>
          </a:xfrm>
          <a:prstGeom prst="rect">
            <a:avLst/>
          </a:prstGeom>
        </p:spPr>
      </p:pic>
      <p:sp>
        <p:nvSpPr>
          <p:cNvPr id="8" name="text-132"/>
          <p:cNvSpPr txBox="1"/>
          <p:nvPr/>
        </p:nvSpPr>
        <p:spPr>
          <a:xfrm>
            <a:off x="2926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Today’s habits</a:t>
            </a:r>
            <a:endParaRPr lang="en-US" sz="1300" dirty="0"/>
          </a:p>
        </p:txBody>
      </p:sp>
      <p:sp>
        <p:nvSpPr>
          <p:cNvPr id="9" name="phone-body-133"/>
          <p:cNvSpPr/>
          <p:nvPr/>
        </p:nvSpPr>
        <p:spPr>
          <a:xfrm>
            <a:off x="553212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10" name="phone-screen-134" descr="App screenshot">    </p:cNvPr>
          <p:cNvPicPr>
            <a:picLocks noChangeAspect="1"/>
          </p:cNvPicPr>
          <p:nvPr/>
        </p:nvPicPr>
        <p:blipFill>
          <a:blip r:embed="rId3"/>
          <a:stretch>
            <a:fillRect/>
          </a:stretch>
        </p:blipFill>
        <p:spPr>
          <a:xfrm>
            <a:off x="5596128" y="1389888"/>
            <a:ext cx="1929384" cy="4287520"/>
          </a:xfrm>
          <a:prstGeom prst="rect">
            <a:avLst/>
          </a:prstGeom>
        </p:spPr>
      </p:pic>
      <p:sp>
        <p:nvSpPr>
          <p:cNvPr id="11" name="text-135"/>
          <p:cNvSpPr txBox="1"/>
          <p:nvPr/>
        </p:nvSpPr>
        <p:spPr>
          <a:xfrm>
            <a:off x="534924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Tools and wellbeing</a:t>
            </a:r>
            <a:endParaRPr lang="en-US" sz="1300" dirty="0"/>
          </a:p>
        </p:txBody>
      </p:sp>
      <p:sp>
        <p:nvSpPr>
          <p:cNvPr id="12" name="icon-circle-136"/>
          <p:cNvSpPr/>
          <p:nvPr/>
        </p:nvSpPr>
        <p:spPr>
          <a:xfrm>
            <a:off x="7863840" y="1554480"/>
            <a:ext cx="566928" cy="566928"/>
          </a:xfrm>
          <a:prstGeom prst="ellipse">
            <a:avLst/>
          </a:prstGeom>
          <a:solidFill>
            <a:schemeClr val="bg2"/>
          </a:solidFill>
          <a:ln/>
        </p:spPr>
      </p:sp>
      <p:pic>
        <p:nvPicPr>
          <p:cNvPr id="13" name="icon-137" descr="preencoded.png">    </p:cNvPr>
          <p:cNvPicPr>
            <a:picLocks noChangeAspect="1"/>
          </p:cNvPicPr>
          <p:nvPr/>
        </p:nvPicPr>
        <p:blipFill>
          <a:blip r:embed="rId4"/>
          <a:stretch>
            <a:fillRect/>
          </a:stretch>
        </p:blipFill>
        <p:spPr>
          <a:xfrm>
            <a:off x="7999903" y="1690543"/>
            <a:ext cx="294803" cy="294803"/>
          </a:xfrm>
          <a:prstGeom prst="rect">
            <a:avLst/>
          </a:prstGeom>
        </p:spPr>
      </p:pic>
      <p:sp>
        <p:nvSpPr>
          <p:cNvPr id="14" name="text-138"/>
          <p:cNvSpPr txBox="1"/>
          <p:nvPr/>
        </p:nvSpPr>
        <p:spPr>
          <a:xfrm>
            <a:off x="8659368" y="153619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Four simple choices</a:t>
            </a:r>
            <a:endParaRPr lang="en-US" sz="1600" dirty="0"/>
          </a:p>
          <a:p>
            <a:pPr indent="0" marL="0">
              <a:buNone/>
            </a:pPr>
            <a:r>
              <a:rPr lang="en-US" sz="1400" dirty="0">
                <a:solidFill>
                  <a:schemeClr val="tx1"/>
                </a:solidFill>
              </a:rPr>
              <a:t>Good, Calm, Low or Heavy, and Emoty responds kindly.</a:t>
            </a:r>
            <a:endParaRPr lang="en-US" sz="1600" dirty="0"/>
          </a:p>
        </p:txBody>
      </p:sp>
      <p:sp>
        <p:nvSpPr>
          <p:cNvPr id="15" name="icon-circle-139"/>
          <p:cNvSpPr/>
          <p:nvPr/>
        </p:nvSpPr>
        <p:spPr>
          <a:xfrm>
            <a:off x="7863840" y="2880360"/>
            <a:ext cx="566928" cy="566928"/>
          </a:xfrm>
          <a:prstGeom prst="ellipse">
            <a:avLst/>
          </a:prstGeom>
          <a:solidFill>
            <a:schemeClr val="bg2"/>
          </a:solidFill>
          <a:ln/>
        </p:spPr>
      </p:sp>
      <p:pic>
        <p:nvPicPr>
          <p:cNvPr id="16" name="icon-140" descr="preencoded.png">    </p:cNvPr>
          <p:cNvPicPr>
            <a:picLocks noChangeAspect="1"/>
          </p:cNvPicPr>
          <p:nvPr/>
        </p:nvPicPr>
        <p:blipFill>
          <a:blip r:embed="rId5"/>
          <a:stretch>
            <a:fillRect/>
          </a:stretch>
        </p:blipFill>
        <p:spPr>
          <a:xfrm>
            <a:off x="7999903" y="3016423"/>
            <a:ext cx="294803" cy="294803"/>
          </a:xfrm>
          <a:prstGeom prst="rect">
            <a:avLst/>
          </a:prstGeom>
        </p:spPr>
      </p:pic>
      <p:sp>
        <p:nvSpPr>
          <p:cNvPr id="17" name="text-141"/>
          <p:cNvSpPr txBox="1"/>
          <p:nvPr/>
        </p:nvSpPr>
        <p:spPr>
          <a:xfrm>
            <a:off x="8659368" y="286207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Small daily habits</a:t>
            </a:r>
            <a:endParaRPr lang="en-US" sz="1600" dirty="0"/>
          </a:p>
          <a:p>
            <a:pPr indent="0" marL="0">
              <a:buNone/>
            </a:pPr>
            <a:r>
              <a:rPr lang="en-US" sz="1400" dirty="0">
                <a:solidFill>
                  <a:schemeClr val="tx1"/>
                </a:solidFill>
              </a:rPr>
              <a:t>Short tasks like a stretch or a walk earn Calm Points.</a:t>
            </a:r>
            <a:endParaRPr lang="en-US" sz="1600" dirty="0"/>
          </a:p>
        </p:txBody>
      </p:sp>
      <p:sp>
        <p:nvSpPr>
          <p:cNvPr id="18" name="icon-circle-142"/>
          <p:cNvSpPr/>
          <p:nvPr/>
        </p:nvSpPr>
        <p:spPr>
          <a:xfrm>
            <a:off x="7863840" y="4206240"/>
            <a:ext cx="566928" cy="566928"/>
          </a:xfrm>
          <a:prstGeom prst="ellipse">
            <a:avLst/>
          </a:prstGeom>
          <a:solidFill>
            <a:schemeClr val="bg2"/>
          </a:solidFill>
          <a:ln/>
        </p:spPr>
      </p:sp>
      <p:pic>
        <p:nvPicPr>
          <p:cNvPr id="19" name="icon-143" descr="preencoded.png">    </p:cNvPr>
          <p:cNvPicPr>
            <a:picLocks noChangeAspect="1"/>
          </p:cNvPicPr>
          <p:nvPr/>
        </p:nvPicPr>
        <p:blipFill>
          <a:blip r:embed="rId6"/>
          <a:stretch>
            <a:fillRect/>
          </a:stretch>
        </p:blipFill>
        <p:spPr>
          <a:xfrm>
            <a:off x="7999903" y="4342303"/>
            <a:ext cx="294803" cy="294803"/>
          </a:xfrm>
          <a:prstGeom prst="rect">
            <a:avLst/>
          </a:prstGeom>
        </p:spPr>
      </p:pic>
      <p:sp>
        <p:nvSpPr>
          <p:cNvPr id="20" name="text-144"/>
          <p:cNvSpPr txBox="1"/>
          <p:nvPr/>
        </p:nvSpPr>
        <p:spPr>
          <a:xfrm>
            <a:off x="8659368" y="418795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Easy-to-read wellbeing</a:t>
            </a:r>
            <a:endParaRPr lang="en-US" sz="1600" dirty="0"/>
          </a:p>
          <a:p>
            <a:pPr indent="0" marL="0">
              <a:buNone/>
            </a:pPr>
            <a:r>
              <a:rPr lang="en-US" sz="1400" dirty="0">
                <a:solidFill>
                  <a:schemeClr val="tx1"/>
                </a:solidFill>
              </a:rPr>
              <a:t>Simple percentages for emotional balance and calm.</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I’m Feeling: a guided check-in</a:t>
            </a:r>
            <a:endParaRPr lang="en-US" sz="3400" dirty="0"/>
          </a:p>
        </p:txBody>
      </p:sp>
      <p:sp>
        <p:nvSpPr>
          <p:cNvPr id="3" name="phone-body-145"/>
          <p:cNvSpPr/>
          <p:nvPr/>
        </p:nvSpPr>
        <p:spPr>
          <a:xfrm>
            <a:off x="91440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146" descr="App screenshot">    </p:cNvPr>
          <p:cNvPicPr>
            <a:picLocks noChangeAspect="1"/>
          </p:cNvPicPr>
          <p:nvPr/>
        </p:nvPicPr>
        <p:blipFill>
          <a:blip r:embed="rId1"/>
          <a:stretch>
            <a:fillRect/>
          </a:stretch>
        </p:blipFill>
        <p:spPr>
          <a:xfrm>
            <a:off x="978408" y="1298448"/>
            <a:ext cx="1700784" cy="3779520"/>
          </a:xfrm>
          <a:prstGeom prst="rect">
            <a:avLst/>
          </a:prstGeom>
        </p:spPr>
      </p:pic>
      <p:sp>
        <p:nvSpPr>
          <p:cNvPr id="5" name="text-147"/>
          <p:cNvSpPr txBox="1"/>
          <p:nvPr/>
        </p:nvSpPr>
        <p:spPr>
          <a:xfrm>
            <a:off x="73152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1. Notice the body</a:t>
            </a:r>
            <a:endParaRPr lang="en-US" sz="1300" dirty="0"/>
          </a:p>
        </p:txBody>
      </p:sp>
      <p:sp>
        <p:nvSpPr>
          <p:cNvPr id="6" name="phone-body-148"/>
          <p:cNvSpPr/>
          <p:nvPr/>
        </p:nvSpPr>
        <p:spPr>
          <a:xfrm>
            <a:off x="374904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149" descr="App screenshot">    </p:cNvPr>
          <p:cNvPicPr>
            <a:picLocks noChangeAspect="1"/>
          </p:cNvPicPr>
          <p:nvPr/>
        </p:nvPicPr>
        <p:blipFill>
          <a:blip r:embed="rId2"/>
          <a:stretch>
            <a:fillRect/>
          </a:stretch>
        </p:blipFill>
        <p:spPr>
          <a:xfrm>
            <a:off x="3813048" y="1298448"/>
            <a:ext cx="1700784" cy="3779520"/>
          </a:xfrm>
          <a:prstGeom prst="rect">
            <a:avLst/>
          </a:prstGeom>
        </p:spPr>
      </p:pic>
      <p:sp>
        <p:nvSpPr>
          <p:cNvPr id="8" name="text-150"/>
          <p:cNvSpPr txBox="1"/>
          <p:nvPr/>
        </p:nvSpPr>
        <p:spPr>
          <a:xfrm>
            <a:off x="356616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2. A gentle body scan</a:t>
            </a:r>
            <a:endParaRPr lang="en-US" sz="1300" dirty="0"/>
          </a:p>
        </p:txBody>
      </p:sp>
      <p:sp>
        <p:nvSpPr>
          <p:cNvPr id="9" name="phone-body-151"/>
          <p:cNvSpPr/>
          <p:nvPr/>
        </p:nvSpPr>
        <p:spPr>
          <a:xfrm>
            <a:off x="658368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10" name="phone-screen-152" descr="App screenshot">    </p:cNvPr>
          <p:cNvPicPr>
            <a:picLocks noChangeAspect="1"/>
          </p:cNvPicPr>
          <p:nvPr/>
        </p:nvPicPr>
        <p:blipFill>
          <a:blip r:embed="rId3"/>
          <a:stretch>
            <a:fillRect/>
          </a:stretch>
        </p:blipFill>
        <p:spPr>
          <a:xfrm>
            <a:off x="6647688" y="1298448"/>
            <a:ext cx="1700784" cy="3779520"/>
          </a:xfrm>
          <a:prstGeom prst="rect">
            <a:avLst/>
          </a:prstGeom>
        </p:spPr>
      </p:pic>
      <p:sp>
        <p:nvSpPr>
          <p:cNvPr id="11" name="text-153"/>
          <p:cNvSpPr txBox="1"/>
          <p:nvPr/>
        </p:nvSpPr>
        <p:spPr>
          <a:xfrm>
            <a:off x="640080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3. How strong is it?</a:t>
            </a:r>
            <a:endParaRPr lang="en-US" sz="1300" dirty="0"/>
          </a:p>
        </p:txBody>
      </p:sp>
      <p:sp>
        <p:nvSpPr>
          <p:cNvPr id="12" name="phone-body-154"/>
          <p:cNvSpPr/>
          <p:nvPr/>
        </p:nvSpPr>
        <p:spPr>
          <a:xfrm>
            <a:off x="941832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13" name="phone-screen-155" descr="App screenshot">    </p:cNvPr>
          <p:cNvPicPr>
            <a:picLocks noChangeAspect="1"/>
          </p:cNvPicPr>
          <p:nvPr/>
        </p:nvPicPr>
        <p:blipFill>
          <a:blip r:embed="rId4"/>
          <a:stretch>
            <a:fillRect/>
          </a:stretch>
        </p:blipFill>
        <p:spPr>
          <a:xfrm>
            <a:off x="9482328" y="1298448"/>
            <a:ext cx="1700784" cy="3779520"/>
          </a:xfrm>
          <a:prstGeom prst="rect">
            <a:avLst/>
          </a:prstGeom>
        </p:spPr>
      </p:pic>
      <p:sp>
        <p:nvSpPr>
          <p:cNvPr id="14" name="text-156"/>
          <p:cNvSpPr txBox="1"/>
          <p:nvPr/>
        </p:nvSpPr>
        <p:spPr>
          <a:xfrm>
            <a:off x="923544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4. A matched activity</a:t>
            </a:r>
            <a:endParaRPr lang="en-US" sz="1300" dirty="0"/>
          </a:p>
        </p:txBody>
      </p:sp>
      <p:sp>
        <p:nvSpPr>
          <p:cNvPr id="15" name="text-157"/>
          <p:cNvSpPr txBox="1"/>
          <p:nvPr/>
        </p:nvSpPr>
        <p:spPr>
          <a:xfrm>
            <a:off x="548640" y="5943600"/>
            <a:ext cx="11064240" cy="411480"/>
          </a:xfrm>
          <a:prstGeom prst="rect">
            <a:avLst/>
          </a:prstGeom>
          <a:noFill/>
          <a:ln/>
        </p:spPr>
        <p:txBody>
          <a:bodyPr wrap="square" lIns="0" tIns="0" rIns="0" bIns="0" rtlCol="0" anchor="t"/>
          <a:lstStyle/>
          <a:p>
            <a:pPr algn="ctr" indent="0" marL="0">
              <a:buNone/>
            </a:pPr>
            <a:r>
              <a:rPr lang="en-US" sz="1500" dirty="0">
                <a:solidFill>
                  <a:schemeClr val="tx2"/>
                </a:solidFill>
              </a:rPr>
              <a:t>Students name the feeling, notice where it shows up, rate how strong it is, and get one activity that fits, with an optional guided meditation.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 toolkit for every kind of moment</a:t>
            </a:r>
            <a:endParaRPr lang="en-US" sz="3400" dirty="0"/>
          </a:p>
        </p:txBody>
      </p:sp>
      <p:sp>
        <p:nvSpPr>
          <p:cNvPr id="3" name="icon-circle-158"/>
          <p:cNvSpPr/>
          <p:nvPr/>
        </p:nvSpPr>
        <p:spPr>
          <a:xfrm>
            <a:off x="548640" y="1417320"/>
            <a:ext cx="548640" cy="548640"/>
          </a:xfrm>
          <a:prstGeom prst="ellipse">
            <a:avLst/>
          </a:prstGeom>
          <a:solidFill>
            <a:schemeClr val="bg2"/>
          </a:solidFill>
          <a:ln/>
        </p:spPr>
      </p:sp>
      <p:pic>
        <p:nvPicPr>
          <p:cNvPr id="4" name="icon-159" descr="preencoded.png">    </p:cNvPr>
          <p:cNvPicPr>
            <a:picLocks noChangeAspect="1"/>
          </p:cNvPicPr>
          <p:nvPr/>
        </p:nvPicPr>
        <p:blipFill>
          <a:blip r:embed="rId1"/>
          <a:stretch>
            <a:fillRect/>
          </a:stretch>
        </p:blipFill>
        <p:spPr>
          <a:xfrm>
            <a:off x="680314" y="1548994"/>
            <a:ext cx="285293" cy="285293"/>
          </a:xfrm>
          <a:prstGeom prst="rect">
            <a:avLst/>
          </a:prstGeom>
        </p:spPr>
      </p:pic>
      <p:sp>
        <p:nvSpPr>
          <p:cNvPr id="5" name="text-160"/>
          <p:cNvSpPr txBox="1"/>
          <p:nvPr/>
        </p:nvSpPr>
        <p:spPr>
          <a:xfrm>
            <a:off x="1325880" y="1399032"/>
            <a:ext cx="3977640" cy="841248"/>
          </a:xfrm>
          <a:prstGeom prst="rect">
            <a:avLst/>
          </a:prstGeom>
          <a:noFill/>
          <a:ln/>
        </p:spPr>
        <p:txBody>
          <a:bodyPr wrap="square" lIns="0" tIns="0" rIns="0" bIns="0" rtlCol="0" anchor="t"/>
          <a:lstStyle/>
          <a:p>
            <a:pPr indent="0" marL="0">
              <a:buNone/>
            </a:pPr>
            <a:r>
              <a:rPr lang="en-US" sz="1700" b="1" dirty="0">
                <a:solidFill>
                  <a:schemeClr val="tx2"/>
                </a:solidFill>
              </a:rPr>
              <a:t>Mindfulness</a:t>
            </a:r>
            <a:endParaRPr lang="en-US" sz="1600" dirty="0"/>
          </a:p>
          <a:p>
            <a:pPr indent="0" marL="0">
              <a:buNone/>
            </a:pPr>
            <a:r>
              <a:rPr lang="en-US" sz="1400" dirty="0">
                <a:solidFill>
                  <a:schemeClr val="tx1"/>
                </a:solidFill>
              </a:rPr>
              <a:t>How I’m Feeling, Emoty, Sensory Grounding</a:t>
            </a:r>
            <a:endParaRPr lang="en-US" sz="1600" dirty="0"/>
          </a:p>
        </p:txBody>
      </p:sp>
      <p:sp>
        <p:nvSpPr>
          <p:cNvPr id="6" name="icon-circle-161"/>
          <p:cNvSpPr/>
          <p:nvPr/>
        </p:nvSpPr>
        <p:spPr>
          <a:xfrm>
            <a:off x="548640" y="2331720"/>
            <a:ext cx="548640" cy="548640"/>
          </a:xfrm>
          <a:prstGeom prst="ellipse">
            <a:avLst/>
          </a:prstGeom>
          <a:solidFill>
            <a:schemeClr val="bg2"/>
          </a:solidFill>
          <a:ln/>
        </p:spPr>
      </p:sp>
      <p:pic>
        <p:nvPicPr>
          <p:cNvPr id="7" name="icon-162" descr="preencoded.png">    </p:cNvPr>
          <p:cNvPicPr>
            <a:picLocks noChangeAspect="1"/>
          </p:cNvPicPr>
          <p:nvPr/>
        </p:nvPicPr>
        <p:blipFill>
          <a:blip r:embed="rId2"/>
          <a:stretch>
            <a:fillRect/>
          </a:stretch>
        </p:blipFill>
        <p:spPr>
          <a:xfrm>
            <a:off x="680314" y="2463394"/>
            <a:ext cx="285293" cy="285293"/>
          </a:xfrm>
          <a:prstGeom prst="rect">
            <a:avLst/>
          </a:prstGeom>
        </p:spPr>
      </p:pic>
      <p:sp>
        <p:nvSpPr>
          <p:cNvPr id="8" name="text-163"/>
          <p:cNvSpPr txBox="1"/>
          <p:nvPr/>
        </p:nvSpPr>
        <p:spPr>
          <a:xfrm>
            <a:off x="1325880" y="2313432"/>
            <a:ext cx="3977640" cy="841248"/>
          </a:xfrm>
          <a:prstGeom prst="rect">
            <a:avLst/>
          </a:prstGeom>
          <a:noFill/>
          <a:ln/>
        </p:spPr>
        <p:txBody>
          <a:bodyPr wrap="square" lIns="0" tIns="0" rIns="0" bIns="0" rtlCol="0" anchor="t"/>
          <a:lstStyle/>
          <a:p>
            <a:pPr indent="0" marL="0">
              <a:buNone/>
            </a:pPr>
            <a:r>
              <a:rPr lang="en-US" sz="1700" b="1" dirty="0">
                <a:solidFill>
                  <a:schemeClr val="tx2"/>
                </a:solidFill>
              </a:rPr>
              <a:t>Relaxation</a:t>
            </a:r>
            <a:endParaRPr lang="en-US" sz="1600" dirty="0"/>
          </a:p>
          <a:p>
            <a:pPr indent="0" marL="0">
              <a:buNone/>
            </a:pPr>
            <a:r>
              <a:rPr lang="en-US" sz="1400" dirty="0">
                <a:solidFill>
                  <a:schemeClr val="tx1"/>
                </a:solidFill>
              </a:rPr>
              <a:t>Relax Now, guided muscle relaxation</a:t>
            </a:r>
            <a:endParaRPr lang="en-US" sz="1600" dirty="0"/>
          </a:p>
        </p:txBody>
      </p:sp>
      <p:sp>
        <p:nvSpPr>
          <p:cNvPr id="9" name="icon-circle-164"/>
          <p:cNvSpPr/>
          <p:nvPr/>
        </p:nvSpPr>
        <p:spPr>
          <a:xfrm>
            <a:off x="548640" y="3246120"/>
            <a:ext cx="548640" cy="548640"/>
          </a:xfrm>
          <a:prstGeom prst="ellipse">
            <a:avLst/>
          </a:prstGeom>
          <a:solidFill>
            <a:schemeClr val="bg2"/>
          </a:solidFill>
          <a:ln/>
        </p:spPr>
      </p:sp>
      <p:pic>
        <p:nvPicPr>
          <p:cNvPr id="10" name="icon-165" descr="preencoded.png">    </p:cNvPr>
          <p:cNvPicPr>
            <a:picLocks noChangeAspect="1"/>
          </p:cNvPicPr>
          <p:nvPr/>
        </p:nvPicPr>
        <p:blipFill>
          <a:blip r:embed="rId3"/>
          <a:stretch>
            <a:fillRect/>
          </a:stretch>
        </p:blipFill>
        <p:spPr>
          <a:xfrm>
            <a:off x="680314" y="3377794"/>
            <a:ext cx="285293" cy="285293"/>
          </a:xfrm>
          <a:prstGeom prst="rect">
            <a:avLst/>
          </a:prstGeom>
        </p:spPr>
      </p:pic>
      <p:sp>
        <p:nvSpPr>
          <p:cNvPr id="11" name="text-166"/>
          <p:cNvSpPr txBox="1"/>
          <p:nvPr/>
        </p:nvSpPr>
        <p:spPr>
          <a:xfrm>
            <a:off x="1325880" y="3227832"/>
            <a:ext cx="3977640" cy="841248"/>
          </a:xfrm>
          <a:prstGeom prst="rect">
            <a:avLst/>
          </a:prstGeom>
          <a:noFill/>
          <a:ln/>
        </p:spPr>
        <p:txBody>
          <a:bodyPr wrap="square" lIns="0" tIns="0" rIns="0" bIns="0" rtlCol="0" anchor="t"/>
          <a:lstStyle/>
          <a:p>
            <a:pPr indent="0" marL="0">
              <a:buNone/>
            </a:pPr>
            <a:r>
              <a:rPr lang="en-US" sz="1700" b="1" dirty="0">
                <a:solidFill>
                  <a:schemeClr val="tx2"/>
                </a:solidFill>
              </a:rPr>
              <a:t>Cognitive</a:t>
            </a:r>
            <a:endParaRPr lang="en-US" sz="1600" dirty="0"/>
          </a:p>
          <a:p>
            <a:pPr indent="0" marL="0">
              <a:buNone/>
            </a:pPr>
            <a:r>
              <a:rPr lang="en-US" sz="1400" dirty="0">
                <a:solidFill>
                  <a:schemeClr val="tx1"/>
                </a:solidFill>
              </a:rPr>
              <a:t>Think Differently, for unhelpful thoughts</a:t>
            </a:r>
            <a:endParaRPr lang="en-US" sz="1600" dirty="0"/>
          </a:p>
        </p:txBody>
      </p:sp>
      <p:sp>
        <p:nvSpPr>
          <p:cNvPr id="12" name="icon-circle-167"/>
          <p:cNvSpPr/>
          <p:nvPr/>
        </p:nvSpPr>
        <p:spPr>
          <a:xfrm>
            <a:off x="548640" y="4160520"/>
            <a:ext cx="548640" cy="548640"/>
          </a:xfrm>
          <a:prstGeom prst="ellipse">
            <a:avLst/>
          </a:prstGeom>
          <a:solidFill>
            <a:schemeClr val="bg2"/>
          </a:solidFill>
          <a:ln/>
        </p:spPr>
      </p:sp>
      <p:pic>
        <p:nvPicPr>
          <p:cNvPr id="13" name="icon-168" descr="preencoded.png">    </p:cNvPr>
          <p:cNvPicPr>
            <a:picLocks noChangeAspect="1"/>
          </p:cNvPicPr>
          <p:nvPr/>
        </p:nvPicPr>
        <p:blipFill>
          <a:blip r:embed="rId4"/>
          <a:stretch>
            <a:fillRect/>
          </a:stretch>
        </p:blipFill>
        <p:spPr>
          <a:xfrm>
            <a:off x="680314" y="4292194"/>
            <a:ext cx="285293" cy="285293"/>
          </a:xfrm>
          <a:prstGeom prst="rect">
            <a:avLst/>
          </a:prstGeom>
        </p:spPr>
      </p:pic>
      <p:sp>
        <p:nvSpPr>
          <p:cNvPr id="14" name="text-169"/>
          <p:cNvSpPr txBox="1"/>
          <p:nvPr/>
        </p:nvSpPr>
        <p:spPr>
          <a:xfrm>
            <a:off x="1325880" y="4142232"/>
            <a:ext cx="3977640" cy="841248"/>
          </a:xfrm>
          <a:prstGeom prst="rect">
            <a:avLst/>
          </a:prstGeom>
          <a:noFill/>
          <a:ln/>
        </p:spPr>
        <p:txBody>
          <a:bodyPr wrap="square" lIns="0" tIns="0" rIns="0" bIns="0" rtlCol="0" anchor="t"/>
          <a:lstStyle/>
          <a:p>
            <a:pPr indent="0" marL="0">
              <a:buNone/>
            </a:pPr>
            <a:r>
              <a:rPr lang="en-US" sz="1700" b="1" dirty="0">
                <a:solidFill>
                  <a:schemeClr val="tx2"/>
                </a:solidFill>
              </a:rPr>
              <a:t>Habits</a:t>
            </a:r>
            <a:endParaRPr lang="en-US" sz="1600" dirty="0"/>
          </a:p>
          <a:p>
            <a:pPr indent="0" marL="0">
              <a:buNone/>
            </a:pPr>
            <a:r>
              <a:rPr lang="en-US" sz="1400" dirty="0">
                <a:solidFill>
                  <a:schemeClr val="tx1"/>
                </a:solidFill>
              </a:rPr>
              <a:t>Small Steps, for daily wins</a:t>
            </a:r>
            <a:endParaRPr lang="en-US" sz="1600" dirty="0"/>
          </a:p>
        </p:txBody>
      </p:sp>
      <p:sp>
        <p:nvSpPr>
          <p:cNvPr id="15" name="icon-circle-170"/>
          <p:cNvSpPr/>
          <p:nvPr/>
        </p:nvSpPr>
        <p:spPr>
          <a:xfrm>
            <a:off x="548640" y="5074920"/>
            <a:ext cx="548640" cy="548640"/>
          </a:xfrm>
          <a:prstGeom prst="ellipse">
            <a:avLst/>
          </a:prstGeom>
          <a:solidFill>
            <a:schemeClr val="bg2"/>
          </a:solidFill>
          <a:ln/>
        </p:spPr>
      </p:sp>
      <p:pic>
        <p:nvPicPr>
          <p:cNvPr id="16" name="icon-171" descr="preencoded.png">    </p:cNvPr>
          <p:cNvPicPr>
            <a:picLocks noChangeAspect="1"/>
          </p:cNvPicPr>
          <p:nvPr/>
        </p:nvPicPr>
        <p:blipFill>
          <a:blip r:embed="rId5"/>
          <a:stretch>
            <a:fillRect/>
          </a:stretch>
        </p:blipFill>
        <p:spPr>
          <a:xfrm>
            <a:off x="680314" y="5206594"/>
            <a:ext cx="285293" cy="285293"/>
          </a:xfrm>
          <a:prstGeom prst="rect">
            <a:avLst/>
          </a:prstGeom>
        </p:spPr>
      </p:pic>
      <p:sp>
        <p:nvSpPr>
          <p:cNvPr id="17" name="text-172"/>
          <p:cNvSpPr txBox="1"/>
          <p:nvPr/>
        </p:nvSpPr>
        <p:spPr>
          <a:xfrm>
            <a:off x="1325880" y="5056632"/>
            <a:ext cx="3977640" cy="841248"/>
          </a:xfrm>
          <a:prstGeom prst="rect">
            <a:avLst/>
          </a:prstGeom>
          <a:noFill/>
          <a:ln/>
        </p:spPr>
        <p:txBody>
          <a:bodyPr wrap="square" lIns="0" tIns="0" rIns="0" bIns="0" rtlCol="0" anchor="t"/>
          <a:lstStyle/>
          <a:p>
            <a:pPr indent="0" marL="0">
              <a:buNone/>
            </a:pPr>
            <a:r>
              <a:rPr lang="en-US" sz="1700" b="1" dirty="0">
                <a:solidFill>
                  <a:schemeClr val="tx2"/>
                </a:solidFill>
              </a:rPr>
              <a:t>Sessions</a:t>
            </a:r>
            <a:endParaRPr lang="en-US" sz="1600" dirty="0"/>
          </a:p>
          <a:p>
            <a:pPr indent="0" marL="0">
              <a:buNone/>
            </a:pPr>
            <a:r>
              <a:rPr lang="en-US" sz="1400" dirty="0">
                <a:solidFill>
                  <a:schemeClr val="tx1"/>
                </a:solidFill>
              </a:rPr>
              <a:t>Appointments with a counsellor</a:t>
            </a:r>
            <a:endParaRPr lang="en-US" sz="1600" dirty="0"/>
          </a:p>
        </p:txBody>
      </p:sp>
      <p:sp>
        <p:nvSpPr>
          <p:cNvPr id="18" name="phone-body-173"/>
          <p:cNvSpPr/>
          <p:nvPr/>
        </p:nvSpPr>
        <p:spPr>
          <a:xfrm>
            <a:off x="5486400" y="1325880"/>
            <a:ext cx="1874520" cy="4009136"/>
          </a:xfrm>
          <a:prstGeom prst="roundRect">
            <a:avLst>
              <a:gd name="adj" fmla="val 9756"/>
            </a:avLst>
          </a:prstGeom>
          <a:solidFill>
            <a:schemeClr val="tx1"/>
          </a:solidFill>
          <a:ln/>
          <a:effectLst>
            <a:outerShdw sx="100000" sy="100000" kx="0" ky="0" algn="bl" rotWithShape="0" blurRad="177800" dist="50800" dir="5400000">
              <a:srgbClr val="1F1B3A">
                <a:alpha val="22000"/>
              </a:srgbClr>
            </a:outerShdw>
          </a:effectLst>
        </p:spPr>
      </p:sp>
      <p:pic>
        <p:nvPicPr>
          <p:cNvPr id="19" name="phone-screen-174" descr="App screenshot">    </p:cNvPr>
          <p:cNvPicPr>
            <a:picLocks noChangeAspect="1"/>
          </p:cNvPicPr>
          <p:nvPr/>
        </p:nvPicPr>
        <p:blipFill>
          <a:blip r:embed="rId6"/>
          <a:stretch>
            <a:fillRect/>
          </a:stretch>
        </p:blipFill>
        <p:spPr>
          <a:xfrm>
            <a:off x="5550408" y="1389888"/>
            <a:ext cx="1746504" cy="3881120"/>
          </a:xfrm>
          <a:prstGeom prst="rect">
            <a:avLst/>
          </a:prstGeom>
        </p:spPr>
      </p:pic>
      <p:sp>
        <p:nvSpPr>
          <p:cNvPr id="20" name="text-175"/>
          <p:cNvSpPr txBox="1"/>
          <p:nvPr/>
        </p:nvSpPr>
        <p:spPr>
          <a:xfrm>
            <a:off x="5303520" y="5444744"/>
            <a:ext cx="2240280" cy="320040"/>
          </a:xfrm>
          <a:prstGeom prst="rect">
            <a:avLst/>
          </a:prstGeom>
          <a:noFill/>
          <a:ln/>
        </p:spPr>
        <p:txBody>
          <a:bodyPr wrap="square" lIns="0" tIns="0" rIns="0" bIns="0" rtlCol="0" anchor="t"/>
          <a:lstStyle/>
          <a:p>
            <a:pPr algn="ctr" indent="0" marL="0">
              <a:buNone/>
            </a:pPr>
            <a:r>
              <a:rPr lang="en-US" sz="1300" b="1" dirty="0">
                <a:solidFill>
                  <a:schemeClr val="tx2"/>
                </a:solidFill>
              </a:rPr>
              <a:t>Mindfulness</a:t>
            </a:r>
            <a:endParaRPr lang="en-US" sz="1300" dirty="0"/>
          </a:p>
        </p:txBody>
      </p:sp>
      <p:sp>
        <p:nvSpPr>
          <p:cNvPr id="21" name="phone-body-176"/>
          <p:cNvSpPr/>
          <p:nvPr/>
        </p:nvSpPr>
        <p:spPr>
          <a:xfrm>
            <a:off x="7589520" y="1325880"/>
            <a:ext cx="1874520" cy="4009136"/>
          </a:xfrm>
          <a:prstGeom prst="roundRect">
            <a:avLst>
              <a:gd name="adj" fmla="val 9756"/>
            </a:avLst>
          </a:prstGeom>
          <a:solidFill>
            <a:schemeClr val="tx1"/>
          </a:solidFill>
          <a:ln/>
          <a:effectLst>
            <a:outerShdw sx="100000" sy="100000" kx="0" ky="0" algn="bl" rotWithShape="0" blurRad="177800" dist="50800" dir="5400000">
              <a:srgbClr val="1F1B3A">
                <a:alpha val="22000"/>
              </a:srgbClr>
            </a:outerShdw>
          </a:effectLst>
        </p:spPr>
      </p:sp>
      <p:pic>
        <p:nvPicPr>
          <p:cNvPr id="22" name="phone-screen-177" descr="App screenshot">    </p:cNvPr>
          <p:cNvPicPr>
            <a:picLocks noChangeAspect="1"/>
          </p:cNvPicPr>
          <p:nvPr/>
        </p:nvPicPr>
        <p:blipFill>
          <a:blip r:embed="rId7"/>
          <a:stretch>
            <a:fillRect/>
          </a:stretch>
        </p:blipFill>
        <p:spPr>
          <a:xfrm>
            <a:off x="7653528" y="1389888"/>
            <a:ext cx="1746504" cy="3881120"/>
          </a:xfrm>
          <a:prstGeom prst="rect">
            <a:avLst/>
          </a:prstGeom>
        </p:spPr>
      </p:pic>
      <p:sp>
        <p:nvSpPr>
          <p:cNvPr id="23" name="text-178"/>
          <p:cNvSpPr txBox="1"/>
          <p:nvPr/>
        </p:nvSpPr>
        <p:spPr>
          <a:xfrm>
            <a:off x="7406640" y="5444744"/>
            <a:ext cx="2240280" cy="320040"/>
          </a:xfrm>
          <a:prstGeom prst="rect">
            <a:avLst/>
          </a:prstGeom>
          <a:noFill/>
          <a:ln/>
        </p:spPr>
        <p:txBody>
          <a:bodyPr wrap="square" lIns="0" tIns="0" rIns="0" bIns="0" rtlCol="0" anchor="t"/>
          <a:lstStyle/>
          <a:p>
            <a:pPr algn="ctr" indent="0" marL="0">
              <a:buNone/>
            </a:pPr>
            <a:r>
              <a:rPr lang="en-US" sz="1300" b="1" dirty="0">
                <a:solidFill>
                  <a:schemeClr val="tx2"/>
                </a:solidFill>
              </a:rPr>
              <a:t>Cognitive</a:t>
            </a:r>
            <a:endParaRPr lang="en-US" sz="1300" dirty="0"/>
          </a:p>
        </p:txBody>
      </p:sp>
      <p:sp>
        <p:nvSpPr>
          <p:cNvPr id="24" name="phone-body-179"/>
          <p:cNvSpPr/>
          <p:nvPr/>
        </p:nvSpPr>
        <p:spPr>
          <a:xfrm>
            <a:off x="9692640" y="1325880"/>
            <a:ext cx="1874520" cy="4009136"/>
          </a:xfrm>
          <a:prstGeom prst="roundRect">
            <a:avLst>
              <a:gd name="adj" fmla="val 9756"/>
            </a:avLst>
          </a:prstGeom>
          <a:solidFill>
            <a:schemeClr val="tx1"/>
          </a:solidFill>
          <a:ln/>
          <a:effectLst>
            <a:outerShdw sx="100000" sy="100000" kx="0" ky="0" algn="bl" rotWithShape="0" blurRad="177800" dist="50800" dir="5400000">
              <a:srgbClr val="1F1B3A">
                <a:alpha val="22000"/>
              </a:srgbClr>
            </a:outerShdw>
          </a:effectLst>
        </p:spPr>
      </p:sp>
      <p:pic>
        <p:nvPicPr>
          <p:cNvPr id="25" name="phone-screen-180" descr="App screenshot">    </p:cNvPr>
          <p:cNvPicPr>
            <a:picLocks noChangeAspect="1"/>
          </p:cNvPicPr>
          <p:nvPr/>
        </p:nvPicPr>
        <p:blipFill>
          <a:blip r:embed="rId8"/>
          <a:stretch>
            <a:fillRect/>
          </a:stretch>
        </p:blipFill>
        <p:spPr>
          <a:xfrm>
            <a:off x="9756648" y="1389888"/>
            <a:ext cx="1746504" cy="3881120"/>
          </a:xfrm>
          <a:prstGeom prst="rect">
            <a:avLst/>
          </a:prstGeom>
        </p:spPr>
      </p:pic>
      <p:sp>
        <p:nvSpPr>
          <p:cNvPr id="26" name="text-181"/>
          <p:cNvSpPr txBox="1"/>
          <p:nvPr/>
        </p:nvSpPr>
        <p:spPr>
          <a:xfrm>
            <a:off x="9509760" y="5444744"/>
            <a:ext cx="2240280" cy="320040"/>
          </a:xfrm>
          <a:prstGeom prst="rect">
            <a:avLst/>
          </a:prstGeom>
          <a:noFill/>
          <a:ln/>
        </p:spPr>
        <p:txBody>
          <a:bodyPr wrap="square" lIns="0" tIns="0" rIns="0" bIns="0" rtlCol="0" anchor="t"/>
          <a:lstStyle/>
          <a:p>
            <a:pPr algn="ctr" indent="0" marL="0">
              <a:buNone/>
            </a:pPr>
            <a:r>
              <a:rPr lang="en-US" sz="1300" b="1" dirty="0">
                <a:solidFill>
                  <a:schemeClr val="tx2"/>
                </a:solidFill>
              </a:rPr>
              <a:t>Sessions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Calm the body in a few minutes</a:t>
            </a:r>
            <a:endParaRPr lang="en-US" sz="3400" dirty="0"/>
          </a:p>
        </p:txBody>
      </p:sp>
      <p:sp>
        <p:nvSpPr>
          <p:cNvPr id="3" name="phone-body-182"/>
          <p:cNvSpPr/>
          <p:nvPr/>
        </p:nvSpPr>
        <p:spPr>
          <a:xfrm>
            <a:off x="91440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183" descr="App screenshot">    </p:cNvPr>
          <p:cNvPicPr>
            <a:picLocks noChangeAspect="1"/>
          </p:cNvPicPr>
          <p:nvPr/>
        </p:nvPicPr>
        <p:blipFill>
          <a:blip r:embed="rId1"/>
          <a:stretch>
            <a:fillRect/>
          </a:stretch>
        </p:blipFill>
        <p:spPr>
          <a:xfrm>
            <a:off x="978408" y="1298448"/>
            <a:ext cx="1700784" cy="3779520"/>
          </a:xfrm>
          <a:prstGeom prst="rect">
            <a:avLst/>
          </a:prstGeom>
        </p:spPr>
      </p:pic>
      <p:sp>
        <p:nvSpPr>
          <p:cNvPr id="5" name="text-184"/>
          <p:cNvSpPr txBox="1"/>
          <p:nvPr/>
        </p:nvSpPr>
        <p:spPr>
          <a:xfrm>
            <a:off x="73152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Breathing</a:t>
            </a:r>
            <a:endParaRPr lang="en-US" sz="1300" dirty="0"/>
          </a:p>
        </p:txBody>
      </p:sp>
      <p:sp>
        <p:nvSpPr>
          <p:cNvPr id="6" name="phone-body-185"/>
          <p:cNvSpPr/>
          <p:nvPr/>
        </p:nvSpPr>
        <p:spPr>
          <a:xfrm>
            <a:off x="374904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186" descr="App screenshot">    </p:cNvPr>
          <p:cNvPicPr>
            <a:picLocks noChangeAspect="1"/>
          </p:cNvPicPr>
          <p:nvPr/>
        </p:nvPicPr>
        <p:blipFill>
          <a:blip r:embed="rId2"/>
          <a:stretch>
            <a:fillRect/>
          </a:stretch>
        </p:blipFill>
        <p:spPr>
          <a:xfrm>
            <a:off x="3813048" y="1298448"/>
            <a:ext cx="1700784" cy="3779520"/>
          </a:xfrm>
          <a:prstGeom prst="rect">
            <a:avLst/>
          </a:prstGeom>
        </p:spPr>
      </p:pic>
      <p:sp>
        <p:nvSpPr>
          <p:cNvPr id="8" name="text-187"/>
          <p:cNvSpPr txBox="1"/>
          <p:nvPr/>
        </p:nvSpPr>
        <p:spPr>
          <a:xfrm>
            <a:off x="356616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Grounding: see</a:t>
            </a:r>
            <a:endParaRPr lang="en-US" sz="1300" dirty="0"/>
          </a:p>
        </p:txBody>
      </p:sp>
      <p:sp>
        <p:nvSpPr>
          <p:cNvPr id="9" name="phone-body-188"/>
          <p:cNvSpPr/>
          <p:nvPr/>
        </p:nvSpPr>
        <p:spPr>
          <a:xfrm>
            <a:off x="658368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10" name="phone-screen-189" descr="App screenshot">    </p:cNvPr>
          <p:cNvPicPr>
            <a:picLocks noChangeAspect="1"/>
          </p:cNvPicPr>
          <p:nvPr/>
        </p:nvPicPr>
        <p:blipFill>
          <a:blip r:embed="rId3"/>
          <a:stretch>
            <a:fillRect/>
          </a:stretch>
        </p:blipFill>
        <p:spPr>
          <a:xfrm>
            <a:off x="6647688" y="1298448"/>
            <a:ext cx="1700784" cy="3779520"/>
          </a:xfrm>
          <a:prstGeom prst="rect">
            <a:avLst/>
          </a:prstGeom>
        </p:spPr>
      </p:pic>
      <p:sp>
        <p:nvSpPr>
          <p:cNvPr id="11" name="text-190"/>
          <p:cNvSpPr txBox="1"/>
          <p:nvPr/>
        </p:nvSpPr>
        <p:spPr>
          <a:xfrm>
            <a:off x="640080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Grounding: taste</a:t>
            </a:r>
            <a:endParaRPr lang="en-US" sz="1300" dirty="0"/>
          </a:p>
        </p:txBody>
      </p:sp>
      <p:sp>
        <p:nvSpPr>
          <p:cNvPr id="12" name="phone-body-191"/>
          <p:cNvSpPr/>
          <p:nvPr/>
        </p:nvSpPr>
        <p:spPr>
          <a:xfrm>
            <a:off x="9418320" y="1234440"/>
            <a:ext cx="1828800" cy="3907536"/>
          </a:xfrm>
          <a:prstGeom prst="roundRect">
            <a:avLst>
              <a:gd name="adj" fmla="val 10000"/>
            </a:avLst>
          </a:prstGeom>
          <a:solidFill>
            <a:schemeClr val="tx1"/>
          </a:solidFill>
          <a:ln/>
          <a:effectLst>
            <a:outerShdw sx="100000" sy="100000" kx="0" ky="0" algn="bl" rotWithShape="0" blurRad="177800" dist="50800" dir="5400000">
              <a:srgbClr val="1F1B3A">
                <a:alpha val="22000"/>
              </a:srgbClr>
            </a:outerShdw>
          </a:effectLst>
        </p:spPr>
      </p:sp>
      <p:pic>
        <p:nvPicPr>
          <p:cNvPr id="13" name="phone-screen-192" descr="App screenshot">    </p:cNvPr>
          <p:cNvPicPr>
            <a:picLocks noChangeAspect="1"/>
          </p:cNvPicPr>
          <p:nvPr/>
        </p:nvPicPr>
        <p:blipFill>
          <a:blip r:embed="rId4"/>
          <a:stretch>
            <a:fillRect/>
          </a:stretch>
        </p:blipFill>
        <p:spPr>
          <a:xfrm>
            <a:off x="9482328" y="1298448"/>
            <a:ext cx="1700784" cy="3779520"/>
          </a:xfrm>
          <a:prstGeom prst="rect">
            <a:avLst/>
          </a:prstGeom>
        </p:spPr>
      </p:pic>
      <p:sp>
        <p:nvSpPr>
          <p:cNvPr id="14" name="text-193"/>
          <p:cNvSpPr txBox="1"/>
          <p:nvPr/>
        </p:nvSpPr>
        <p:spPr>
          <a:xfrm>
            <a:off x="9235440" y="5251704"/>
            <a:ext cx="2194560" cy="320040"/>
          </a:xfrm>
          <a:prstGeom prst="rect">
            <a:avLst/>
          </a:prstGeom>
          <a:noFill/>
          <a:ln/>
        </p:spPr>
        <p:txBody>
          <a:bodyPr wrap="square" lIns="0" tIns="0" rIns="0" bIns="0" rtlCol="0" anchor="t"/>
          <a:lstStyle/>
          <a:p>
            <a:pPr algn="ctr" indent="0" marL="0">
              <a:buNone/>
            </a:pPr>
            <a:r>
              <a:rPr lang="en-US" sz="1300" b="1" dirty="0">
                <a:solidFill>
                  <a:schemeClr val="tx2"/>
                </a:solidFill>
              </a:rPr>
              <a:t>Muscle relaxation</a:t>
            </a:r>
            <a:endParaRPr lang="en-US" sz="1300" dirty="0"/>
          </a:p>
        </p:txBody>
      </p:sp>
      <p:sp>
        <p:nvSpPr>
          <p:cNvPr id="15" name="text-194"/>
          <p:cNvSpPr txBox="1"/>
          <p:nvPr/>
        </p:nvSpPr>
        <p:spPr>
          <a:xfrm>
            <a:off x="548640" y="5943600"/>
            <a:ext cx="11064240" cy="411480"/>
          </a:xfrm>
          <a:prstGeom prst="rect">
            <a:avLst/>
          </a:prstGeom>
          <a:noFill/>
          <a:ln/>
        </p:spPr>
        <p:txBody>
          <a:bodyPr wrap="square" lIns="0" tIns="0" rIns="0" bIns="0" rtlCol="0" anchor="t"/>
          <a:lstStyle/>
          <a:p>
            <a:pPr algn="ctr" indent="0" marL="0">
              <a:buNone/>
            </a:pPr>
            <a:r>
              <a:rPr lang="en-US" sz="1500" dirty="0">
                <a:solidFill>
                  <a:schemeClr val="tx2"/>
                </a:solidFill>
              </a:rPr>
              <a:t>Short, guided exercises with clear steps, timers and spoken instructions. Each takes only a few minutes.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Untangle thoughts, build small wins</a:t>
            </a:r>
            <a:endParaRPr lang="en-US" sz="3400" dirty="0"/>
          </a:p>
        </p:txBody>
      </p:sp>
      <p:sp>
        <p:nvSpPr>
          <p:cNvPr id="3" name="phone-body-195"/>
          <p:cNvSpPr/>
          <p:nvPr/>
        </p:nvSpPr>
        <p:spPr>
          <a:xfrm>
            <a:off x="68580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196" descr="App screenshot">    </p:cNvPr>
          <p:cNvPicPr>
            <a:picLocks noChangeAspect="1"/>
          </p:cNvPicPr>
          <p:nvPr/>
        </p:nvPicPr>
        <p:blipFill>
          <a:blip r:embed="rId1"/>
          <a:stretch>
            <a:fillRect/>
          </a:stretch>
        </p:blipFill>
        <p:spPr>
          <a:xfrm>
            <a:off x="749808" y="1389888"/>
            <a:ext cx="1929384" cy="4287520"/>
          </a:xfrm>
          <a:prstGeom prst="rect">
            <a:avLst/>
          </a:prstGeom>
        </p:spPr>
      </p:pic>
      <p:sp>
        <p:nvSpPr>
          <p:cNvPr id="5" name="text-197"/>
          <p:cNvSpPr txBox="1"/>
          <p:nvPr/>
        </p:nvSpPr>
        <p:spPr>
          <a:xfrm>
            <a:off x="50292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Think Differently</a:t>
            </a:r>
            <a:endParaRPr lang="en-US" sz="1300" dirty="0"/>
          </a:p>
        </p:txBody>
      </p:sp>
      <p:sp>
        <p:nvSpPr>
          <p:cNvPr id="6" name="phone-body-198"/>
          <p:cNvSpPr/>
          <p:nvPr/>
        </p:nvSpPr>
        <p:spPr>
          <a:xfrm>
            <a:off x="3108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199" descr="App screenshot">    </p:cNvPr>
          <p:cNvPicPr>
            <a:picLocks noChangeAspect="1"/>
          </p:cNvPicPr>
          <p:nvPr/>
        </p:nvPicPr>
        <p:blipFill>
          <a:blip r:embed="rId2"/>
          <a:stretch>
            <a:fillRect/>
          </a:stretch>
        </p:blipFill>
        <p:spPr>
          <a:xfrm>
            <a:off x="3172968" y="1389888"/>
            <a:ext cx="1929384" cy="4287520"/>
          </a:xfrm>
          <a:prstGeom prst="rect">
            <a:avLst/>
          </a:prstGeom>
        </p:spPr>
      </p:pic>
      <p:sp>
        <p:nvSpPr>
          <p:cNvPr id="8" name="text-200"/>
          <p:cNvSpPr txBox="1"/>
          <p:nvPr/>
        </p:nvSpPr>
        <p:spPr>
          <a:xfrm>
            <a:off x="2926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Daily goals</a:t>
            </a:r>
            <a:endParaRPr lang="en-US" sz="1300" dirty="0"/>
          </a:p>
        </p:txBody>
      </p:sp>
      <p:sp>
        <p:nvSpPr>
          <p:cNvPr id="9" name="phone-body-201"/>
          <p:cNvSpPr/>
          <p:nvPr/>
        </p:nvSpPr>
        <p:spPr>
          <a:xfrm>
            <a:off x="553212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10" name="phone-screen-202" descr="App screenshot">    </p:cNvPr>
          <p:cNvPicPr>
            <a:picLocks noChangeAspect="1"/>
          </p:cNvPicPr>
          <p:nvPr/>
        </p:nvPicPr>
        <p:blipFill>
          <a:blip r:embed="rId3"/>
          <a:stretch>
            <a:fillRect/>
          </a:stretch>
        </p:blipFill>
        <p:spPr>
          <a:xfrm>
            <a:off x="5596128" y="1389888"/>
            <a:ext cx="1929384" cy="4287520"/>
          </a:xfrm>
          <a:prstGeom prst="rect">
            <a:avLst/>
          </a:prstGeom>
        </p:spPr>
      </p:pic>
      <p:sp>
        <p:nvSpPr>
          <p:cNvPr id="11" name="text-203"/>
          <p:cNvSpPr txBox="1"/>
          <p:nvPr/>
        </p:nvSpPr>
        <p:spPr>
          <a:xfrm>
            <a:off x="534924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A small step</a:t>
            </a:r>
            <a:endParaRPr lang="en-US" sz="1300" dirty="0"/>
          </a:p>
        </p:txBody>
      </p:sp>
      <p:sp>
        <p:nvSpPr>
          <p:cNvPr id="12" name="icon-circle-204"/>
          <p:cNvSpPr/>
          <p:nvPr/>
        </p:nvSpPr>
        <p:spPr>
          <a:xfrm>
            <a:off x="7863840" y="1554480"/>
            <a:ext cx="566928" cy="566928"/>
          </a:xfrm>
          <a:prstGeom prst="ellipse">
            <a:avLst/>
          </a:prstGeom>
          <a:solidFill>
            <a:schemeClr val="bg2"/>
          </a:solidFill>
          <a:ln/>
        </p:spPr>
      </p:sp>
      <p:pic>
        <p:nvPicPr>
          <p:cNvPr id="13" name="icon-205" descr="preencoded.png">    </p:cNvPr>
          <p:cNvPicPr>
            <a:picLocks noChangeAspect="1"/>
          </p:cNvPicPr>
          <p:nvPr/>
        </p:nvPicPr>
        <p:blipFill>
          <a:blip r:embed="rId4"/>
          <a:stretch>
            <a:fillRect/>
          </a:stretch>
        </p:blipFill>
        <p:spPr>
          <a:xfrm>
            <a:off x="7999903" y="1690543"/>
            <a:ext cx="294803" cy="294803"/>
          </a:xfrm>
          <a:prstGeom prst="rect">
            <a:avLst/>
          </a:prstGeom>
        </p:spPr>
      </p:pic>
      <p:sp>
        <p:nvSpPr>
          <p:cNvPr id="14" name="text-206"/>
          <p:cNvSpPr txBox="1"/>
          <p:nvPr/>
        </p:nvSpPr>
        <p:spPr>
          <a:xfrm>
            <a:off x="8659368" y="153619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Think Differently</a:t>
            </a:r>
            <a:endParaRPr lang="en-US" sz="1600" dirty="0"/>
          </a:p>
          <a:p>
            <a:pPr indent="0" marL="0">
              <a:buNone/>
            </a:pPr>
            <a:r>
              <a:rPr lang="en-US" sz="1400" dirty="0">
                <a:solidFill>
                  <a:schemeClr val="tx1"/>
                </a:solidFill>
              </a:rPr>
              <a:t>Pick a starting point like “I’m being hard on myself” and work through it step by step.</a:t>
            </a:r>
            <a:endParaRPr lang="en-US" sz="1600" dirty="0"/>
          </a:p>
        </p:txBody>
      </p:sp>
      <p:sp>
        <p:nvSpPr>
          <p:cNvPr id="15" name="icon-circle-207"/>
          <p:cNvSpPr/>
          <p:nvPr/>
        </p:nvSpPr>
        <p:spPr>
          <a:xfrm>
            <a:off x="7863840" y="2880360"/>
            <a:ext cx="566928" cy="566928"/>
          </a:xfrm>
          <a:prstGeom prst="ellipse">
            <a:avLst/>
          </a:prstGeom>
          <a:solidFill>
            <a:schemeClr val="bg2"/>
          </a:solidFill>
          <a:ln/>
        </p:spPr>
      </p:sp>
      <p:pic>
        <p:nvPicPr>
          <p:cNvPr id="16" name="icon-208" descr="preencoded.png">    </p:cNvPr>
          <p:cNvPicPr>
            <a:picLocks noChangeAspect="1"/>
          </p:cNvPicPr>
          <p:nvPr/>
        </p:nvPicPr>
        <p:blipFill>
          <a:blip r:embed="rId5"/>
          <a:stretch>
            <a:fillRect/>
          </a:stretch>
        </p:blipFill>
        <p:spPr>
          <a:xfrm>
            <a:off x="7999903" y="3016423"/>
            <a:ext cx="294803" cy="294803"/>
          </a:xfrm>
          <a:prstGeom prst="rect">
            <a:avLst/>
          </a:prstGeom>
        </p:spPr>
      </p:pic>
      <p:sp>
        <p:nvSpPr>
          <p:cNvPr id="17" name="text-209"/>
          <p:cNvSpPr txBox="1"/>
          <p:nvPr/>
        </p:nvSpPr>
        <p:spPr>
          <a:xfrm>
            <a:off x="8659368" y="286207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Small Steps</a:t>
            </a:r>
            <a:endParaRPr lang="en-US" sz="1600" dirty="0"/>
          </a:p>
          <a:p>
            <a:pPr indent="0" marL="0">
              <a:buNone/>
            </a:pPr>
            <a:r>
              <a:rPr lang="en-US" sz="1400" dirty="0">
                <a:solidFill>
                  <a:schemeClr val="tx1"/>
                </a:solidFill>
              </a:rPr>
              <a:t>Emoty suggests one achievable action, such as a five-minute stretch.</a:t>
            </a:r>
            <a:endParaRPr lang="en-US" sz="1600" dirty="0"/>
          </a:p>
        </p:txBody>
      </p:sp>
      <p:sp>
        <p:nvSpPr>
          <p:cNvPr id="18" name="icon-circle-210"/>
          <p:cNvSpPr/>
          <p:nvPr/>
        </p:nvSpPr>
        <p:spPr>
          <a:xfrm>
            <a:off x="7863840" y="4206240"/>
            <a:ext cx="566928" cy="566928"/>
          </a:xfrm>
          <a:prstGeom prst="ellipse">
            <a:avLst/>
          </a:prstGeom>
          <a:solidFill>
            <a:schemeClr val="bg2"/>
          </a:solidFill>
          <a:ln/>
        </p:spPr>
      </p:sp>
      <p:pic>
        <p:nvPicPr>
          <p:cNvPr id="19" name="icon-211" descr="preencoded.png">    </p:cNvPr>
          <p:cNvPicPr>
            <a:picLocks noChangeAspect="1"/>
          </p:cNvPicPr>
          <p:nvPr/>
        </p:nvPicPr>
        <p:blipFill>
          <a:blip r:embed="rId6"/>
          <a:stretch>
            <a:fillRect/>
          </a:stretch>
        </p:blipFill>
        <p:spPr>
          <a:xfrm>
            <a:off x="7999903" y="4342303"/>
            <a:ext cx="294803" cy="294803"/>
          </a:xfrm>
          <a:prstGeom prst="rect">
            <a:avLst/>
          </a:prstGeom>
        </p:spPr>
      </p:pic>
      <p:sp>
        <p:nvSpPr>
          <p:cNvPr id="20" name="text-212"/>
          <p:cNvSpPr txBox="1"/>
          <p:nvPr/>
        </p:nvSpPr>
        <p:spPr>
          <a:xfrm>
            <a:off x="8659368" y="4187952"/>
            <a:ext cx="2999232" cy="1252728"/>
          </a:xfrm>
          <a:prstGeom prst="rect">
            <a:avLst/>
          </a:prstGeom>
          <a:noFill/>
          <a:ln/>
        </p:spPr>
        <p:txBody>
          <a:bodyPr wrap="square" lIns="0" tIns="0" rIns="0" bIns="0" rtlCol="0" anchor="t"/>
          <a:lstStyle/>
          <a:p>
            <a:pPr indent="0" marL="0">
              <a:buNone/>
            </a:pPr>
            <a:r>
              <a:rPr lang="en-US" sz="1700" b="1" dirty="0">
                <a:solidFill>
                  <a:schemeClr val="tx2"/>
                </a:solidFill>
              </a:rPr>
              <a:t>Help is built in</a:t>
            </a:r>
            <a:endParaRPr lang="en-US" sz="1600" dirty="0"/>
          </a:p>
          <a:p>
            <a:pPr indent="0" marL="0">
              <a:buNone/>
            </a:pPr>
            <a:r>
              <a:rPr lang="en-US" sz="1400" dirty="0">
                <a:solidFill>
                  <a:schemeClr val="tx1"/>
                </a:solidFill>
              </a:rPr>
              <a:t>From these exercises, students can ask to speak to a counsellor.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Emoty: someone to talk to, any time</a:t>
            </a:r>
            <a:endParaRPr lang="en-US" sz="3400" dirty="0"/>
          </a:p>
        </p:txBody>
      </p:sp>
      <p:sp>
        <p:nvSpPr>
          <p:cNvPr id="3" name="phone-body-213"/>
          <p:cNvSpPr/>
          <p:nvPr/>
        </p:nvSpPr>
        <p:spPr>
          <a:xfrm>
            <a:off x="822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214" descr="App screenshot">    </p:cNvPr>
          <p:cNvPicPr>
            <a:picLocks noChangeAspect="1"/>
          </p:cNvPicPr>
          <p:nvPr/>
        </p:nvPicPr>
        <p:blipFill>
          <a:blip r:embed="rId1"/>
          <a:stretch>
            <a:fillRect/>
          </a:stretch>
        </p:blipFill>
        <p:spPr>
          <a:xfrm>
            <a:off x="886968" y="1389888"/>
            <a:ext cx="1929384" cy="4287520"/>
          </a:xfrm>
          <a:prstGeom prst="rect">
            <a:avLst/>
          </a:prstGeom>
        </p:spPr>
      </p:pic>
      <p:sp>
        <p:nvSpPr>
          <p:cNvPr id="5" name="text-215"/>
          <p:cNvSpPr txBox="1"/>
          <p:nvPr/>
        </p:nvSpPr>
        <p:spPr>
          <a:xfrm>
            <a:off x="640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Start a conversation</a:t>
            </a:r>
            <a:endParaRPr lang="en-US" sz="1300" dirty="0"/>
          </a:p>
        </p:txBody>
      </p:sp>
      <p:sp>
        <p:nvSpPr>
          <p:cNvPr id="6" name="phone-body-216"/>
          <p:cNvSpPr/>
          <p:nvPr/>
        </p:nvSpPr>
        <p:spPr>
          <a:xfrm>
            <a:off x="33375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217" descr="App screenshot">    </p:cNvPr>
          <p:cNvPicPr>
            <a:picLocks noChangeAspect="1"/>
          </p:cNvPicPr>
          <p:nvPr/>
        </p:nvPicPr>
        <p:blipFill>
          <a:blip r:embed="rId2"/>
          <a:stretch>
            <a:fillRect/>
          </a:stretch>
        </p:blipFill>
        <p:spPr>
          <a:xfrm>
            <a:off x="3401568" y="1389888"/>
            <a:ext cx="1929384" cy="4287520"/>
          </a:xfrm>
          <a:prstGeom prst="rect">
            <a:avLst/>
          </a:prstGeom>
        </p:spPr>
      </p:pic>
      <p:sp>
        <p:nvSpPr>
          <p:cNvPr id="8" name="text-218"/>
          <p:cNvSpPr txBox="1"/>
          <p:nvPr/>
        </p:nvSpPr>
        <p:spPr>
          <a:xfrm>
            <a:off x="31546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A supportive reply</a:t>
            </a:r>
            <a:endParaRPr lang="en-US" sz="1300" dirty="0"/>
          </a:p>
        </p:txBody>
      </p:sp>
      <p:sp>
        <p:nvSpPr>
          <p:cNvPr id="9" name="icon-circle-219"/>
          <p:cNvSpPr/>
          <p:nvPr/>
        </p:nvSpPr>
        <p:spPr>
          <a:xfrm>
            <a:off x="6035040" y="1463040"/>
            <a:ext cx="566928" cy="566928"/>
          </a:xfrm>
          <a:prstGeom prst="ellipse">
            <a:avLst/>
          </a:prstGeom>
          <a:solidFill>
            <a:schemeClr val="bg2"/>
          </a:solidFill>
          <a:ln/>
        </p:spPr>
      </p:sp>
      <p:pic>
        <p:nvPicPr>
          <p:cNvPr id="10" name="icon-220" descr="preencoded.png">    </p:cNvPr>
          <p:cNvPicPr>
            <a:picLocks noChangeAspect="1"/>
          </p:cNvPicPr>
          <p:nvPr/>
        </p:nvPicPr>
        <p:blipFill>
          <a:blip r:embed="rId3"/>
          <a:stretch>
            <a:fillRect/>
          </a:stretch>
        </p:blipFill>
        <p:spPr>
          <a:xfrm>
            <a:off x="6171103" y="1599103"/>
            <a:ext cx="294803" cy="294803"/>
          </a:xfrm>
          <a:prstGeom prst="rect">
            <a:avLst/>
          </a:prstGeom>
        </p:spPr>
      </p:pic>
      <p:sp>
        <p:nvSpPr>
          <p:cNvPr id="11" name="text-221"/>
          <p:cNvSpPr txBox="1"/>
          <p:nvPr/>
        </p:nvSpPr>
        <p:spPr>
          <a:xfrm>
            <a:off x="6830568" y="144475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Always available</a:t>
            </a:r>
            <a:endParaRPr lang="en-US" sz="1600" dirty="0"/>
          </a:p>
          <a:p>
            <a:pPr indent="0" marL="0">
              <a:buNone/>
            </a:pPr>
            <a:r>
              <a:rPr lang="en-US" sz="1400" dirty="0">
                <a:solidFill>
                  <a:schemeClr val="tx1"/>
                </a:solidFill>
              </a:rPr>
              <a:t>Students can talk or type whenever they need to, day or night.</a:t>
            </a:r>
            <a:endParaRPr lang="en-US" sz="1600" dirty="0"/>
          </a:p>
        </p:txBody>
      </p:sp>
      <p:sp>
        <p:nvSpPr>
          <p:cNvPr id="12" name="icon-circle-222"/>
          <p:cNvSpPr/>
          <p:nvPr/>
        </p:nvSpPr>
        <p:spPr>
          <a:xfrm>
            <a:off x="6035040" y="2560320"/>
            <a:ext cx="566928" cy="566928"/>
          </a:xfrm>
          <a:prstGeom prst="ellipse">
            <a:avLst/>
          </a:prstGeom>
          <a:solidFill>
            <a:schemeClr val="bg2"/>
          </a:solidFill>
          <a:ln/>
        </p:spPr>
      </p:sp>
      <p:pic>
        <p:nvPicPr>
          <p:cNvPr id="13" name="icon-223" descr="preencoded.png">    </p:cNvPr>
          <p:cNvPicPr>
            <a:picLocks noChangeAspect="1"/>
          </p:cNvPicPr>
          <p:nvPr/>
        </p:nvPicPr>
        <p:blipFill>
          <a:blip r:embed="rId4"/>
          <a:stretch>
            <a:fillRect/>
          </a:stretch>
        </p:blipFill>
        <p:spPr>
          <a:xfrm>
            <a:off x="6171103" y="2696383"/>
            <a:ext cx="294803" cy="294803"/>
          </a:xfrm>
          <a:prstGeom prst="rect">
            <a:avLst/>
          </a:prstGeom>
        </p:spPr>
      </p:pic>
      <p:sp>
        <p:nvSpPr>
          <p:cNvPr id="14" name="text-224"/>
          <p:cNvSpPr txBox="1"/>
          <p:nvPr/>
        </p:nvSpPr>
        <p:spPr>
          <a:xfrm>
            <a:off x="6830568" y="254203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Warm and personal</a:t>
            </a:r>
            <a:endParaRPr lang="en-US" sz="1600" dirty="0"/>
          </a:p>
          <a:p>
            <a:pPr indent="0" marL="0">
              <a:buNone/>
            </a:pPr>
            <a:r>
              <a:rPr lang="en-US" sz="1400" dirty="0">
                <a:solidFill>
                  <a:schemeClr val="tx1"/>
                </a:solidFill>
              </a:rPr>
              <a:t>Emoty uses the student’s preferred name and can read replies aloud.</a:t>
            </a:r>
            <a:endParaRPr lang="en-US" sz="1600" dirty="0"/>
          </a:p>
        </p:txBody>
      </p:sp>
      <p:sp>
        <p:nvSpPr>
          <p:cNvPr id="15" name="icon-circle-225"/>
          <p:cNvSpPr/>
          <p:nvPr/>
        </p:nvSpPr>
        <p:spPr>
          <a:xfrm>
            <a:off x="6035040" y="3657600"/>
            <a:ext cx="566928" cy="566928"/>
          </a:xfrm>
          <a:prstGeom prst="ellipse">
            <a:avLst/>
          </a:prstGeom>
          <a:solidFill>
            <a:schemeClr val="bg2"/>
          </a:solidFill>
          <a:ln/>
        </p:spPr>
      </p:sp>
      <p:pic>
        <p:nvPicPr>
          <p:cNvPr id="16" name="icon-226" descr="preencoded.png">    </p:cNvPr>
          <p:cNvPicPr>
            <a:picLocks noChangeAspect="1"/>
          </p:cNvPicPr>
          <p:nvPr/>
        </p:nvPicPr>
        <p:blipFill>
          <a:blip r:embed="rId5"/>
          <a:stretch>
            <a:fillRect/>
          </a:stretch>
        </p:blipFill>
        <p:spPr>
          <a:xfrm>
            <a:off x="6171103" y="3793663"/>
            <a:ext cx="294803" cy="294803"/>
          </a:xfrm>
          <a:prstGeom prst="rect">
            <a:avLst/>
          </a:prstGeom>
        </p:spPr>
      </p:pic>
      <p:sp>
        <p:nvSpPr>
          <p:cNvPr id="17" name="text-227"/>
          <p:cNvSpPr txBox="1"/>
          <p:nvPr/>
        </p:nvSpPr>
        <p:spPr>
          <a:xfrm>
            <a:off x="6830568" y="363931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Safely supervised</a:t>
            </a:r>
            <a:endParaRPr lang="en-US" sz="1600" dirty="0"/>
          </a:p>
          <a:p>
            <a:pPr indent="0" marL="0">
              <a:buNone/>
            </a:pPr>
            <a:r>
              <a:rPr lang="en-US" sz="1400" dirty="0">
                <a:solidFill>
                  <a:schemeClr val="tx1"/>
                </a:solidFill>
              </a:rPr>
              <a:t>Counsellors can review conversations, and risky messages are flagged.</a:t>
            </a:r>
            <a:endParaRPr lang="en-US" sz="1600" dirty="0"/>
          </a:p>
        </p:txBody>
      </p:sp>
      <p:sp>
        <p:nvSpPr>
          <p:cNvPr id="18" name="icon-circle-228"/>
          <p:cNvSpPr/>
          <p:nvPr/>
        </p:nvSpPr>
        <p:spPr>
          <a:xfrm>
            <a:off x="6035040" y="4754880"/>
            <a:ext cx="566928" cy="566928"/>
          </a:xfrm>
          <a:prstGeom prst="ellipse">
            <a:avLst/>
          </a:prstGeom>
          <a:solidFill>
            <a:schemeClr val="bg2"/>
          </a:solidFill>
          <a:ln/>
        </p:spPr>
      </p:sp>
      <p:pic>
        <p:nvPicPr>
          <p:cNvPr id="19" name="icon-229" descr="preencoded.png">    </p:cNvPr>
          <p:cNvPicPr>
            <a:picLocks noChangeAspect="1"/>
          </p:cNvPicPr>
          <p:nvPr/>
        </p:nvPicPr>
        <p:blipFill>
          <a:blip r:embed="rId6"/>
          <a:stretch>
            <a:fillRect/>
          </a:stretch>
        </p:blipFill>
        <p:spPr>
          <a:xfrm>
            <a:off x="6171103" y="4890943"/>
            <a:ext cx="294803" cy="294803"/>
          </a:xfrm>
          <a:prstGeom prst="rect">
            <a:avLst/>
          </a:prstGeom>
        </p:spPr>
      </p:pic>
      <p:sp>
        <p:nvSpPr>
          <p:cNvPr id="20" name="text-230"/>
          <p:cNvSpPr txBox="1"/>
          <p:nvPr/>
        </p:nvSpPr>
        <p:spPr>
          <a:xfrm>
            <a:off x="6830568" y="473659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Quick suggestions</a:t>
            </a:r>
            <a:endParaRPr lang="en-US" sz="1600" dirty="0"/>
          </a:p>
          <a:p>
            <a:pPr indent="0" marL="0">
              <a:buNone/>
            </a:pPr>
            <a:r>
              <a:rPr lang="en-US" sz="1400" dirty="0">
                <a:solidFill>
                  <a:schemeClr val="tx1"/>
                </a:solidFill>
              </a:rPr>
              <a:t>One-tap prompts like “Breathe” or “Reflect” to get started.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 counsellor is always one tap away</a:t>
            </a:r>
            <a:endParaRPr lang="en-US" sz="3400" dirty="0"/>
          </a:p>
        </p:txBody>
      </p:sp>
      <p:sp>
        <p:nvSpPr>
          <p:cNvPr id="3" name="phone-body-231"/>
          <p:cNvSpPr/>
          <p:nvPr/>
        </p:nvSpPr>
        <p:spPr>
          <a:xfrm>
            <a:off x="822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232" descr="App screenshot">    </p:cNvPr>
          <p:cNvPicPr>
            <a:picLocks noChangeAspect="1"/>
          </p:cNvPicPr>
          <p:nvPr/>
        </p:nvPicPr>
        <p:blipFill>
          <a:blip r:embed="rId1"/>
          <a:stretch>
            <a:fillRect/>
          </a:stretch>
        </p:blipFill>
        <p:spPr>
          <a:xfrm>
            <a:off x="886968" y="1389888"/>
            <a:ext cx="1929384" cy="4287520"/>
          </a:xfrm>
          <a:prstGeom prst="rect">
            <a:avLst/>
          </a:prstGeom>
        </p:spPr>
      </p:pic>
      <p:sp>
        <p:nvSpPr>
          <p:cNvPr id="5" name="icon-circle-233"/>
          <p:cNvSpPr/>
          <p:nvPr/>
        </p:nvSpPr>
        <p:spPr>
          <a:xfrm>
            <a:off x="3429000" y="1463040"/>
            <a:ext cx="566928" cy="566928"/>
          </a:xfrm>
          <a:prstGeom prst="ellipse">
            <a:avLst/>
          </a:prstGeom>
          <a:solidFill>
            <a:schemeClr val="bg2"/>
          </a:solidFill>
          <a:ln/>
        </p:spPr>
      </p:sp>
      <p:pic>
        <p:nvPicPr>
          <p:cNvPr id="6" name="icon-234" descr="preencoded.png">    </p:cNvPr>
          <p:cNvPicPr>
            <a:picLocks noChangeAspect="1"/>
          </p:cNvPicPr>
          <p:nvPr/>
        </p:nvPicPr>
        <p:blipFill>
          <a:blip r:embed="rId2"/>
          <a:stretch>
            <a:fillRect/>
          </a:stretch>
        </p:blipFill>
        <p:spPr>
          <a:xfrm>
            <a:off x="3565063" y="1599103"/>
            <a:ext cx="294803" cy="294803"/>
          </a:xfrm>
          <a:prstGeom prst="rect">
            <a:avLst/>
          </a:prstGeom>
        </p:spPr>
      </p:pic>
      <p:sp>
        <p:nvSpPr>
          <p:cNvPr id="7" name="text-235"/>
          <p:cNvSpPr txBox="1"/>
          <p:nvPr/>
        </p:nvSpPr>
        <p:spPr>
          <a:xfrm>
            <a:off x="4224528" y="1444752"/>
            <a:ext cx="3227832" cy="1298448"/>
          </a:xfrm>
          <a:prstGeom prst="rect">
            <a:avLst/>
          </a:prstGeom>
          <a:noFill/>
          <a:ln/>
        </p:spPr>
        <p:txBody>
          <a:bodyPr wrap="square" lIns="0" tIns="0" rIns="0" bIns="0" rtlCol="0" anchor="t"/>
          <a:lstStyle/>
          <a:p>
            <a:pPr indent="0" marL="0">
              <a:buNone/>
            </a:pPr>
            <a:r>
              <a:rPr lang="en-US" sz="1700" b="1" dirty="0">
                <a:solidFill>
                  <a:schemeClr val="tx2"/>
                </a:solidFill>
              </a:rPr>
              <a:t>Ask for guidance</a:t>
            </a:r>
            <a:endParaRPr lang="en-US" sz="1600" dirty="0"/>
          </a:p>
          <a:p>
            <a:pPr indent="0" marL="0">
              <a:buNone/>
            </a:pPr>
            <a:r>
              <a:rPr lang="en-US" sz="1400" dirty="0">
                <a:solidFill>
                  <a:schemeClr val="tx1"/>
                </a:solidFill>
              </a:rPr>
              <a:t>A confidential request goes straight to the counselling team.</a:t>
            </a:r>
            <a:endParaRPr lang="en-US" sz="1600" dirty="0"/>
          </a:p>
        </p:txBody>
      </p:sp>
      <p:sp>
        <p:nvSpPr>
          <p:cNvPr id="8" name="icon-circle-236"/>
          <p:cNvSpPr/>
          <p:nvPr/>
        </p:nvSpPr>
        <p:spPr>
          <a:xfrm>
            <a:off x="3429000" y="2834640"/>
            <a:ext cx="566928" cy="566928"/>
          </a:xfrm>
          <a:prstGeom prst="ellipse">
            <a:avLst/>
          </a:prstGeom>
          <a:solidFill>
            <a:schemeClr val="bg2"/>
          </a:solidFill>
          <a:ln/>
        </p:spPr>
      </p:sp>
      <p:pic>
        <p:nvPicPr>
          <p:cNvPr id="9" name="icon-237" descr="preencoded.png">    </p:cNvPr>
          <p:cNvPicPr>
            <a:picLocks noChangeAspect="1"/>
          </p:cNvPicPr>
          <p:nvPr/>
        </p:nvPicPr>
        <p:blipFill>
          <a:blip r:embed="rId3"/>
          <a:stretch>
            <a:fillRect/>
          </a:stretch>
        </p:blipFill>
        <p:spPr>
          <a:xfrm>
            <a:off x="3565063" y="2970703"/>
            <a:ext cx="294803" cy="294803"/>
          </a:xfrm>
          <a:prstGeom prst="rect">
            <a:avLst/>
          </a:prstGeom>
        </p:spPr>
      </p:pic>
      <p:sp>
        <p:nvSpPr>
          <p:cNvPr id="10" name="text-238"/>
          <p:cNvSpPr txBox="1"/>
          <p:nvPr/>
        </p:nvSpPr>
        <p:spPr>
          <a:xfrm>
            <a:off x="4224528" y="2816352"/>
            <a:ext cx="3227832" cy="1298448"/>
          </a:xfrm>
          <a:prstGeom prst="rect">
            <a:avLst/>
          </a:prstGeom>
          <a:noFill/>
          <a:ln/>
        </p:spPr>
        <p:txBody>
          <a:bodyPr wrap="square" lIns="0" tIns="0" rIns="0" bIns="0" rtlCol="0" anchor="t"/>
          <a:lstStyle/>
          <a:p>
            <a:pPr indent="0" marL="0">
              <a:buNone/>
            </a:pPr>
            <a:r>
              <a:rPr lang="en-US" sz="1700" b="1" dirty="0">
                <a:solidFill>
                  <a:schemeClr val="tx2"/>
                </a:solidFill>
              </a:rPr>
              <a:t>Book a session</a:t>
            </a:r>
            <a:endParaRPr lang="en-US" sz="1600" dirty="0"/>
          </a:p>
          <a:p>
            <a:pPr indent="0" marL="0">
              <a:buNone/>
            </a:pPr>
            <a:r>
              <a:rPr lang="en-US" sz="1400" dirty="0">
                <a:solidFill>
                  <a:schemeClr val="tx1"/>
                </a:solidFill>
              </a:rPr>
              <a:t>Students choose a time and share a short reason.</a:t>
            </a:r>
            <a:endParaRPr lang="en-US" sz="1600" dirty="0"/>
          </a:p>
        </p:txBody>
      </p:sp>
      <p:sp>
        <p:nvSpPr>
          <p:cNvPr id="11" name="icon-circle-239"/>
          <p:cNvSpPr/>
          <p:nvPr/>
        </p:nvSpPr>
        <p:spPr>
          <a:xfrm>
            <a:off x="3429000" y="4206240"/>
            <a:ext cx="566928" cy="566928"/>
          </a:xfrm>
          <a:prstGeom prst="ellipse">
            <a:avLst/>
          </a:prstGeom>
          <a:solidFill>
            <a:schemeClr val="bg2"/>
          </a:solidFill>
          <a:ln/>
        </p:spPr>
      </p:sp>
      <p:pic>
        <p:nvPicPr>
          <p:cNvPr id="12" name="icon-240" descr="preencoded.png">    </p:cNvPr>
          <p:cNvPicPr>
            <a:picLocks noChangeAspect="1"/>
          </p:cNvPicPr>
          <p:nvPr/>
        </p:nvPicPr>
        <p:blipFill>
          <a:blip r:embed="rId4"/>
          <a:stretch>
            <a:fillRect/>
          </a:stretch>
        </p:blipFill>
        <p:spPr>
          <a:xfrm>
            <a:off x="3565063" y="4342303"/>
            <a:ext cx="294803" cy="294803"/>
          </a:xfrm>
          <a:prstGeom prst="rect">
            <a:avLst/>
          </a:prstGeom>
        </p:spPr>
      </p:pic>
      <p:sp>
        <p:nvSpPr>
          <p:cNvPr id="13" name="text-241"/>
          <p:cNvSpPr txBox="1"/>
          <p:nvPr/>
        </p:nvSpPr>
        <p:spPr>
          <a:xfrm>
            <a:off x="4224528" y="4187952"/>
            <a:ext cx="3227832" cy="1298448"/>
          </a:xfrm>
          <a:prstGeom prst="rect">
            <a:avLst/>
          </a:prstGeom>
          <a:noFill/>
          <a:ln/>
        </p:spPr>
        <p:txBody>
          <a:bodyPr wrap="square" lIns="0" tIns="0" rIns="0" bIns="0" rtlCol="0" anchor="t"/>
          <a:lstStyle/>
          <a:p>
            <a:pPr indent="0" marL="0">
              <a:buNone/>
            </a:pPr>
            <a:r>
              <a:rPr lang="en-US" sz="1700" b="1" dirty="0">
                <a:solidFill>
                  <a:schemeClr val="tx2"/>
                </a:solidFill>
              </a:rPr>
              <a:t>Follow-ups in one place</a:t>
            </a:r>
            <a:endParaRPr lang="en-US" sz="1600" dirty="0"/>
          </a:p>
          <a:p>
            <a:pPr indent="0" marL="0">
              <a:buNone/>
            </a:pPr>
            <a:r>
              <a:rPr lang="en-US" sz="1400" dirty="0">
                <a:solidFill>
                  <a:schemeClr val="tx1"/>
                </a:solidFill>
              </a:rPr>
              <a:t>Tasks from the care team, such as a screening review, with their status.</a:t>
            </a:r>
            <a:endParaRPr lang="en-US" sz="1600" dirty="0"/>
          </a:p>
        </p:txBody>
      </p:sp>
      <p:sp>
        <p:nvSpPr>
          <p:cNvPr id="14" name="card-242"/>
          <p:cNvSpPr/>
          <p:nvPr/>
        </p:nvSpPr>
        <p:spPr>
          <a:xfrm>
            <a:off x="7818120" y="1417320"/>
            <a:ext cx="3840480" cy="3657600"/>
          </a:xfrm>
          <a:prstGeom prst="roundRect">
            <a:avLst>
              <a:gd name="adj" fmla="val 3500"/>
            </a:avLst>
          </a:prstGeom>
          <a:solidFill>
            <a:schemeClr val="bg2"/>
          </a:solidFill>
          <a:ln/>
        </p:spPr>
      </p:sp>
      <p:sp>
        <p:nvSpPr>
          <p:cNvPr id="15" name="icon-circle-243"/>
          <p:cNvSpPr/>
          <p:nvPr/>
        </p:nvSpPr>
        <p:spPr>
          <a:xfrm>
            <a:off x="8092440" y="1691640"/>
            <a:ext cx="685800" cy="685800"/>
          </a:xfrm>
          <a:prstGeom prst="ellipse">
            <a:avLst/>
          </a:prstGeom>
          <a:solidFill>
            <a:schemeClr val="accent1"/>
          </a:solidFill>
          <a:ln/>
        </p:spPr>
      </p:sp>
      <p:pic>
        <p:nvPicPr>
          <p:cNvPr id="16" name="icon-244" descr="preencoded.png">    </p:cNvPr>
          <p:cNvPicPr>
            <a:picLocks noChangeAspect="1"/>
          </p:cNvPicPr>
          <p:nvPr/>
        </p:nvPicPr>
        <p:blipFill>
          <a:blip r:embed="rId5"/>
          <a:stretch>
            <a:fillRect/>
          </a:stretch>
        </p:blipFill>
        <p:spPr>
          <a:xfrm>
            <a:off x="8257032" y="1856232"/>
            <a:ext cx="356616" cy="356616"/>
          </a:xfrm>
          <a:prstGeom prst="rect">
            <a:avLst/>
          </a:prstGeom>
        </p:spPr>
      </p:pic>
      <p:sp>
        <p:nvSpPr>
          <p:cNvPr id="17" name="text-245"/>
          <p:cNvSpPr txBox="1"/>
          <p:nvPr/>
        </p:nvSpPr>
        <p:spPr>
          <a:xfrm>
            <a:off x="8092440" y="2514600"/>
            <a:ext cx="3383280" cy="731520"/>
          </a:xfrm>
          <a:prstGeom prst="rect">
            <a:avLst/>
          </a:prstGeom>
          <a:noFill/>
          <a:ln/>
        </p:spPr>
        <p:txBody>
          <a:bodyPr wrap="square" lIns="0" tIns="0" rIns="0" bIns="0" rtlCol="0" anchor="t"/>
          <a:lstStyle/>
          <a:p>
            <a:pPr indent="0" marL="0">
              <a:buNone/>
            </a:pPr>
            <a:r>
              <a:rPr lang="en-US" sz="1900" b="1" dirty="0">
                <a:solidFill>
                  <a:schemeClr val="tx2"/>
                </a:solidFill>
              </a:rPr>
              <a:t>Linked to the Counsellor Dashboard</a:t>
            </a:r>
            <a:endParaRPr lang="en-US" sz="1900" dirty="0"/>
          </a:p>
        </p:txBody>
      </p:sp>
      <p:sp>
        <p:nvSpPr>
          <p:cNvPr id="18" name="text-246"/>
          <p:cNvSpPr txBox="1"/>
          <p:nvPr/>
        </p:nvSpPr>
        <p:spPr>
          <a:xfrm>
            <a:off x="8092440" y="3291840"/>
            <a:ext cx="3337560" cy="2103120"/>
          </a:xfrm>
          <a:prstGeom prst="rect">
            <a:avLst/>
          </a:prstGeom>
          <a:noFill/>
          <a:ln/>
        </p:spPr>
        <p:txBody>
          <a:bodyPr wrap="square" lIns="0" tIns="0" rIns="0" bIns="0" rtlCol="0" anchor="t"/>
          <a:lstStyle/>
          <a:p>
            <a:pPr indent="0" marL="0">
              <a:buNone/>
            </a:pPr>
            <a:r>
              <a:rPr lang="en-US" sz="1500" dirty="0">
                <a:solidFill>
                  <a:schemeClr val="tx1"/>
                </a:solidFill>
              </a:rPr>
              <a:t>Every request appears instantly for the counselling team.</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Safety concerns from questionnaires raise an alert automatically, even if the student never asks.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Students can see their own progress</a:t>
            </a:r>
            <a:endParaRPr lang="en-US" sz="3400" dirty="0"/>
          </a:p>
        </p:txBody>
      </p:sp>
      <p:sp>
        <p:nvSpPr>
          <p:cNvPr id="3" name="phone-body-247"/>
          <p:cNvSpPr/>
          <p:nvPr/>
        </p:nvSpPr>
        <p:spPr>
          <a:xfrm>
            <a:off x="822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248" descr="App screenshot">    </p:cNvPr>
          <p:cNvPicPr>
            <a:picLocks noChangeAspect="1"/>
          </p:cNvPicPr>
          <p:nvPr/>
        </p:nvPicPr>
        <p:blipFill>
          <a:blip r:embed="rId1"/>
          <a:stretch>
            <a:fillRect/>
          </a:stretch>
        </p:blipFill>
        <p:spPr>
          <a:xfrm>
            <a:off x="886968" y="1389888"/>
            <a:ext cx="1929384" cy="4287520"/>
          </a:xfrm>
          <a:prstGeom prst="rect">
            <a:avLst/>
          </a:prstGeom>
        </p:spPr>
      </p:pic>
      <p:sp>
        <p:nvSpPr>
          <p:cNvPr id="5" name="text-249"/>
          <p:cNvSpPr txBox="1"/>
          <p:nvPr/>
        </p:nvSpPr>
        <p:spPr>
          <a:xfrm>
            <a:off x="640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Your Journey</a:t>
            </a:r>
            <a:endParaRPr lang="en-US" sz="1300" dirty="0"/>
          </a:p>
        </p:txBody>
      </p:sp>
      <p:sp>
        <p:nvSpPr>
          <p:cNvPr id="6" name="phone-body-250"/>
          <p:cNvSpPr/>
          <p:nvPr/>
        </p:nvSpPr>
        <p:spPr>
          <a:xfrm>
            <a:off x="33375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251" descr="App screenshot">    </p:cNvPr>
          <p:cNvPicPr>
            <a:picLocks noChangeAspect="1"/>
          </p:cNvPicPr>
          <p:nvPr/>
        </p:nvPicPr>
        <p:blipFill>
          <a:blip r:embed="rId2"/>
          <a:stretch>
            <a:fillRect/>
          </a:stretch>
        </p:blipFill>
        <p:spPr>
          <a:xfrm>
            <a:off x="3401568" y="1389888"/>
            <a:ext cx="1929384" cy="4287520"/>
          </a:xfrm>
          <a:prstGeom prst="rect">
            <a:avLst/>
          </a:prstGeom>
        </p:spPr>
      </p:pic>
      <p:sp>
        <p:nvSpPr>
          <p:cNvPr id="8" name="text-252"/>
          <p:cNvSpPr txBox="1"/>
          <p:nvPr/>
        </p:nvSpPr>
        <p:spPr>
          <a:xfrm>
            <a:off x="31546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Activity</a:t>
            </a:r>
            <a:endParaRPr lang="en-US" sz="1300" dirty="0"/>
          </a:p>
        </p:txBody>
      </p:sp>
      <p:sp>
        <p:nvSpPr>
          <p:cNvPr id="9" name="icon-circle-253"/>
          <p:cNvSpPr/>
          <p:nvPr/>
        </p:nvSpPr>
        <p:spPr>
          <a:xfrm>
            <a:off x="6035040" y="1463040"/>
            <a:ext cx="566928" cy="566928"/>
          </a:xfrm>
          <a:prstGeom prst="ellipse">
            <a:avLst/>
          </a:prstGeom>
          <a:solidFill>
            <a:schemeClr val="bg2"/>
          </a:solidFill>
          <a:ln/>
        </p:spPr>
      </p:sp>
      <p:pic>
        <p:nvPicPr>
          <p:cNvPr id="10" name="icon-254" descr="preencoded.png">    </p:cNvPr>
          <p:cNvPicPr>
            <a:picLocks noChangeAspect="1"/>
          </p:cNvPicPr>
          <p:nvPr/>
        </p:nvPicPr>
        <p:blipFill>
          <a:blip r:embed="rId3"/>
          <a:stretch>
            <a:fillRect/>
          </a:stretch>
        </p:blipFill>
        <p:spPr>
          <a:xfrm>
            <a:off x="6171103" y="1599103"/>
            <a:ext cx="294803" cy="294803"/>
          </a:xfrm>
          <a:prstGeom prst="rect">
            <a:avLst/>
          </a:prstGeom>
        </p:spPr>
      </p:pic>
      <p:sp>
        <p:nvSpPr>
          <p:cNvPr id="11" name="text-255"/>
          <p:cNvSpPr txBox="1"/>
          <p:nvPr/>
        </p:nvSpPr>
        <p:spPr>
          <a:xfrm>
            <a:off x="6830568" y="144475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Mood over the week</a:t>
            </a:r>
            <a:endParaRPr lang="en-US" sz="1600" dirty="0"/>
          </a:p>
          <a:p>
            <a:pPr indent="0" marL="0">
              <a:buNone/>
            </a:pPr>
            <a:r>
              <a:rPr lang="en-US" sz="1400" dirty="0">
                <a:solidFill>
                  <a:schemeClr val="tx1"/>
                </a:solidFill>
              </a:rPr>
              <a:t>A simple calendar shows each day’s check-in.</a:t>
            </a:r>
            <a:endParaRPr lang="en-US" sz="1600" dirty="0"/>
          </a:p>
        </p:txBody>
      </p:sp>
      <p:sp>
        <p:nvSpPr>
          <p:cNvPr id="12" name="icon-circle-256"/>
          <p:cNvSpPr/>
          <p:nvPr/>
        </p:nvSpPr>
        <p:spPr>
          <a:xfrm>
            <a:off x="6035040" y="2560320"/>
            <a:ext cx="566928" cy="566928"/>
          </a:xfrm>
          <a:prstGeom prst="ellipse">
            <a:avLst/>
          </a:prstGeom>
          <a:solidFill>
            <a:schemeClr val="bg2"/>
          </a:solidFill>
          <a:ln/>
        </p:spPr>
      </p:sp>
      <p:pic>
        <p:nvPicPr>
          <p:cNvPr id="13" name="icon-257" descr="preencoded.png">    </p:cNvPr>
          <p:cNvPicPr>
            <a:picLocks noChangeAspect="1"/>
          </p:cNvPicPr>
          <p:nvPr/>
        </p:nvPicPr>
        <p:blipFill>
          <a:blip r:embed="rId4"/>
          <a:stretch>
            <a:fillRect/>
          </a:stretch>
        </p:blipFill>
        <p:spPr>
          <a:xfrm>
            <a:off x="6171103" y="2696383"/>
            <a:ext cx="294803" cy="294803"/>
          </a:xfrm>
          <a:prstGeom prst="rect">
            <a:avLst/>
          </a:prstGeom>
        </p:spPr>
      </p:pic>
      <p:sp>
        <p:nvSpPr>
          <p:cNvPr id="14" name="text-258"/>
          <p:cNvSpPr txBox="1"/>
          <p:nvPr/>
        </p:nvSpPr>
        <p:spPr>
          <a:xfrm>
            <a:off x="6830568" y="254203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Points and goals</a:t>
            </a:r>
            <a:endParaRPr lang="en-US" sz="1600" dirty="0"/>
          </a:p>
          <a:p>
            <a:pPr indent="0" marL="0">
              <a:buNone/>
            </a:pPr>
            <a:r>
              <a:rPr lang="en-US" sz="1400" dirty="0">
                <a:solidFill>
                  <a:schemeClr val="tx1"/>
                </a:solidFill>
              </a:rPr>
              <a:t>Calm Points and goals met reward steady effort.</a:t>
            </a:r>
            <a:endParaRPr lang="en-US" sz="1600" dirty="0"/>
          </a:p>
        </p:txBody>
      </p:sp>
      <p:sp>
        <p:nvSpPr>
          <p:cNvPr id="15" name="icon-circle-259"/>
          <p:cNvSpPr/>
          <p:nvPr/>
        </p:nvSpPr>
        <p:spPr>
          <a:xfrm>
            <a:off x="6035040" y="3657600"/>
            <a:ext cx="566928" cy="566928"/>
          </a:xfrm>
          <a:prstGeom prst="ellipse">
            <a:avLst/>
          </a:prstGeom>
          <a:solidFill>
            <a:schemeClr val="bg2"/>
          </a:solidFill>
          <a:ln/>
        </p:spPr>
      </p:sp>
      <p:pic>
        <p:nvPicPr>
          <p:cNvPr id="16" name="icon-260" descr="preencoded.png">    </p:cNvPr>
          <p:cNvPicPr>
            <a:picLocks noChangeAspect="1"/>
          </p:cNvPicPr>
          <p:nvPr/>
        </p:nvPicPr>
        <p:blipFill>
          <a:blip r:embed="rId5"/>
          <a:stretch>
            <a:fillRect/>
          </a:stretch>
        </p:blipFill>
        <p:spPr>
          <a:xfrm>
            <a:off x="6171103" y="3793663"/>
            <a:ext cx="294803" cy="294803"/>
          </a:xfrm>
          <a:prstGeom prst="rect">
            <a:avLst/>
          </a:prstGeom>
        </p:spPr>
      </p:pic>
      <p:sp>
        <p:nvSpPr>
          <p:cNvPr id="17" name="text-261"/>
          <p:cNvSpPr txBox="1"/>
          <p:nvPr/>
        </p:nvSpPr>
        <p:spPr>
          <a:xfrm>
            <a:off x="6830568" y="363931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Activity at a glance</a:t>
            </a:r>
            <a:endParaRPr lang="en-US" sz="1600" dirty="0"/>
          </a:p>
          <a:p>
            <a:pPr indent="0" marL="0">
              <a:buNone/>
            </a:pPr>
            <a:r>
              <a:rPr lang="en-US" sz="1400" dirty="0">
                <a:solidFill>
                  <a:schemeClr val="tx1"/>
                </a:solidFill>
              </a:rPr>
              <a:t>Check-ins, thought exercises and minutes of relaxation.</a:t>
            </a:r>
            <a:endParaRPr lang="en-US" sz="1600" dirty="0"/>
          </a:p>
        </p:txBody>
      </p:sp>
      <p:sp>
        <p:nvSpPr>
          <p:cNvPr id="18" name="icon-circle-262"/>
          <p:cNvSpPr/>
          <p:nvPr/>
        </p:nvSpPr>
        <p:spPr>
          <a:xfrm>
            <a:off x="6035040" y="4754880"/>
            <a:ext cx="566928" cy="566928"/>
          </a:xfrm>
          <a:prstGeom prst="ellipse">
            <a:avLst/>
          </a:prstGeom>
          <a:solidFill>
            <a:schemeClr val="bg2"/>
          </a:solidFill>
          <a:ln/>
        </p:spPr>
      </p:sp>
      <p:pic>
        <p:nvPicPr>
          <p:cNvPr id="19" name="icon-263" descr="preencoded.png">    </p:cNvPr>
          <p:cNvPicPr>
            <a:picLocks noChangeAspect="1"/>
          </p:cNvPicPr>
          <p:nvPr/>
        </p:nvPicPr>
        <p:blipFill>
          <a:blip r:embed="rId6"/>
          <a:stretch>
            <a:fillRect/>
          </a:stretch>
        </p:blipFill>
        <p:spPr>
          <a:xfrm>
            <a:off x="6171103" y="4890943"/>
            <a:ext cx="294803" cy="294803"/>
          </a:xfrm>
          <a:prstGeom prst="rect">
            <a:avLst/>
          </a:prstGeom>
        </p:spPr>
      </p:pic>
      <p:sp>
        <p:nvSpPr>
          <p:cNvPr id="20" name="text-264"/>
          <p:cNvSpPr txBox="1"/>
          <p:nvPr/>
        </p:nvSpPr>
        <p:spPr>
          <a:xfrm>
            <a:off x="6830568" y="4736592"/>
            <a:ext cx="4782312" cy="1024128"/>
          </a:xfrm>
          <a:prstGeom prst="rect">
            <a:avLst/>
          </a:prstGeom>
          <a:noFill/>
          <a:ln/>
        </p:spPr>
        <p:txBody>
          <a:bodyPr wrap="square" lIns="0" tIns="0" rIns="0" bIns="0" rtlCol="0" anchor="t"/>
          <a:lstStyle/>
          <a:p>
            <a:pPr indent="0" marL="0">
              <a:buNone/>
            </a:pPr>
            <a:r>
              <a:rPr lang="en-US" sz="1700" b="1" dirty="0">
                <a:solidFill>
                  <a:schemeClr val="tx2"/>
                </a:solidFill>
              </a:rPr>
              <a:t>Gentle encouragement</a:t>
            </a:r>
            <a:endParaRPr lang="en-US" sz="1600" dirty="0"/>
          </a:p>
          <a:p>
            <a:pPr indent="0" marL="0">
              <a:buNone/>
            </a:pPr>
            <a:r>
              <a:rPr lang="en-US" sz="1400" dirty="0">
                <a:solidFill>
                  <a:schemeClr val="tx1"/>
                </a:solidFill>
              </a:rPr>
              <a:t>Short messages celebrate consistency.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An app that gets to know them</a:t>
            </a:r>
            <a:endParaRPr lang="en-US" sz="3400" dirty="0"/>
          </a:p>
        </p:txBody>
      </p:sp>
      <p:sp>
        <p:nvSpPr>
          <p:cNvPr id="3" name="phone-body-265"/>
          <p:cNvSpPr/>
          <p:nvPr/>
        </p:nvSpPr>
        <p:spPr>
          <a:xfrm>
            <a:off x="8229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4" name="phone-screen-266" descr="App screenshot">    </p:cNvPr>
          <p:cNvPicPr>
            <a:picLocks noChangeAspect="1"/>
          </p:cNvPicPr>
          <p:nvPr/>
        </p:nvPicPr>
        <p:blipFill>
          <a:blip r:embed="rId1"/>
          <a:stretch>
            <a:fillRect/>
          </a:stretch>
        </p:blipFill>
        <p:spPr>
          <a:xfrm>
            <a:off x="886968" y="1389888"/>
            <a:ext cx="1929384" cy="4287520"/>
          </a:xfrm>
          <a:prstGeom prst="rect">
            <a:avLst/>
          </a:prstGeom>
        </p:spPr>
      </p:pic>
      <p:sp>
        <p:nvSpPr>
          <p:cNvPr id="5" name="text-267"/>
          <p:cNvSpPr txBox="1"/>
          <p:nvPr/>
        </p:nvSpPr>
        <p:spPr>
          <a:xfrm>
            <a:off x="6400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Wellness identity</a:t>
            </a:r>
            <a:endParaRPr lang="en-US" sz="1300" dirty="0"/>
          </a:p>
        </p:txBody>
      </p:sp>
      <p:sp>
        <p:nvSpPr>
          <p:cNvPr id="6" name="phone-body-268"/>
          <p:cNvSpPr/>
          <p:nvPr/>
        </p:nvSpPr>
        <p:spPr>
          <a:xfrm>
            <a:off x="3337560" y="1325880"/>
            <a:ext cx="2057400" cy="4415536"/>
          </a:xfrm>
          <a:prstGeom prst="roundRect">
            <a:avLst>
              <a:gd name="adj" fmla="val 8889"/>
            </a:avLst>
          </a:prstGeom>
          <a:solidFill>
            <a:schemeClr val="tx1"/>
          </a:solidFill>
          <a:ln/>
          <a:effectLst>
            <a:outerShdw sx="100000" sy="100000" kx="0" ky="0" algn="bl" rotWithShape="0" blurRad="177800" dist="50800" dir="5400000">
              <a:srgbClr val="1F1B3A">
                <a:alpha val="22000"/>
              </a:srgbClr>
            </a:outerShdw>
          </a:effectLst>
        </p:spPr>
      </p:sp>
      <p:pic>
        <p:nvPicPr>
          <p:cNvPr id="7" name="phone-screen-269" descr="App screenshot">    </p:cNvPr>
          <p:cNvPicPr>
            <a:picLocks noChangeAspect="1"/>
          </p:cNvPicPr>
          <p:nvPr/>
        </p:nvPicPr>
        <p:blipFill>
          <a:blip r:embed="rId2"/>
          <a:stretch>
            <a:fillRect/>
          </a:stretch>
        </p:blipFill>
        <p:spPr>
          <a:xfrm>
            <a:off x="3401568" y="1389888"/>
            <a:ext cx="1929384" cy="4287520"/>
          </a:xfrm>
          <a:prstGeom prst="rect">
            <a:avLst/>
          </a:prstGeom>
        </p:spPr>
      </p:pic>
      <p:sp>
        <p:nvSpPr>
          <p:cNvPr id="8" name="text-270"/>
          <p:cNvSpPr txBox="1"/>
          <p:nvPr/>
        </p:nvSpPr>
        <p:spPr>
          <a:xfrm>
            <a:off x="3154680" y="5851144"/>
            <a:ext cx="2423160" cy="320040"/>
          </a:xfrm>
          <a:prstGeom prst="rect">
            <a:avLst/>
          </a:prstGeom>
          <a:noFill/>
          <a:ln/>
        </p:spPr>
        <p:txBody>
          <a:bodyPr wrap="square" lIns="0" tIns="0" rIns="0" bIns="0" rtlCol="0" anchor="t"/>
          <a:lstStyle/>
          <a:p>
            <a:pPr algn="ctr" indent="0" marL="0">
              <a:buNone/>
            </a:pPr>
            <a:r>
              <a:rPr lang="en-US" sz="1300" b="1" dirty="0">
                <a:solidFill>
                  <a:schemeClr val="tx2"/>
                </a:solidFill>
              </a:rPr>
              <a:t>Companion settings</a:t>
            </a:r>
            <a:endParaRPr lang="en-US" sz="1300" dirty="0"/>
          </a:p>
        </p:txBody>
      </p:sp>
      <p:sp>
        <p:nvSpPr>
          <p:cNvPr id="9" name="icon-circle-271"/>
          <p:cNvSpPr/>
          <p:nvPr/>
        </p:nvSpPr>
        <p:spPr>
          <a:xfrm>
            <a:off x="6035040" y="1554480"/>
            <a:ext cx="566928" cy="566928"/>
          </a:xfrm>
          <a:prstGeom prst="ellipse">
            <a:avLst/>
          </a:prstGeom>
          <a:solidFill>
            <a:schemeClr val="bg2"/>
          </a:solidFill>
          <a:ln/>
        </p:spPr>
      </p:sp>
      <p:pic>
        <p:nvPicPr>
          <p:cNvPr id="10" name="icon-272" descr="preencoded.png">    </p:cNvPr>
          <p:cNvPicPr>
            <a:picLocks noChangeAspect="1"/>
          </p:cNvPicPr>
          <p:nvPr/>
        </p:nvPicPr>
        <p:blipFill>
          <a:blip r:embed="rId3"/>
          <a:stretch>
            <a:fillRect/>
          </a:stretch>
        </p:blipFill>
        <p:spPr>
          <a:xfrm>
            <a:off x="6171103" y="1690543"/>
            <a:ext cx="294803" cy="294803"/>
          </a:xfrm>
          <a:prstGeom prst="rect">
            <a:avLst/>
          </a:prstGeom>
        </p:spPr>
      </p:pic>
      <p:sp>
        <p:nvSpPr>
          <p:cNvPr id="11" name="text-273"/>
          <p:cNvSpPr txBox="1"/>
          <p:nvPr/>
        </p:nvSpPr>
        <p:spPr>
          <a:xfrm>
            <a:off x="6830568" y="1536192"/>
            <a:ext cx="4782312" cy="1252728"/>
          </a:xfrm>
          <a:prstGeom prst="rect">
            <a:avLst/>
          </a:prstGeom>
          <a:noFill/>
          <a:ln/>
        </p:spPr>
        <p:txBody>
          <a:bodyPr wrap="square" lIns="0" tIns="0" rIns="0" bIns="0" rtlCol="0" anchor="t"/>
          <a:lstStyle/>
          <a:p>
            <a:pPr indent="0" marL="0">
              <a:buNone/>
            </a:pPr>
            <a:r>
              <a:rPr lang="en-US" sz="1700" b="1" dirty="0">
                <a:solidFill>
                  <a:schemeClr val="tx2"/>
                </a:solidFill>
              </a:rPr>
              <a:t>Wellness identity</a:t>
            </a:r>
            <a:endParaRPr lang="en-US" sz="1600" dirty="0"/>
          </a:p>
          <a:p>
            <a:pPr indent="0" marL="0">
              <a:buNone/>
            </a:pPr>
            <a:r>
              <a:rPr lang="en-US" sz="1400" dirty="0">
                <a:solidFill>
                  <a:schemeClr val="tx1"/>
                </a:solidFill>
              </a:rPr>
              <a:t>Style, mood and energy patterns, updated from the student’s activity.</a:t>
            </a:r>
            <a:endParaRPr lang="en-US" sz="1600" dirty="0"/>
          </a:p>
        </p:txBody>
      </p:sp>
      <p:sp>
        <p:nvSpPr>
          <p:cNvPr id="12" name="icon-circle-274"/>
          <p:cNvSpPr/>
          <p:nvPr/>
        </p:nvSpPr>
        <p:spPr>
          <a:xfrm>
            <a:off x="6035040" y="2880360"/>
            <a:ext cx="566928" cy="566928"/>
          </a:xfrm>
          <a:prstGeom prst="ellipse">
            <a:avLst/>
          </a:prstGeom>
          <a:solidFill>
            <a:schemeClr val="bg2"/>
          </a:solidFill>
          <a:ln/>
        </p:spPr>
      </p:sp>
      <p:pic>
        <p:nvPicPr>
          <p:cNvPr id="13" name="icon-275" descr="preencoded.png">    </p:cNvPr>
          <p:cNvPicPr>
            <a:picLocks noChangeAspect="1"/>
          </p:cNvPicPr>
          <p:nvPr/>
        </p:nvPicPr>
        <p:blipFill>
          <a:blip r:embed="rId4"/>
          <a:stretch>
            <a:fillRect/>
          </a:stretch>
        </p:blipFill>
        <p:spPr>
          <a:xfrm>
            <a:off x="6171103" y="3016423"/>
            <a:ext cx="294803" cy="294803"/>
          </a:xfrm>
          <a:prstGeom prst="rect">
            <a:avLst/>
          </a:prstGeom>
        </p:spPr>
      </p:pic>
      <p:sp>
        <p:nvSpPr>
          <p:cNvPr id="14" name="text-276"/>
          <p:cNvSpPr txBox="1"/>
          <p:nvPr/>
        </p:nvSpPr>
        <p:spPr>
          <a:xfrm>
            <a:off x="6830568" y="2862072"/>
            <a:ext cx="4782312" cy="1252728"/>
          </a:xfrm>
          <a:prstGeom prst="rect">
            <a:avLst/>
          </a:prstGeom>
          <a:noFill/>
          <a:ln/>
        </p:spPr>
        <p:txBody>
          <a:bodyPr wrap="square" lIns="0" tIns="0" rIns="0" bIns="0" rtlCol="0" anchor="t"/>
          <a:lstStyle/>
          <a:p>
            <a:pPr indent="0" marL="0">
              <a:buNone/>
            </a:pPr>
            <a:r>
              <a:rPr lang="en-US" sz="1700" b="1" dirty="0">
                <a:solidFill>
                  <a:schemeClr val="tx2"/>
                </a:solidFill>
              </a:rPr>
              <a:t>Make Emoty their own</a:t>
            </a:r>
            <a:endParaRPr lang="en-US" sz="1600" dirty="0"/>
          </a:p>
          <a:p>
            <a:pPr indent="0" marL="0">
              <a:buNone/>
            </a:pPr>
            <a:r>
              <a:rPr lang="en-US" sz="1400" dirty="0">
                <a:solidFill>
                  <a:schemeClr val="tx1"/>
                </a:solidFill>
              </a:rPr>
              <a:t>Change the look, name and voice, or turn spoken replies on or off.</a:t>
            </a:r>
            <a:endParaRPr lang="en-US" sz="1600" dirty="0"/>
          </a:p>
        </p:txBody>
      </p:sp>
      <p:sp>
        <p:nvSpPr>
          <p:cNvPr id="15" name="icon-circle-277"/>
          <p:cNvSpPr/>
          <p:nvPr/>
        </p:nvSpPr>
        <p:spPr>
          <a:xfrm>
            <a:off x="6035040" y="4206240"/>
            <a:ext cx="566928" cy="566928"/>
          </a:xfrm>
          <a:prstGeom prst="ellipse">
            <a:avLst/>
          </a:prstGeom>
          <a:solidFill>
            <a:schemeClr val="bg2"/>
          </a:solidFill>
          <a:ln/>
        </p:spPr>
      </p:sp>
      <p:pic>
        <p:nvPicPr>
          <p:cNvPr id="16" name="icon-278" descr="preencoded.png">    </p:cNvPr>
          <p:cNvPicPr>
            <a:picLocks noChangeAspect="1"/>
          </p:cNvPicPr>
          <p:nvPr/>
        </p:nvPicPr>
        <p:blipFill>
          <a:blip r:embed="rId5"/>
          <a:stretch>
            <a:fillRect/>
          </a:stretch>
        </p:blipFill>
        <p:spPr>
          <a:xfrm>
            <a:off x="6171103" y="4342303"/>
            <a:ext cx="294803" cy="294803"/>
          </a:xfrm>
          <a:prstGeom prst="rect">
            <a:avLst/>
          </a:prstGeom>
        </p:spPr>
      </p:pic>
      <p:sp>
        <p:nvSpPr>
          <p:cNvPr id="17" name="text-279"/>
          <p:cNvSpPr txBox="1"/>
          <p:nvPr/>
        </p:nvSpPr>
        <p:spPr>
          <a:xfrm>
            <a:off x="6830568" y="4187952"/>
            <a:ext cx="4782312" cy="1252728"/>
          </a:xfrm>
          <a:prstGeom prst="rect">
            <a:avLst/>
          </a:prstGeom>
          <a:noFill/>
          <a:ln/>
        </p:spPr>
        <p:txBody>
          <a:bodyPr wrap="square" lIns="0" tIns="0" rIns="0" bIns="0" rtlCol="0" anchor="t"/>
          <a:lstStyle/>
          <a:p>
            <a:pPr indent="0" marL="0">
              <a:buNone/>
            </a:pPr>
            <a:r>
              <a:rPr lang="en-US" sz="1700" b="1" dirty="0">
                <a:solidFill>
                  <a:schemeClr val="tx2"/>
                </a:solidFill>
              </a:rPr>
              <a:t>Clear boundaries</a:t>
            </a:r>
            <a:endParaRPr lang="en-US" sz="1600" dirty="0"/>
          </a:p>
          <a:p>
            <a:pPr indent="0" marL="0">
              <a:buNone/>
            </a:pPr>
            <a:r>
              <a:rPr lang="en-US" sz="1400" dirty="0">
                <a:solidFill>
                  <a:schemeClr val="tx1"/>
                </a:solidFill>
              </a:rPr>
              <a:t>Personal preferences are kept separate from clinical records.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Use case: a stressful exam week</a:t>
            </a:r>
            <a:endParaRPr lang="en-US" sz="3400" dirty="0"/>
          </a:p>
        </p:txBody>
      </p:sp>
      <p:sp>
        <p:nvSpPr>
          <p:cNvPr id="3" name="card-280"/>
          <p:cNvSpPr/>
          <p:nvPr/>
        </p:nvSpPr>
        <p:spPr>
          <a:xfrm>
            <a:off x="548640" y="1417320"/>
            <a:ext cx="3520440" cy="1920240"/>
          </a:xfrm>
          <a:prstGeom prst="roundRect">
            <a:avLst>
              <a:gd name="adj" fmla="val 6667"/>
            </a:avLst>
          </a:prstGeom>
          <a:solidFill>
            <a:schemeClr val="bg2"/>
          </a:solidFill>
          <a:ln/>
        </p:spPr>
      </p:sp>
      <p:sp>
        <p:nvSpPr>
          <p:cNvPr id="4" name="icon-circle-281"/>
          <p:cNvSpPr/>
          <p:nvPr/>
        </p:nvSpPr>
        <p:spPr>
          <a:xfrm>
            <a:off x="822960" y="1691640"/>
            <a:ext cx="640080" cy="640080"/>
          </a:xfrm>
          <a:prstGeom prst="ellipse">
            <a:avLst/>
          </a:prstGeom>
          <a:solidFill>
            <a:schemeClr val="accent1"/>
          </a:solidFill>
          <a:ln/>
        </p:spPr>
      </p:sp>
      <p:pic>
        <p:nvPicPr>
          <p:cNvPr id="5" name="icon-282"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6" name="text-283"/>
          <p:cNvSpPr txBox="1"/>
          <p:nvPr/>
        </p:nvSpPr>
        <p:spPr>
          <a:xfrm>
            <a:off x="3383280" y="160020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1</a:t>
            </a:r>
            <a:endParaRPr lang="en-US" sz="3000" dirty="0"/>
          </a:p>
        </p:txBody>
      </p:sp>
      <p:sp>
        <p:nvSpPr>
          <p:cNvPr id="7" name="text-284"/>
          <p:cNvSpPr txBox="1"/>
          <p:nvPr/>
        </p:nvSpPr>
        <p:spPr>
          <a:xfrm>
            <a:off x="822960" y="2423160"/>
            <a:ext cx="3063240" cy="868680"/>
          </a:xfrm>
          <a:prstGeom prst="rect">
            <a:avLst/>
          </a:prstGeom>
          <a:noFill/>
          <a:ln/>
        </p:spPr>
        <p:txBody>
          <a:bodyPr wrap="square" lIns="0" tIns="0" rIns="0" bIns="0" rtlCol="0" anchor="t"/>
          <a:lstStyle/>
          <a:p>
            <a:pPr indent="0" marL="0">
              <a:buNone/>
            </a:pPr>
            <a:r>
              <a:rPr lang="en-US" sz="1700" b="1" dirty="0">
                <a:solidFill>
                  <a:schemeClr val="tx2"/>
                </a:solidFill>
              </a:rPr>
              <a:t>A heavy morning</a:t>
            </a:r>
            <a:endParaRPr lang="en-US" sz="1600" dirty="0"/>
          </a:p>
          <a:p>
            <a:pPr indent="0" marL="0">
              <a:buNone/>
            </a:pPr>
            <a:r>
              <a:rPr lang="en-US" sz="1400" dirty="0">
                <a:solidFill>
                  <a:schemeClr val="tx1"/>
                </a:solidFill>
              </a:rPr>
              <a:t>A student taps “Heavy” in the daily check-in, and Emoty offers to explore it.</a:t>
            </a:r>
            <a:endParaRPr lang="en-US" sz="1600" dirty="0"/>
          </a:p>
        </p:txBody>
      </p:sp>
      <p:sp>
        <p:nvSpPr>
          <p:cNvPr id="8" name="card-285"/>
          <p:cNvSpPr/>
          <p:nvPr/>
        </p:nvSpPr>
        <p:spPr>
          <a:xfrm>
            <a:off x="4297680" y="1417320"/>
            <a:ext cx="3520440" cy="1920240"/>
          </a:xfrm>
          <a:prstGeom prst="roundRect">
            <a:avLst>
              <a:gd name="adj" fmla="val 6667"/>
            </a:avLst>
          </a:prstGeom>
          <a:solidFill>
            <a:schemeClr val="bg2"/>
          </a:solidFill>
          <a:ln/>
        </p:spPr>
      </p:sp>
      <p:sp>
        <p:nvSpPr>
          <p:cNvPr id="9" name="icon-circle-286"/>
          <p:cNvSpPr/>
          <p:nvPr/>
        </p:nvSpPr>
        <p:spPr>
          <a:xfrm>
            <a:off x="4572000" y="1691640"/>
            <a:ext cx="640080" cy="640080"/>
          </a:xfrm>
          <a:prstGeom prst="ellipse">
            <a:avLst/>
          </a:prstGeom>
          <a:solidFill>
            <a:schemeClr val="accent1"/>
          </a:solidFill>
          <a:ln/>
        </p:spPr>
      </p:sp>
      <p:pic>
        <p:nvPicPr>
          <p:cNvPr id="10" name="icon-287" descr="preencoded.png">    </p:cNvPr>
          <p:cNvPicPr>
            <a:picLocks noChangeAspect="1"/>
          </p:cNvPicPr>
          <p:nvPr/>
        </p:nvPicPr>
        <p:blipFill>
          <a:blip r:embed="rId2"/>
          <a:stretch>
            <a:fillRect/>
          </a:stretch>
        </p:blipFill>
        <p:spPr>
          <a:xfrm>
            <a:off x="4725619" y="1845259"/>
            <a:ext cx="332842" cy="332842"/>
          </a:xfrm>
          <a:prstGeom prst="rect">
            <a:avLst/>
          </a:prstGeom>
        </p:spPr>
      </p:pic>
      <p:sp>
        <p:nvSpPr>
          <p:cNvPr id="11" name="text-288"/>
          <p:cNvSpPr txBox="1"/>
          <p:nvPr/>
        </p:nvSpPr>
        <p:spPr>
          <a:xfrm>
            <a:off x="7132320" y="160020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2</a:t>
            </a:r>
            <a:endParaRPr lang="en-US" sz="3000" dirty="0"/>
          </a:p>
        </p:txBody>
      </p:sp>
      <p:sp>
        <p:nvSpPr>
          <p:cNvPr id="12" name="text-289"/>
          <p:cNvSpPr txBox="1"/>
          <p:nvPr/>
        </p:nvSpPr>
        <p:spPr>
          <a:xfrm>
            <a:off x="4572000" y="2423160"/>
            <a:ext cx="3063240" cy="868680"/>
          </a:xfrm>
          <a:prstGeom prst="rect">
            <a:avLst/>
          </a:prstGeom>
          <a:noFill/>
          <a:ln/>
        </p:spPr>
        <p:txBody>
          <a:bodyPr wrap="square" lIns="0" tIns="0" rIns="0" bIns="0" rtlCol="0" anchor="t"/>
          <a:lstStyle/>
          <a:p>
            <a:pPr indent="0" marL="0">
              <a:buNone/>
            </a:pPr>
            <a:r>
              <a:rPr lang="en-US" sz="1700" b="1" dirty="0">
                <a:solidFill>
                  <a:schemeClr val="tx2"/>
                </a:solidFill>
              </a:rPr>
              <a:t>Finding the words</a:t>
            </a:r>
            <a:endParaRPr lang="en-US" sz="1600" dirty="0"/>
          </a:p>
          <a:p>
            <a:pPr indent="0" marL="0">
              <a:buNone/>
            </a:pPr>
            <a:r>
              <a:rPr lang="en-US" sz="1400" dirty="0">
                <a:solidFill>
                  <a:schemeClr val="tx1"/>
                </a:solidFill>
              </a:rPr>
              <a:t>The guided check-in helps them name the feeling and notice tension in the body.</a:t>
            </a:r>
            <a:endParaRPr lang="en-US" sz="1600" dirty="0"/>
          </a:p>
        </p:txBody>
      </p:sp>
      <p:sp>
        <p:nvSpPr>
          <p:cNvPr id="13" name="card-290"/>
          <p:cNvSpPr/>
          <p:nvPr/>
        </p:nvSpPr>
        <p:spPr>
          <a:xfrm>
            <a:off x="8046720" y="1417320"/>
            <a:ext cx="3520440" cy="1920240"/>
          </a:xfrm>
          <a:prstGeom prst="roundRect">
            <a:avLst>
              <a:gd name="adj" fmla="val 6667"/>
            </a:avLst>
          </a:prstGeom>
          <a:solidFill>
            <a:schemeClr val="bg2"/>
          </a:solidFill>
          <a:ln/>
        </p:spPr>
      </p:sp>
      <p:sp>
        <p:nvSpPr>
          <p:cNvPr id="14" name="icon-circle-291"/>
          <p:cNvSpPr/>
          <p:nvPr/>
        </p:nvSpPr>
        <p:spPr>
          <a:xfrm>
            <a:off x="8321040" y="1691640"/>
            <a:ext cx="640080" cy="640080"/>
          </a:xfrm>
          <a:prstGeom prst="ellipse">
            <a:avLst/>
          </a:prstGeom>
          <a:solidFill>
            <a:schemeClr val="accent1"/>
          </a:solidFill>
          <a:ln/>
        </p:spPr>
      </p:sp>
      <p:pic>
        <p:nvPicPr>
          <p:cNvPr id="15" name="icon-292" descr="preencoded.png">    </p:cNvPr>
          <p:cNvPicPr>
            <a:picLocks noChangeAspect="1"/>
          </p:cNvPicPr>
          <p:nvPr/>
        </p:nvPicPr>
        <p:blipFill>
          <a:blip r:embed="rId3"/>
          <a:stretch>
            <a:fillRect/>
          </a:stretch>
        </p:blipFill>
        <p:spPr>
          <a:xfrm>
            <a:off x="8474659" y="1845259"/>
            <a:ext cx="332842" cy="332842"/>
          </a:xfrm>
          <a:prstGeom prst="rect">
            <a:avLst/>
          </a:prstGeom>
        </p:spPr>
      </p:pic>
      <p:sp>
        <p:nvSpPr>
          <p:cNvPr id="16" name="text-293"/>
          <p:cNvSpPr txBox="1"/>
          <p:nvPr/>
        </p:nvSpPr>
        <p:spPr>
          <a:xfrm>
            <a:off x="10881360" y="160020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3</a:t>
            </a:r>
            <a:endParaRPr lang="en-US" sz="3000" dirty="0"/>
          </a:p>
        </p:txBody>
      </p:sp>
      <p:sp>
        <p:nvSpPr>
          <p:cNvPr id="17" name="text-294"/>
          <p:cNvSpPr txBox="1"/>
          <p:nvPr/>
        </p:nvSpPr>
        <p:spPr>
          <a:xfrm>
            <a:off x="8321040" y="2423160"/>
            <a:ext cx="3063240" cy="868680"/>
          </a:xfrm>
          <a:prstGeom prst="rect">
            <a:avLst/>
          </a:prstGeom>
          <a:noFill/>
          <a:ln/>
        </p:spPr>
        <p:txBody>
          <a:bodyPr wrap="square" lIns="0" tIns="0" rIns="0" bIns="0" rtlCol="0" anchor="t"/>
          <a:lstStyle/>
          <a:p>
            <a:pPr indent="0" marL="0">
              <a:buNone/>
            </a:pPr>
            <a:r>
              <a:rPr lang="en-US" sz="1700" b="1" dirty="0">
                <a:solidFill>
                  <a:schemeClr val="tx2"/>
                </a:solidFill>
              </a:rPr>
              <a:t>A matched activity</a:t>
            </a:r>
            <a:endParaRPr lang="en-US" sz="1600" dirty="0"/>
          </a:p>
          <a:p>
            <a:pPr indent="0" marL="0">
              <a:buNone/>
            </a:pPr>
            <a:r>
              <a:rPr lang="en-US" sz="1400" dirty="0">
                <a:solidFill>
                  <a:schemeClr val="tx1"/>
                </a:solidFill>
              </a:rPr>
              <a:t>Emoty suggests a short calming exercise, which they complete in five minutes.</a:t>
            </a:r>
            <a:endParaRPr lang="en-US" sz="1600" dirty="0"/>
          </a:p>
        </p:txBody>
      </p:sp>
      <p:sp>
        <p:nvSpPr>
          <p:cNvPr id="18" name="card-295"/>
          <p:cNvSpPr/>
          <p:nvPr/>
        </p:nvSpPr>
        <p:spPr>
          <a:xfrm>
            <a:off x="548640" y="3566160"/>
            <a:ext cx="3520440" cy="1920240"/>
          </a:xfrm>
          <a:prstGeom prst="roundRect">
            <a:avLst>
              <a:gd name="adj" fmla="val 6667"/>
            </a:avLst>
          </a:prstGeom>
          <a:solidFill>
            <a:schemeClr val="bg2"/>
          </a:solidFill>
          <a:ln/>
        </p:spPr>
      </p:sp>
      <p:sp>
        <p:nvSpPr>
          <p:cNvPr id="19" name="icon-circle-296"/>
          <p:cNvSpPr/>
          <p:nvPr/>
        </p:nvSpPr>
        <p:spPr>
          <a:xfrm>
            <a:off x="822960" y="3840480"/>
            <a:ext cx="640080" cy="640080"/>
          </a:xfrm>
          <a:prstGeom prst="ellipse">
            <a:avLst/>
          </a:prstGeom>
          <a:solidFill>
            <a:schemeClr val="accent1"/>
          </a:solidFill>
          <a:ln/>
        </p:spPr>
      </p:sp>
      <p:pic>
        <p:nvPicPr>
          <p:cNvPr id="20" name="icon-297" descr="preencoded.png">    </p:cNvPr>
          <p:cNvPicPr>
            <a:picLocks noChangeAspect="1"/>
          </p:cNvPicPr>
          <p:nvPr/>
        </p:nvPicPr>
        <p:blipFill>
          <a:blip r:embed="rId4"/>
          <a:stretch>
            <a:fillRect/>
          </a:stretch>
        </p:blipFill>
        <p:spPr>
          <a:xfrm>
            <a:off x="976579" y="3994099"/>
            <a:ext cx="332842" cy="332842"/>
          </a:xfrm>
          <a:prstGeom prst="rect">
            <a:avLst/>
          </a:prstGeom>
        </p:spPr>
      </p:pic>
      <p:sp>
        <p:nvSpPr>
          <p:cNvPr id="21" name="text-298"/>
          <p:cNvSpPr txBox="1"/>
          <p:nvPr/>
        </p:nvSpPr>
        <p:spPr>
          <a:xfrm>
            <a:off x="3383280" y="374904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4</a:t>
            </a:r>
            <a:endParaRPr lang="en-US" sz="3000" dirty="0"/>
          </a:p>
        </p:txBody>
      </p:sp>
      <p:sp>
        <p:nvSpPr>
          <p:cNvPr id="22" name="text-299"/>
          <p:cNvSpPr txBox="1"/>
          <p:nvPr/>
        </p:nvSpPr>
        <p:spPr>
          <a:xfrm>
            <a:off x="822960" y="4572000"/>
            <a:ext cx="3063240" cy="868680"/>
          </a:xfrm>
          <a:prstGeom prst="rect">
            <a:avLst/>
          </a:prstGeom>
          <a:noFill/>
          <a:ln/>
        </p:spPr>
        <p:txBody>
          <a:bodyPr wrap="square" lIns="0" tIns="0" rIns="0" bIns="0" rtlCol="0" anchor="t"/>
          <a:lstStyle/>
          <a:p>
            <a:pPr indent="0" marL="0">
              <a:buNone/>
            </a:pPr>
            <a:r>
              <a:rPr lang="en-US" sz="1700" b="1" dirty="0">
                <a:solidFill>
                  <a:schemeClr val="tx2"/>
                </a:solidFill>
              </a:rPr>
              <a:t>A small win</a:t>
            </a:r>
            <a:endParaRPr lang="en-US" sz="1600" dirty="0"/>
          </a:p>
          <a:p>
            <a:pPr indent="0" marL="0">
              <a:buNone/>
            </a:pPr>
            <a:r>
              <a:rPr lang="en-US" sz="1400" dirty="0">
                <a:solidFill>
                  <a:schemeClr val="tx1"/>
                </a:solidFill>
              </a:rPr>
              <a:t>They accept a small step for the day and earn Calm Points.</a:t>
            </a:r>
            <a:endParaRPr lang="en-US" sz="1600" dirty="0"/>
          </a:p>
        </p:txBody>
      </p:sp>
      <p:sp>
        <p:nvSpPr>
          <p:cNvPr id="23" name="card-300"/>
          <p:cNvSpPr/>
          <p:nvPr/>
        </p:nvSpPr>
        <p:spPr>
          <a:xfrm>
            <a:off x="4297680" y="3566160"/>
            <a:ext cx="3520440" cy="1920240"/>
          </a:xfrm>
          <a:prstGeom prst="roundRect">
            <a:avLst>
              <a:gd name="adj" fmla="val 6667"/>
            </a:avLst>
          </a:prstGeom>
          <a:solidFill>
            <a:schemeClr val="bg2"/>
          </a:solidFill>
          <a:ln/>
        </p:spPr>
      </p:sp>
      <p:sp>
        <p:nvSpPr>
          <p:cNvPr id="24" name="icon-circle-301"/>
          <p:cNvSpPr/>
          <p:nvPr/>
        </p:nvSpPr>
        <p:spPr>
          <a:xfrm>
            <a:off x="4572000" y="3840480"/>
            <a:ext cx="640080" cy="640080"/>
          </a:xfrm>
          <a:prstGeom prst="ellipse">
            <a:avLst/>
          </a:prstGeom>
          <a:solidFill>
            <a:schemeClr val="accent1"/>
          </a:solidFill>
          <a:ln/>
        </p:spPr>
      </p:sp>
      <p:pic>
        <p:nvPicPr>
          <p:cNvPr id="25" name="icon-302" descr="preencoded.png">    </p:cNvPr>
          <p:cNvPicPr>
            <a:picLocks noChangeAspect="1"/>
          </p:cNvPicPr>
          <p:nvPr/>
        </p:nvPicPr>
        <p:blipFill>
          <a:blip r:embed="rId5"/>
          <a:stretch>
            <a:fillRect/>
          </a:stretch>
        </p:blipFill>
        <p:spPr>
          <a:xfrm>
            <a:off x="4725619" y="3994099"/>
            <a:ext cx="332842" cy="332842"/>
          </a:xfrm>
          <a:prstGeom prst="rect">
            <a:avLst/>
          </a:prstGeom>
        </p:spPr>
      </p:pic>
      <p:sp>
        <p:nvSpPr>
          <p:cNvPr id="26" name="text-303"/>
          <p:cNvSpPr txBox="1"/>
          <p:nvPr/>
        </p:nvSpPr>
        <p:spPr>
          <a:xfrm>
            <a:off x="7132320" y="374904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5</a:t>
            </a:r>
            <a:endParaRPr lang="en-US" sz="3000" dirty="0"/>
          </a:p>
        </p:txBody>
      </p:sp>
      <p:sp>
        <p:nvSpPr>
          <p:cNvPr id="27" name="text-304"/>
          <p:cNvSpPr txBox="1"/>
          <p:nvPr/>
        </p:nvSpPr>
        <p:spPr>
          <a:xfrm>
            <a:off x="4572000" y="4572000"/>
            <a:ext cx="3063240" cy="868680"/>
          </a:xfrm>
          <a:prstGeom prst="rect">
            <a:avLst/>
          </a:prstGeom>
          <a:noFill/>
          <a:ln/>
        </p:spPr>
        <p:txBody>
          <a:bodyPr wrap="square" lIns="0" tIns="0" rIns="0" bIns="0" rtlCol="0" anchor="t"/>
          <a:lstStyle/>
          <a:p>
            <a:pPr indent="0" marL="0">
              <a:buNone/>
            </a:pPr>
            <a:r>
              <a:rPr lang="en-US" sz="1700" b="1" dirty="0">
                <a:solidFill>
                  <a:schemeClr val="tx2"/>
                </a:solidFill>
              </a:rPr>
              <a:t>Still worried that night</a:t>
            </a:r>
            <a:endParaRPr lang="en-US" sz="1600" dirty="0"/>
          </a:p>
          <a:p>
            <a:pPr indent="0" marL="0">
              <a:buNone/>
            </a:pPr>
            <a:r>
              <a:rPr lang="en-US" sz="1400" dirty="0">
                <a:solidFill>
                  <a:schemeClr val="tx1"/>
                </a:solidFill>
              </a:rPr>
              <a:t>They chat with Emoty, which stays supportive and safely supervised.</a:t>
            </a:r>
            <a:endParaRPr lang="en-US" sz="1600" dirty="0"/>
          </a:p>
        </p:txBody>
      </p:sp>
      <p:sp>
        <p:nvSpPr>
          <p:cNvPr id="28" name="card-305"/>
          <p:cNvSpPr/>
          <p:nvPr/>
        </p:nvSpPr>
        <p:spPr>
          <a:xfrm>
            <a:off x="8046720" y="3566160"/>
            <a:ext cx="3520440" cy="1920240"/>
          </a:xfrm>
          <a:prstGeom prst="roundRect">
            <a:avLst>
              <a:gd name="adj" fmla="val 6667"/>
            </a:avLst>
          </a:prstGeom>
          <a:solidFill>
            <a:schemeClr val="bg2"/>
          </a:solidFill>
          <a:ln/>
        </p:spPr>
      </p:sp>
      <p:sp>
        <p:nvSpPr>
          <p:cNvPr id="29" name="icon-circle-306"/>
          <p:cNvSpPr/>
          <p:nvPr/>
        </p:nvSpPr>
        <p:spPr>
          <a:xfrm>
            <a:off x="8321040" y="3840480"/>
            <a:ext cx="640080" cy="640080"/>
          </a:xfrm>
          <a:prstGeom prst="ellipse">
            <a:avLst/>
          </a:prstGeom>
          <a:solidFill>
            <a:schemeClr val="accent2"/>
          </a:solidFill>
          <a:ln/>
        </p:spPr>
      </p:sp>
      <p:pic>
        <p:nvPicPr>
          <p:cNvPr id="30" name="icon-307" descr="preencoded.png">    </p:cNvPr>
          <p:cNvPicPr>
            <a:picLocks noChangeAspect="1"/>
          </p:cNvPicPr>
          <p:nvPr/>
        </p:nvPicPr>
        <p:blipFill>
          <a:blip r:embed="rId6"/>
          <a:stretch>
            <a:fillRect/>
          </a:stretch>
        </p:blipFill>
        <p:spPr>
          <a:xfrm>
            <a:off x="8474659" y="3994099"/>
            <a:ext cx="332842" cy="332842"/>
          </a:xfrm>
          <a:prstGeom prst="rect">
            <a:avLst/>
          </a:prstGeom>
        </p:spPr>
      </p:pic>
      <p:sp>
        <p:nvSpPr>
          <p:cNvPr id="31" name="text-308"/>
          <p:cNvSpPr txBox="1"/>
          <p:nvPr/>
        </p:nvSpPr>
        <p:spPr>
          <a:xfrm>
            <a:off x="10881360" y="374904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6</a:t>
            </a:r>
            <a:endParaRPr lang="en-US" sz="3000" dirty="0"/>
          </a:p>
        </p:txBody>
      </p:sp>
      <p:sp>
        <p:nvSpPr>
          <p:cNvPr id="32" name="text-309"/>
          <p:cNvSpPr txBox="1"/>
          <p:nvPr/>
        </p:nvSpPr>
        <p:spPr>
          <a:xfrm>
            <a:off x="8321040" y="4572000"/>
            <a:ext cx="3063240" cy="868680"/>
          </a:xfrm>
          <a:prstGeom prst="rect">
            <a:avLst/>
          </a:prstGeom>
          <a:noFill/>
          <a:ln/>
        </p:spPr>
        <p:txBody>
          <a:bodyPr wrap="square" lIns="0" tIns="0" rIns="0" bIns="0" rtlCol="0" anchor="t"/>
          <a:lstStyle/>
          <a:p>
            <a:pPr indent="0" marL="0">
              <a:buNone/>
            </a:pPr>
            <a:r>
              <a:rPr lang="en-US" sz="1700" b="1" dirty="0">
                <a:solidFill>
                  <a:schemeClr val="tx2"/>
                </a:solidFill>
              </a:rPr>
              <a:t>Talking to a person</a:t>
            </a:r>
            <a:endParaRPr lang="en-US" sz="1600" dirty="0"/>
          </a:p>
          <a:p>
            <a:pPr indent="0" marL="0">
              <a:buNone/>
            </a:pPr>
            <a:r>
              <a:rPr lang="en-US" sz="1400" dirty="0">
                <a:solidFill>
                  <a:schemeClr val="tx1"/>
                </a:solidFill>
              </a:rPr>
              <a:t>They request a session, and it appears on the counsellor’s dashboard.</a:t>
            </a:r>
            <a:endParaRPr lang="en-US" sz="1600" dirty="0"/>
          </a:p>
        </p:txBody>
      </p:sp>
      <p:sp>
        <p:nvSpPr>
          <p:cNvPr id="33" name="text-310"/>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An illustrative example of how a student might use the app.</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it means for your institution</a:t>
            </a:r>
            <a:endParaRPr lang="en-US" sz="3400" dirty="0"/>
          </a:p>
        </p:txBody>
      </p:sp>
      <p:sp>
        <p:nvSpPr>
          <p:cNvPr id="3" name="card-311"/>
          <p:cNvSpPr/>
          <p:nvPr/>
        </p:nvSpPr>
        <p:spPr>
          <a:xfrm>
            <a:off x="548640" y="1463040"/>
            <a:ext cx="3520440" cy="3749040"/>
          </a:xfrm>
          <a:prstGeom prst="roundRect">
            <a:avLst>
              <a:gd name="adj" fmla="val 3636"/>
            </a:avLst>
          </a:prstGeom>
          <a:solidFill>
            <a:schemeClr val="bg2"/>
          </a:solidFill>
          <a:ln/>
        </p:spPr>
      </p:sp>
      <p:sp>
        <p:nvSpPr>
          <p:cNvPr id="4" name="icon-circle-312"/>
          <p:cNvSpPr/>
          <p:nvPr/>
        </p:nvSpPr>
        <p:spPr>
          <a:xfrm>
            <a:off x="868680" y="1737360"/>
            <a:ext cx="777240" cy="777240"/>
          </a:xfrm>
          <a:prstGeom prst="ellipse">
            <a:avLst/>
          </a:prstGeom>
          <a:solidFill>
            <a:schemeClr val="accent1"/>
          </a:solidFill>
          <a:ln/>
        </p:spPr>
      </p:sp>
      <p:pic>
        <p:nvPicPr>
          <p:cNvPr id="5" name="icon-313" descr="preencoded.png">    </p:cNvPr>
          <p:cNvPicPr>
            <a:picLocks noChangeAspect="1"/>
          </p:cNvPicPr>
          <p:nvPr/>
        </p:nvPicPr>
        <p:blipFill>
          <a:blip r:embed="rId1"/>
          <a:stretch>
            <a:fillRect/>
          </a:stretch>
        </p:blipFill>
        <p:spPr>
          <a:xfrm>
            <a:off x="1055218" y="1923898"/>
            <a:ext cx="404165" cy="404165"/>
          </a:xfrm>
          <a:prstGeom prst="rect">
            <a:avLst/>
          </a:prstGeom>
        </p:spPr>
      </p:pic>
      <p:sp>
        <p:nvSpPr>
          <p:cNvPr id="6" name="text-314"/>
          <p:cNvSpPr txBox="1"/>
          <p:nvPr/>
        </p:nvSpPr>
        <p:spPr>
          <a:xfrm>
            <a:off x="868680" y="2697480"/>
            <a:ext cx="2926080" cy="457200"/>
          </a:xfrm>
          <a:prstGeom prst="rect">
            <a:avLst/>
          </a:prstGeom>
          <a:noFill/>
          <a:ln/>
        </p:spPr>
        <p:txBody>
          <a:bodyPr wrap="square" lIns="0" tIns="0" rIns="0" bIns="0" rtlCol="0" anchor="t"/>
          <a:lstStyle/>
          <a:p>
            <a:pPr indent="0" marL="0">
              <a:buNone/>
            </a:pPr>
            <a:r>
              <a:rPr lang="en-US" sz="2100" b="1" dirty="0">
                <a:solidFill>
                  <a:schemeClr val="tx2"/>
                </a:solidFill>
              </a:rPr>
              <a:t>For students</a:t>
            </a:r>
            <a:endParaRPr lang="en-US" sz="2100" dirty="0"/>
          </a:p>
        </p:txBody>
      </p:sp>
      <p:sp>
        <p:nvSpPr>
          <p:cNvPr id="7" name="text-315"/>
          <p:cNvSpPr txBox="1"/>
          <p:nvPr/>
        </p:nvSpPr>
        <p:spPr>
          <a:xfrm>
            <a:off x="868680" y="3291840"/>
            <a:ext cx="2971800"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Private support, any time of day</a:t>
            </a:r>
            <a:endParaRPr lang="en-US" sz="1600" dirty="0"/>
          </a:p>
          <a:p>
            <a:pPr marL="228600" indent="-228600">
              <a:spcAft>
                <a:spcPts val="1000"/>
              </a:spcAft>
              <a:buSzPct val="100000"/>
              <a:buChar char="•"/>
            </a:pPr>
            <a:r>
              <a:rPr lang="en-US" sz="1600" dirty="0">
                <a:solidFill>
                  <a:schemeClr val="tx1"/>
                </a:solidFill>
              </a:rPr>
              <a:t>Help to understand their feelings</a:t>
            </a:r>
            <a:endParaRPr lang="en-US" sz="1600" dirty="0"/>
          </a:p>
          <a:p>
            <a:pPr marL="228600" indent="-228600">
              <a:spcAft>
                <a:spcPts val="1000"/>
              </a:spcAft>
              <a:buSzPct val="100000"/>
              <a:buChar char="•"/>
            </a:pPr>
            <a:r>
              <a:rPr lang="en-US" sz="1600" dirty="0">
                <a:solidFill>
                  <a:schemeClr val="tx1"/>
                </a:solidFill>
              </a:rPr>
              <a:t>A simple path to a counsellor</a:t>
            </a:r>
            <a:endParaRPr lang="en-US" sz="1600" dirty="0"/>
          </a:p>
        </p:txBody>
      </p:sp>
      <p:sp>
        <p:nvSpPr>
          <p:cNvPr id="8" name="card-316"/>
          <p:cNvSpPr/>
          <p:nvPr/>
        </p:nvSpPr>
        <p:spPr>
          <a:xfrm>
            <a:off x="4297680" y="1463040"/>
            <a:ext cx="3520440" cy="3749040"/>
          </a:xfrm>
          <a:prstGeom prst="roundRect">
            <a:avLst>
              <a:gd name="adj" fmla="val 3636"/>
            </a:avLst>
          </a:prstGeom>
          <a:solidFill>
            <a:schemeClr val="bg2"/>
          </a:solidFill>
          <a:ln/>
        </p:spPr>
      </p:sp>
      <p:sp>
        <p:nvSpPr>
          <p:cNvPr id="9" name="icon-circle-317"/>
          <p:cNvSpPr/>
          <p:nvPr/>
        </p:nvSpPr>
        <p:spPr>
          <a:xfrm>
            <a:off x="4617720" y="1737360"/>
            <a:ext cx="777240" cy="777240"/>
          </a:xfrm>
          <a:prstGeom prst="ellipse">
            <a:avLst/>
          </a:prstGeom>
          <a:solidFill>
            <a:schemeClr val="accent1"/>
          </a:solidFill>
          <a:ln/>
        </p:spPr>
      </p:sp>
      <p:pic>
        <p:nvPicPr>
          <p:cNvPr id="10" name="icon-318" descr="preencoded.png">    </p:cNvPr>
          <p:cNvPicPr>
            <a:picLocks noChangeAspect="1"/>
          </p:cNvPicPr>
          <p:nvPr/>
        </p:nvPicPr>
        <p:blipFill>
          <a:blip r:embed="rId2"/>
          <a:stretch>
            <a:fillRect/>
          </a:stretch>
        </p:blipFill>
        <p:spPr>
          <a:xfrm>
            <a:off x="4804258" y="1923898"/>
            <a:ext cx="404165" cy="404165"/>
          </a:xfrm>
          <a:prstGeom prst="rect">
            <a:avLst/>
          </a:prstGeom>
        </p:spPr>
      </p:pic>
      <p:sp>
        <p:nvSpPr>
          <p:cNvPr id="11" name="text-319"/>
          <p:cNvSpPr txBox="1"/>
          <p:nvPr/>
        </p:nvSpPr>
        <p:spPr>
          <a:xfrm>
            <a:off x="4617720" y="2697480"/>
            <a:ext cx="2926080" cy="457200"/>
          </a:xfrm>
          <a:prstGeom prst="rect">
            <a:avLst/>
          </a:prstGeom>
          <a:noFill/>
          <a:ln/>
        </p:spPr>
        <p:txBody>
          <a:bodyPr wrap="square" lIns="0" tIns="0" rIns="0" bIns="0" rtlCol="0" anchor="t"/>
          <a:lstStyle/>
          <a:p>
            <a:pPr indent="0" marL="0">
              <a:buNone/>
            </a:pPr>
            <a:r>
              <a:rPr lang="en-US" sz="2100" b="1" dirty="0">
                <a:solidFill>
                  <a:schemeClr val="tx2"/>
                </a:solidFill>
              </a:rPr>
              <a:t>For counsellors</a:t>
            </a:r>
            <a:endParaRPr lang="en-US" sz="2100" dirty="0"/>
          </a:p>
        </p:txBody>
      </p:sp>
      <p:sp>
        <p:nvSpPr>
          <p:cNvPr id="12" name="text-320"/>
          <p:cNvSpPr txBox="1"/>
          <p:nvPr/>
        </p:nvSpPr>
        <p:spPr>
          <a:xfrm>
            <a:off x="4617720" y="3291840"/>
            <a:ext cx="2971800"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Students arrive better prepared</a:t>
            </a:r>
            <a:endParaRPr lang="en-US" sz="1600" dirty="0"/>
          </a:p>
          <a:p>
            <a:pPr marL="228600" indent="-228600">
              <a:spcAft>
                <a:spcPts val="1000"/>
              </a:spcAft>
              <a:buSzPct val="100000"/>
              <a:buChar char="•"/>
            </a:pPr>
            <a:r>
              <a:rPr lang="en-US" sz="1600" dirty="0">
                <a:solidFill>
                  <a:schemeClr val="tx1"/>
                </a:solidFill>
              </a:rPr>
              <a:t>Early warning when someone is at risk</a:t>
            </a:r>
            <a:endParaRPr lang="en-US" sz="1600" dirty="0"/>
          </a:p>
          <a:p>
            <a:pPr marL="228600" indent="-228600">
              <a:spcAft>
                <a:spcPts val="1000"/>
              </a:spcAft>
              <a:buSzPct val="100000"/>
              <a:buChar char="•"/>
            </a:pPr>
            <a:r>
              <a:rPr lang="en-US" sz="1600" dirty="0">
                <a:solidFill>
                  <a:schemeClr val="tx1"/>
                </a:solidFill>
              </a:rPr>
              <a:t>Fewer students slipping through</a:t>
            </a:r>
            <a:endParaRPr lang="en-US" sz="1600" dirty="0"/>
          </a:p>
        </p:txBody>
      </p:sp>
      <p:sp>
        <p:nvSpPr>
          <p:cNvPr id="13" name="card-321"/>
          <p:cNvSpPr/>
          <p:nvPr/>
        </p:nvSpPr>
        <p:spPr>
          <a:xfrm>
            <a:off x="8046720" y="1463040"/>
            <a:ext cx="3520440" cy="3749040"/>
          </a:xfrm>
          <a:prstGeom prst="roundRect">
            <a:avLst>
              <a:gd name="adj" fmla="val 3636"/>
            </a:avLst>
          </a:prstGeom>
          <a:solidFill>
            <a:schemeClr val="bg2"/>
          </a:solidFill>
          <a:ln/>
        </p:spPr>
      </p:sp>
      <p:sp>
        <p:nvSpPr>
          <p:cNvPr id="14" name="icon-circle-322"/>
          <p:cNvSpPr/>
          <p:nvPr/>
        </p:nvSpPr>
        <p:spPr>
          <a:xfrm>
            <a:off x="8366760" y="1737360"/>
            <a:ext cx="777240" cy="777240"/>
          </a:xfrm>
          <a:prstGeom prst="ellipse">
            <a:avLst/>
          </a:prstGeom>
          <a:solidFill>
            <a:schemeClr val="accent1"/>
          </a:solidFill>
          <a:ln/>
        </p:spPr>
      </p:sp>
      <p:pic>
        <p:nvPicPr>
          <p:cNvPr id="15" name="icon-323" descr="preencoded.png">    </p:cNvPr>
          <p:cNvPicPr>
            <a:picLocks noChangeAspect="1"/>
          </p:cNvPicPr>
          <p:nvPr/>
        </p:nvPicPr>
        <p:blipFill>
          <a:blip r:embed="rId3"/>
          <a:stretch>
            <a:fillRect/>
          </a:stretch>
        </p:blipFill>
        <p:spPr>
          <a:xfrm>
            <a:off x="8553298" y="1923898"/>
            <a:ext cx="404165" cy="404165"/>
          </a:xfrm>
          <a:prstGeom prst="rect">
            <a:avLst/>
          </a:prstGeom>
        </p:spPr>
      </p:pic>
      <p:sp>
        <p:nvSpPr>
          <p:cNvPr id="16" name="text-324"/>
          <p:cNvSpPr txBox="1"/>
          <p:nvPr/>
        </p:nvSpPr>
        <p:spPr>
          <a:xfrm>
            <a:off x="8366760" y="2697480"/>
            <a:ext cx="2926080" cy="457200"/>
          </a:xfrm>
          <a:prstGeom prst="rect">
            <a:avLst/>
          </a:prstGeom>
          <a:noFill/>
          <a:ln/>
        </p:spPr>
        <p:txBody>
          <a:bodyPr wrap="square" lIns="0" tIns="0" rIns="0" bIns="0" rtlCol="0" anchor="t"/>
          <a:lstStyle/>
          <a:p>
            <a:pPr indent="0" marL="0">
              <a:buNone/>
            </a:pPr>
            <a:r>
              <a:rPr lang="en-US" sz="2100" b="1" dirty="0">
                <a:solidFill>
                  <a:schemeClr val="tx2"/>
                </a:solidFill>
              </a:rPr>
              <a:t>For the institution</a:t>
            </a:r>
            <a:endParaRPr lang="en-US" sz="2100" dirty="0"/>
          </a:p>
        </p:txBody>
      </p:sp>
      <p:sp>
        <p:nvSpPr>
          <p:cNvPr id="17" name="text-325"/>
          <p:cNvSpPr txBox="1"/>
          <p:nvPr/>
        </p:nvSpPr>
        <p:spPr>
          <a:xfrm>
            <a:off x="8366760" y="3291840"/>
            <a:ext cx="2971800"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Higher engagement with wellbeing</a:t>
            </a:r>
            <a:endParaRPr lang="en-US" sz="1600" dirty="0"/>
          </a:p>
          <a:p>
            <a:pPr marL="228600" indent="-228600">
              <a:spcAft>
                <a:spcPts val="1000"/>
              </a:spcAft>
              <a:buSzPct val="100000"/>
              <a:buChar char="•"/>
            </a:pPr>
            <a:r>
              <a:rPr lang="en-US" sz="1600" dirty="0">
                <a:solidFill>
                  <a:schemeClr val="tx1"/>
                </a:solidFill>
              </a:rPr>
              <a:t>Based on well-established questionnaires</a:t>
            </a:r>
            <a:endParaRPr lang="en-US" sz="1600" dirty="0"/>
          </a:p>
          <a:p>
            <a:pPr marL="228600" indent="-228600">
              <a:spcAft>
                <a:spcPts val="1000"/>
              </a:spcAft>
              <a:buSzPct val="100000"/>
              <a:buChar char="•"/>
            </a:pPr>
            <a:r>
              <a:rPr lang="en-US" sz="1600" dirty="0">
                <a:solidFill>
                  <a:schemeClr val="tx1"/>
                </a:solidFill>
              </a:rPr>
              <a:t>Care that continues between sessions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035040" cy="19202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Support in their pocket.</a:t>
            </a:r>
            <a:endParaRPr lang="en-US" sz="4400" dirty="0"/>
          </a:p>
          <a:p>
            <a:pPr algn="l" indent="0" marL="0">
              <a:buNone/>
            </a:pPr>
            <a:r>
              <a:rPr lang="en-US" sz="4400" b="1" dirty="0">
                <a:solidFill>
                  <a:schemeClr val="bg1"/>
                </a:solidFill>
                <a:latin typeface="Cambria" pitchFamily="34" charset="0"/>
                <a:ea typeface="Cambria" pitchFamily="34" charset="-122"/>
                <a:cs typeface="Cambria" pitchFamily="34" charset="-120"/>
              </a:rPr>
              <a:t>Help one tap away.</a:t>
            </a:r>
            <a:endParaRPr lang="en-US" sz="4400" dirty="0"/>
          </a:p>
        </p:txBody>
      </p:sp>
      <p:sp>
        <p:nvSpPr>
          <p:cNvPr id="3" name="Text 0"/>
          <p:cNvSpPr/>
          <p:nvPr>
            <p:ph idx="101" type="body" hasCustomPrompt="1"/>
          </p:nvPr>
        </p:nvSpPr>
        <p:spPr>
          <a:xfrm>
            <a:off x="640080" y="3840480"/>
            <a:ext cx="5760720" cy="1097280"/>
          </a:xfrm>
          <a:prstGeom prst="rect">
            <a:avLst/>
          </a:prstGeom>
          <a:noFill/>
          <a:ln/>
        </p:spPr>
        <p:txBody>
          <a:bodyPr wrap="square" lIns="0" tIns="0" rIns="0" bIns="0" rtlCol="0" anchor="t"/>
          <a:lstStyle/>
          <a:p>
            <a:pPr algn="l" indent="0" marL="0">
              <a:buNone/>
            </a:pPr>
            <a:r>
              <a:rPr lang="en-US" sz="2000" dirty="0">
                <a:solidFill>
                  <a:schemeClr val="bg2"/>
                </a:solidFill>
              </a:rPr>
              <a:t>Thank you</a:t>
            </a:r>
            <a:endParaRPr lang="en-US" sz="2000" dirty="0"/>
          </a:p>
        </p:txBody>
      </p:sp>
      <p:sp>
        <p:nvSpPr>
          <p:cNvPr id="4" name="text-326"/>
          <p:cNvSpPr txBox="1"/>
          <p:nvPr/>
        </p:nvSpPr>
        <p:spPr>
          <a:xfrm>
            <a:off x="7132320" y="1737360"/>
            <a:ext cx="4480560" cy="457200"/>
          </a:xfrm>
          <a:prstGeom prst="rect">
            <a:avLst/>
          </a:prstGeom>
          <a:noFill/>
          <a:ln/>
        </p:spPr>
        <p:txBody>
          <a:bodyPr wrap="square" lIns="0" tIns="0" rIns="0" bIns="0" rtlCol="0" anchor="t"/>
          <a:lstStyle/>
          <a:p>
            <a:pPr indent="0" marL="0">
              <a:buNone/>
            </a:pPr>
            <a:r>
              <a:rPr lang="en-US" sz="2000" b="1" dirty="0">
                <a:solidFill>
                  <a:schemeClr val="bg1"/>
                </a:solidFill>
              </a:rPr>
              <a:t>Suggested next steps</a:t>
            </a:r>
            <a:endParaRPr lang="en-US" sz="2000" dirty="0"/>
          </a:p>
        </p:txBody>
      </p:sp>
      <p:sp>
        <p:nvSpPr>
          <p:cNvPr id="5" name="icon-circle-327"/>
          <p:cNvSpPr/>
          <p:nvPr/>
        </p:nvSpPr>
        <p:spPr>
          <a:xfrm>
            <a:off x="7132320" y="2423160"/>
            <a:ext cx="685800" cy="685800"/>
          </a:xfrm>
          <a:prstGeom prst="ellipse">
            <a:avLst/>
          </a:prstGeom>
          <a:solidFill>
            <a:schemeClr val="bg2"/>
          </a:solidFill>
          <a:ln/>
        </p:spPr>
      </p:sp>
      <p:pic>
        <p:nvPicPr>
          <p:cNvPr id="6" name="icon-328" descr="preencoded.png">    </p:cNvPr>
          <p:cNvPicPr>
            <a:picLocks noChangeAspect="1"/>
          </p:cNvPicPr>
          <p:nvPr/>
        </p:nvPicPr>
        <p:blipFill>
          <a:blip r:embed="rId1"/>
          <a:stretch>
            <a:fillRect/>
          </a:stretch>
        </p:blipFill>
        <p:spPr>
          <a:xfrm>
            <a:off x="7296912" y="2587752"/>
            <a:ext cx="356616" cy="356616"/>
          </a:xfrm>
          <a:prstGeom prst="rect">
            <a:avLst/>
          </a:prstGeom>
        </p:spPr>
      </p:pic>
      <p:sp>
        <p:nvSpPr>
          <p:cNvPr id="7" name="text-329"/>
          <p:cNvSpPr txBox="1"/>
          <p:nvPr/>
        </p:nvSpPr>
        <p:spPr>
          <a:xfrm>
            <a:off x="8046720" y="2423160"/>
            <a:ext cx="3657600" cy="685800"/>
          </a:xfrm>
          <a:prstGeom prst="rect">
            <a:avLst/>
          </a:prstGeom>
          <a:noFill/>
          <a:ln/>
        </p:spPr>
        <p:txBody>
          <a:bodyPr wrap="square" lIns="0" tIns="0" rIns="0" bIns="0" rtlCol="0" anchor="ctr"/>
          <a:lstStyle/>
          <a:p>
            <a:pPr indent="0" marL="0">
              <a:buNone/>
            </a:pPr>
            <a:r>
              <a:rPr lang="en-US" sz="1700" dirty="0">
                <a:solidFill>
                  <a:schemeClr val="bg1"/>
                </a:solidFill>
              </a:rPr>
              <a:t>Hands-on demo of the student app</a:t>
            </a:r>
            <a:endParaRPr lang="en-US" sz="1700" dirty="0"/>
          </a:p>
        </p:txBody>
      </p:sp>
      <p:sp>
        <p:nvSpPr>
          <p:cNvPr id="8" name="icon-circle-330"/>
          <p:cNvSpPr/>
          <p:nvPr/>
        </p:nvSpPr>
        <p:spPr>
          <a:xfrm>
            <a:off x="7132320" y="3429000"/>
            <a:ext cx="685800" cy="685800"/>
          </a:xfrm>
          <a:prstGeom prst="ellipse">
            <a:avLst/>
          </a:prstGeom>
          <a:solidFill>
            <a:schemeClr val="bg2"/>
          </a:solidFill>
          <a:ln/>
        </p:spPr>
      </p:sp>
      <p:pic>
        <p:nvPicPr>
          <p:cNvPr id="9" name="icon-331" descr="preencoded.png">    </p:cNvPr>
          <p:cNvPicPr>
            <a:picLocks noChangeAspect="1"/>
          </p:cNvPicPr>
          <p:nvPr/>
        </p:nvPicPr>
        <p:blipFill>
          <a:blip r:embed="rId2"/>
          <a:stretch>
            <a:fillRect/>
          </a:stretch>
        </p:blipFill>
        <p:spPr>
          <a:xfrm>
            <a:off x="7296912" y="3593592"/>
            <a:ext cx="356616" cy="356616"/>
          </a:xfrm>
          <a:prstGeom prst="rect">
            <a:avLst/>
          </a:prstGeom>
        </p:spPr>
      </p:pic>
      <p:sp>
        <p:nvSpPr>
          <p:cNvPr id="10" name="text-332"/>
          <p:cNvSpPr txBox="1"/>
          <p:nvPr/>
        </p:nvSpPr>
        <p:spPr>
          <a:xfrm>
            <a:off x="8046720" y="3429000"/>
            <a:ext cx="3657600" cy="685800"/>
          </a:xfrm>
          <a:prstGeom prst="rect">
            <a:avLst/>
          </a:prstGeom>
          <a:noFill/>
          <a:ln/>
        </p:spPr>
        <p:txBody>
          <a:bodyPr wrap="square" lIns="0" tIns="0" rIns="0" bIns="0" rtlCol="0" anchor="ctr"/>
          <a:lstStyle/>
          <a:p>
            <a:pPr indent="0" marL="0">
              <a:buNone/>
            </a:pPr>
            <a:r>
              <a:rPr lang="en-US" sz="1700" dirty="0">
                <a:solidFill>
                  <a:schemeClr val="bg1"/>
                </a:solidFill>
              </a:rPr>
              <a:t>Agree the onboarding and consent wording</a:t>
            </a:r>
            <a:endParaRPr lang="en-US" sz="1700" dirty="0"/>
          </a:p>
        </p:txBody>
      </p:sp>
      <p:sp>
        <p:nvSpPr>
          <p:cNvPr id="11" name="icon-circle-333"/>
          <p:cNvSpPr/>
          <p:nvPr/>
        </p:nvSpPr>
        <p:spPr>
          <a:xfrm>
            <a:off x="7132320" y="4434840"/>
            <a:ext cx="685800" cy="685800"/>
          </a:xfrm>
          <a:prstGeom prst="ellipse">
            <a:avLst/>
          </a:prstGeom>
          <a:solidFill>
            <a:schemeClr val="bg2"/>
          </a:solidFill>
          <a:ln/>
        </p:spPr>
      </p:sp>
      <p:pic>
        <p:nvPicPr>
          <p:cNvPr id="12" name="icon-334" descr="preencoded.png">    </p:cNvPr>
          <p:cNvPicPr>
            <a:picLocks noChangeAspect="1"/>
          </p:cNvPicPr>
          <p:nvPr/>
        </p:nvPicPr>
        <p:blipFill>
          <a:blip r:embed="rId3"/>
          <a:stretch>
            <a:fillRect/>
          </a:stretch>
        </p:blipFill>
        <p:spPr>
          <a:xfrm>
            <a:off x="7296912" y="4599432"/>
            <a:ext cx="356616" cy="356616"/>
          </a:xfrm>
          <a:prstGeom prst="rect">
            <a:avLst/>
          </a:prstGeom>
        </p:spPr>
      </p:pic>
      <p:sp>
        <p:nvSpPr>
          <p:cNvPr id="13" name="text-335"/>
          <p:cNvSpPr txBox="1"/>
          <p:nvPr/>
        </p:nvSpPr>
        <p:spPr>
          <a:xfrm>
            <a:off x="8046720" y="4434840"/>
            <a:ext cx="3657600" cy="685800"/>
          </a:xfrm>
          <a:prstGeom prst="rect">
            <a:avLst/>
          </a:prstGeom>
          <a:noFill/>
          <a:ln/>
        </p:spPr>
        <p:txBody>
          <a:bodyPr wrap="square" lIns="0" tIns="0" rIns="0" bIns="0" rtlCol="0" anchor="ctr"/>
          <a:lstStyle/>
          <a:p>
            <a:pPr indent="0" marL="0">
              <a:buNone/>
            </a:pPr>
            <a:r>
              <a:rPr lang="en-US" sz="1700" dirty="0">
                <a:solidFill>
                  <a:schemeClr val="bg1"/>
                </a:solidFill>
              </a:rPr>
              <a:t>Start a pilot with a group of students</a:t>
            </a:r>
            <a:endParaRPr lang="en-US" sz="1700" dirty="0"/>
          </a:p>
        </p:txBody>
      </p:sp>
    </p:spTree>
  </p:cSld>
  <p:clrMapOvr>
    <a:masterClrMapping/>
  </p:clrMapOvr>
</p:sld>
</file>

<file path=ppt/theme/theme1.xml><?xml version="1.0" encoding="utf-8"?>
<a:theme xmlns:a="http://schemas.openxmlformats.org/drawingml/2006/main" name="Emotify">
  <a:themeElements>
    <a:clrScheme name="Emotify">
      <a:dk1>
        <a:srgbClr val="1F1B3A"/>
      </a:dk1>
      <a:lt1>
        <a:srgbClr val="FFFFFF"/>
      </a:lt1>
      <a:dk2>
        <a:srgbClr val="2A2470"/>
      </a:dk2>
      <a:lt2>
        <a:srgbClr val="F3F1FF"/>
      </a:lt2>
      <a:accent1>
        <a:srgbClr val="5B4FE0"/>
      </a:accent1>
      <a:accent2>
        <a:srgbClr val="F59E0B"/>
      </a:accent2>
      <a:accent3>
        <a:srgbClr val="0F9F74"/>
      </a:accent3>
      <a:accent4>
        <a:srgbClr val="DC2626"/>
      </a:accent4>
      <a:accent5>
        <a:srgbClr val="0284C7"/>
      </a:accent5>
      <a:accent6>
        <a:srgbClr val="64748B"/>
      </a:accent6>
      <a:hlink>
        <a:srgbClr val="5B4FE0"/>
      </a:hlink>
      <a:folHlink>
        <a:srgbClr val="7C3AED"/>
      </a:folHlink>
    </a:clrScheme>
    <a:fontScheme name="Emotif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Emotify Student App</dc:title>
  <dc:subject>PptxGenJS Presentation</dc:subject>
  <dc:creator>Emotify</dc:creator>
  <cp:lastModifiedBy>Emotify</cp:lastModifiedBy>
  <cp:revision>1</cp:revision>
  <dcterms:created xsi:type="dcterms:W3CDTF">2026-10-09T20:21:11Z</dcterms:created>
  <dcterms:modified xsi:type="dcterms:W3CDTF">2026-10-09T20:21:11Z</dcterms:modified>
</cp:coreProperties>
</file>